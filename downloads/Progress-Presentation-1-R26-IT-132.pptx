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Poppins" charset="1" panose="00000500000000000000"/>
      <p:regular r:id="rId25"/>
    </p:embeddedFont>
    <p:embeddedFont>
      <p:font typeface="Poppins Light" charset="1" panose="00000400000000000000"/>
      <p:regular r:id="rId26"/>
    </p:embeddedFont>
    <p:embeddedFont>
      <p:font typeface="Poppins Semi-Bold" charset="1" panose="00000700000000000000"/>
      <p:regular r:id="rId27"/>
    </p:embeddedFont>
    <p:embeddedFont>
      <p:font typeface="Poppins Ultra-Bold" charset="1" panose="00000900000000000000"/>
      <p:regular r:id="rId28"/>
    </p:embeddedFont>
    <p:embeddedFont>
      <p:font typeface="Canva Sans Bold" charset="1" panose="020B0803030501040103"/>
      <p:regular r:id="rId29"/>
    </p:embeddedFont>
    <p:embeddedFont>
      <p:font typeface="Lato Bold" charset="1" panose="020F0502020204030203"/>
      <p:regular r:id="rId30"/>
    </p:embeddedFont>
    <p:embeddedFont>
      <p:font typeface="Poppins Bold" charset="1" panose="00000800000000000000"/>
      <p:regular r:id="rId31"/>
    </p:embeddedFont>
    <p:embeddedFont>
      <p:font typeface="Lora Bold Italics" charset="1" panose="00000800000000000000"/>
      <p:regular r:id="rId32"/>
    </p:embeddedFont>
    <p:embeddedFont>
      <p:font typeface="Canva Sans" charset="1" panose="020B0503030501040103"/>
      <p:regular r:id="rId33"/>
    </p:embeddedFont>
    <p:embeddedFont>
      <p:font typeface="Arimo" charset="1" panose="020B06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6.fntdata"/><Relationship Id="rId21" Type="http://schemas.openxmlformats.org/officeDocument/2006/relationships/slide" Target="slides/slide16.xml"/><Relationship Id="rId34" Type="http://schemas.openxmlformats.org/officeDocument/2006/relationships/font" Target="fonts/font34.fntdata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5.fntdata"/><Relationship Id="rId33" Type="http://schemas.openxmlformats.org/officeDocument/2006/relationships/font" Target="fonts/font33.fntdata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font" Target="fonts/font29.fntdata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font" Target="fonts/font32.fntdata"/><Relationship Id="rId6" Type="http://schemas.openxmlformats.org/officeDocument/2006/relationships/slide" Target="slides/slide1.xml"/><Relationship Id="rId37" Type="http://schemas.openxmlformats.org/officeDocument/2006/relationships/customXml" Target="../customXml/item3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font" Target="fonts/font28.fntdata"/><Relationship Id="rId5" Type="http://schemas.openxmlformats.org/officeDocument/2006/relationships/tableStyles" Target="tableStyles.xml"/><Relationship Id="rId36" Type="http://schemas.openxmlformats.org/officeDocument/2006/relationships/customXml" Target="../customXml/item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font" Target="fonts/font31.fntdata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font" Target="fonts/font27.fntdata"/><Relationship Id="rId30" Type="http://schemas.openxmlformats.org/officeDocument/2006/relationships/font" Target="fonts/font30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35" Type="http://schemas.openxmlformats.org/officeDocument/2006/relationships/customXml" Target="../customXml/item1.xml"/><Relationship Id="rId8" Type="http://schemas.openxmlformats.org/officeDocument/2006/relationships/slide" Target="slides/slide3.xml"/><Relationship Id="rId3" Type="http://schemas.openxmlformats.org/officeDocument/2006/relationships/viewProps" Target="viewProps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11" Target="../media/image14.png" Type="http://schemas.openxmlformats.org/officeDocument/2006/relationships/image"/><Relationship Id="rId2" Target="../media/image15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9.pn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4.png" Type="http://schemas.openxmlformats.org/officeDocument/2006/relationships/image"/><Relationship Id="rId4" Target="../embeddings/oleObject2.bin" Type="http://schemas.openxmlformats.org/officeDocument/2006/relationships/oleObjec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25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9.png" Type="http://schemas.openxmlformats.org/officeDocument/2006/relationships/image"/><Relationship Id="rId4" Target="../media/image26.png" Type="http://schemas.openxmlformats.org/officeDocument/2006/relationships/image"/><Relationship Id="rId5" Target="../embeddings/oleObject3.bin" Type="http://schemas.openxmlformats.org/officeDocument/2006/relationships/oleObjec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epicflightacademy.com/metar/" TargetMode="External" Type="http://schemas.openxmlformats.org/officeDocument/2006/relationships/hyperlink"/><Relationship Id="rId3" Target="https://skybrary.aero/articles/meteorological-aerodrome-report-metar" TargetMode="External" Type="http://schemas.openxmlformats.org/officeDocument/2006/relationships/hyperlink"/><Relationship Id="rId4" Target="https://meteo.gov.lk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7032" y="1616540"/>
            <a:ext cx="4139563" cy="4139563"/>
          </a:xfrm>
          <a:custGeom>
            <a:avLst/>
            <a:gdLst/>
            <a:ahLst/>
            <a:cxnLst/>
            <a:rect r="r" b="b" t="t" l="l"/>
            <a:pathLst>
              <a:path h="4139563" w="4139563">
                <a:moveTo>
                  <a:pt x="0" y="0"/>
                </a:moveTo>
                <a:lnTo>
                  <a:pt x="4139564" y="0"/>
                </a:lnTo>
                <a:lnTo>
                  <a:pt x="4139564" y="4139563"/>
                </a:lnTo>
                <a:lnTo>
                  <a:pt x="0" y="4139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552154" y="7360997"/>
            <a:ext cx="2840805" cy="105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95"/>
              </a:lnSpc>
            </a:pPr>
            <a:r>
              <a:rPr lang="en-US" sz="73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30°C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56623" y="8428429"/>
            <a:ext cx="7208011" cy="265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0"/>
              </a:lnSpc>
            </a:pPr>
            <a:r>
              <a:rPr lang="en-US" sz="1810" spc="905">
                <a:solidFill>
                  <a:srgbClr val="58434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MAX. 31°C - MIN.15°C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87278" y="1746702"/>
            <a:ext cx="16737176" cy="8180295"/>
          </a:xfrm>
          <a:custGeom>
            <a:avLst/>
            <a:gdLst/>
            <a:ahLst/>
            <a:cxnLst/>
            <a:rect r="r" b="b" t="t" l="l"/>
            <a:pathLst>
              <a:path h="8180295" w="16737176">
                <a:moveTo>
                  <a:pt x="0" y="0"/>
                </a:moveTo>
                <a:lnTo>
                  <a:pt x="16737175" y="0"/>
                </a:lnTo>
                <a:lnTo>
                  <a:pt x="16737175" y="8180294"/>
                </a:lnTo>
                <a:lnTo>
                  <a:pt x="0" y="81802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053018" y="372452"/>
            <a:ext cx="7556013" cy="2748500"/>
          </a:xfrm>
          <a:custGeom>
            <a:avLst/>
            <a:gdLst/>
            <a:ahLst/>
            <a:cxnLst/>
            <a:rect r="r" b="b" t="t" l="l"/>
            <a:pathLst>
              <a:path h="2748500" w="7556013">
                <a:moveTo>
                  <a:pt x="0" y="0"/>
                </a:moveTo>
                <a:lnTo>
                  <a:pt x="7556014" y="0"/>
                </a:lnTo>
                <a:lnTo>
                  <a:pt x="7556014" y="2748500"/>
                </a:lnTo>
                <a:lnTo>
                  <a:pt x="0" y="27485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999852" y="6258230"/>
            <a:ext cx="7556013" cy="2748500"/>
          </a:xfrm>
          <a:custGeom>
            <a:avLst/>
            <a:gdLst/>
            <a:ahLst/>
            <a:cxnLst/>
            <a:rect r="r" b="b" t="t" l="l"/>
            <a:pathLst>
              <a:path h="2748500" w="7556013">
                <a:moveTo>
                  <a:pt x="7556013" y="0"/>
                </a:moveTo>
                <a:lnTo>
                  <a:pt x="0" y="0"/>
                </a:lnTo>
                <a:lnTo>
                  <a:pt x="0" y="2748500"/>
                </a:lnTo>
                <a:lnTo>
                  <a:pt x="7556013" y="2748500"/>
                </a:lnTo>
                <a:lnTo>
                  <a:pt x="7556013" y="0"/>
                </a:lnTo>
                <a:close/>
              </a:path>
            </a:pathLst>
          </a:custGeom>
          <a:blipFill>
            <a:blip r:embed="rId5">
              <a:alphaModFix amt="2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238276" y="9339071"/>
            <a:ext cx="5060912" cy="903810"/>
            <a:chOff x="0" y="0"/>
            <a:chExt cx="6747883" cy="1205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75949" y="0"/>
              <a:ext cx="622622" cy="805746"/>
            </a:xfrm>
            <a:custGeom>
              <a:avLst/>
              <a:gdLst/>
              <a:ahLst/>
              <a:cxnLst/>
              <a:rect r="r" b="b" t="t" l="l"/>
              <a:pathLst>
                <a:path h="805746" w="622622">
                  <a:moveTo>
                    <a:pt x="0" y="0"/>
                  </a:moveTo>
                  <a:lnTo>
                    <a:pt x="622622" y="0"/>
                  </a:lnTo>
                  <a:lnTo>
                    <a:pt x="622622" y="805746"/>
                  </a:lnTo>
                  <a:lnTo>
                    <a:pt x="0" y="80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764243" y="84569"/>
              <a:ext cx="1062208" cy="388366"/>
            </a:xfrm>
            <a:custGeom>
              <a:avLst/>
              <a:gdLst/>
              <a:ahLst/>
              <a:cxnLst/>
              <a:rect r="r" b="b" t="t" l="l"/>
              <a:pathLst>
                <a:path h="388366" w="1062208">
                  <a:moveTo>
                    <a:pt x="0" y="0"/>
                  </a:moveTo>
                  <a:lnTo>
                    <a:pt x="1062208" y="0"/>
                  </a:lnTo>
                  <a:lnTo>
                    <a:pt x="1062208" y="388367"/>
                  </a:lnTo>
                  <a:lnTo>
                    <a:pt x="0" y="3883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20" b="-6562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true" rot="0">
              <a:off x="1912124" y="433609"/>
              <a:ext cx="766447" cy="303362"/>
            </a:xfrm>
            <a:custGeom>
              <a:avLst/>
              <a:gdLst/>
              <a:ahLst/>
              <a:cxnLst/>
              <a:rect r="r" b="b" t="t" l="l"/>
              <a:pathLst>
                <a:path h="303362" w="766447">
                  <a:moveTo>
                    <a:pt x="0" y="303362"/>
                  </a:moveTo>
                  <a:lnTo>
                    <a:pt x="766446" y="303362"/>
                  </a:lnTo>
                  <a:lnTo>
                    <a:pt x="766446" y="0"/>
                  </a:lnTo>
                  <a:lnTo>
                    <a:pt x="0" y="0"/>
                  </a:lnTo>
                  <a:lnTo>
                    <a:pt x="0" y="303362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-38616" b="-112039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830645" y="0"/>
              <a:ext cx="805746" cy="805746"/>
            </a:xfrm>
            <a:custGeom>
              <a:avLst/>
              <a:gdLst/>
              <a:ahLst/>
              <a:cxnLst/>
              <a:rect r="r" b="b" t="t" l="l"/>
              <a:pathLst>
                <a:path h="805746" w="805746">
                  <a:moveTo>
                    <a:pt x="0" y="0"/>
                  </a:moveTo>
                  <a:lnTo>
                    <a:pt x="805747" y="0"/>
                  </a:lnTo>
                  <a:lnTo>
                    <a:pt x="805747" y="805746"/>
                  </a:lnTo>
                  <a:lnTo>
                    <a:pt x="0" y="80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5459831" y="134216"/>
              <a:ext cx="923120" cy="537315"/>
            </a:xfrm>
            <a:custGeom>
              <a:avLst/>
              <a:gdLst/>
              <a:ahLst/>
              <a:cxnLst/>
              <a:rect r="r" b="b" t="t" l="l"/>
              <a:pathLst>
                <a:path h="537315" w="923120">
                  <a:moveTo>
                    <a:pt x="0" y="0"/>
                  </a:moveTo>
                  <a:lnTo>
                    <a:pt x="923119" y="0"/>
                  </a:lnTo>
                  <a:lnTo>
                    <a:pt x="923119" y="537315"/>
                  </a:lnTo>
                  <a:lnTo>
                    <a:pt x="0" y="537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908573"/>
              <a:ext cx="1574520" cy="29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b="true" sz="1583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20%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678743" y="908573"/>
              <a:ext cx="1574157" cy="29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b="true" sz="1583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15 KM/H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446440" y="908573"/>
              <a:ext cx="1574157" cy="29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b="true" sz="1583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WEST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5173725" y="908573"/>
              <a:ext cx="1574157" cy="29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83"/>
                </a:lnSpc>
              </a:pPr>
              <a:r>
                <a:rPr lang="en-US" b="true" sz="1583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1023.0 MB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0" y="2502995"/>
            <a:ext cx="17712512" cy="4172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83"/>
              </a:lnSpc>
            </a:pPr>
            <a:r>
              <a:rPr lang="en-US" b="true" sz="6652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 HYPER-LOCAL </a:t>
            </a:r>
          </a:p>
          <a:p>
            <a:pPr algn="ctr">
              <a:lnSpc>
                <a:spcPts val="8183"/>
              </a:lnSpc>
            </a:pPr>
            <a:r>
              <a:rPr lang="en-US" b="true" sz="6652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AVIATION WEATHER FORECAST VERIFICATION SYSTEM FOR SRI LANKAN MONSOON PATTERNS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9257527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55695" y="9603464"/>
            <a:ext cx="23973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29600" y="1084911"/>
            <a:ext cx="2001125" cy="434632"/>
            <a:chOff x="0" y="0"/>
            <a:chExt cx="527045" cy="1144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7045" cy="114471"/>
            </a:xfrm>
            <a:custGeom>
              <a:avLst/>
              <a:gdLst/>
              <a:ahLst/>
              <a:cxnLst/>
              <a:rect r="r" b="b" t="t" l="l"/>
              <a:pathLst>
                <a:path h="114471" w="527045">
                  <a:moveTo>
                    <a:pt x="57236" y="0"/>
                  </a:moveTo>
                  <a:lnTo>
                    <a:pt x="469810" y="0"/>
                  </a:lnTo>
                  <a:cubicBezTo>
                    <a:pt x="484990" y="0"/>
                    <a:pt x="499548" y="6030"/>
                    <a:pt x="510281" y="16764"/>
                  </a:cubicBezTo>
                  <a:cubicBezTo>
                    <a:pt x="521015" y="27498"/>
                    <a:pt x="527045" y="42056"/>
                    <a:pt x="527045" y="57236"/>
                  </a:cubicBezTo>
                  <a:lnTo>
                    <a:pt x="527045" y="57236"/>
                  </a:lnTo>
                  <a:cubicBezTo>
                    <a:pt x="527045" y="72415"/>
                    <a:pt x="521015" y="86973"/>
                    <a:pt x="510281" y="97707"/>
                  </a:cubicBezTo>
                  <a:cubicBezTo>
                    <a:pt x="499548" y="108441"/>
                    <a:pt x="484990" y="114471"/>
                    <a:pt x="469810" y="114471"/>
                  </a:cubicBezTo>
                  <a:lnTo>
                    <a:pt x="57236" y="114471"/>
                  </a:lnTo>
                  <a:cubicBezTo>
                    <a:pt x="42056" y="114471"/>
                    <a:pt x="27498" y="108441"/>
                    <a:pt x="16764" y="97707"/>
                  </a:cubicBezTo>
                  <a:cubicBezTo>
                    <a:pt x="6030" y="86973"/>
                    <a:pt x="0" y="72415"/>
                    <a:pt x="0" y="57236"/>
                  </a:cubicBezTo>
                  <a:lnTo>
                    <a:pt x="0" y="57236"/>
                  </a:lnTo>
                  <a:cubicBezTo>
                    <a:pt x="0" y="42056"/>
                    <a:pt x="6030" y="27498"/>
                    <a:pt x="16764" y="16764"/>
                  </a:cubicBezTo>
                  <a:cubicBezTo>
                    <a:pt x="27498" y="6030"/>
                    <a:pt x="42056" y="0"/>
                    <a:pt x="57236" y="0"/>
                  </a:cubicBezTo>
                  <a:close/>
                </a:path>
              </a:pathLst>
            </a:custGeom>
            <a:solidFill>
              <a:srgbClr val="1B95F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7045" cy="152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41440" y="-1699599"/>
            <a:ext cx="8637196" cy="5775020"/>
            <a:chOff x="0" y="0"/>
            <a:chExt cx="1338128" cy="89470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8128" cy="894702"/>
            </a:xfrm>
            <a:custGeom>
              <a:avLst/>
              <a:gdLst/>
              <a:ahLst/>
              <a:cxnLst/>
              <a:rect r="r" b="b" t="t" l="l"/>
              <a:pathLst>
                <a:path h="894702" w="1338128">
                  <a:moveTo>
                    <a:pt x="67226" y="0"/>
                  </a:moveTo>
                  <a:lnTo>
                    <a:pt x="1270902" y="0"/>
                  </a:lnTo>
                  <a:cubicBezTo>
                    <a:pt x="1288731" y="0"/>
                    <a:pt x="1305830" y="7083"/>
                    <a:pt x="1318438" y="19690"/>
                  </a:cubicBezTo>
                  <a:cubicBezTo>
                    <a:pt x="1331045" y="32297"/>
                    <a:pt x="1338128" y="49397"/>
                    <a:pt x="1338128" y="67226"/>
                  </a:cubicBezTo>
                  <a:lnTo>
                    <a:pt x="1338128" y="827476"/>
                  </a:lnTo>
                  <a:cubicBezTo>
                    <a:pt x="1338128" y="845305"/>
                    <a:pt x="1331045" y="862404"/>
                    <a:pt x="1318438" y="875012"/>
                  </a:cubicBezTo>
                  <a:cubicBezTo>
                    <a:pt x="1305830" y="887619"/>
                    <a:pt x="1288731" y="894702"/>
                    <a:pt x="1270902" y="894702"/>
                  </a:cubicBezTo>
                  <a:lnTo>
                    <a:pt x="67226" y="894702"/>
                  </a:lnTo>
                  <a:cubicBezTo>
                    <a:pt x="49397" y="894702"/>
                    <a:pt x="32297" y="887619"/>
                    <a:pt x="19690" y="875012"/>
                  </a:cubicBezTo>
                  <a:cubicBezTo>
                    <a:pt x="7083" y="862404"/>
                    <a:pt x="0" y="845305"/>
                    <a:pt x="0" y="827476"/>
                  </a:cubicBezTo>
                  <a:lnTo>
                    <a:pt x="0" y="67226"/>
                  </a:lnTo>
                  <a:cubicBezTo>
                    <a:pt x="0" y="49397"/>
                    <a:pt x="7083" y="32297"/>
                    <a:pt x="19690" y="19690"/>
                  </a:cubicBezTo>
                  <a:cubicBezTo>
                    <a:pt x="32297" y="7083"/>
                    <a:pt x="49397" y="0"/>
                    <a:pt x="67226" y="0"/>
                  </a:cubicBezTo>
                  <a:close/>
                </a:path>
              </a:pathLst>
            </a:custGeom>
            <a:blipFill>
              <a:blip r:embed="rId2"/>
              <a:stretch>
                <a:fillRect l="-9494" t="0" r="-9494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5672344" y="9833129"/>
            <a:ext cx="2541464" cy="453871"/>
            <a:chOff x="0" y="0"/>
            <a:chExt cx="3388618" cy="60516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39010" y="0"/>
              <a:ext cx="312665" cy="404626"/>
            </a:xfrm>
            <a:custGeom>
              <a:avLst/>
              <a:gdLst/>
              <a:ahLst/>
              <a:cxnLst/>
              <a:rect r="r" b="b" t="t" l="l"/>
              <a:pathLst>
                <a:path h="404626" w="312665">
                  <a:moveTo>
                    <a:pt x="0" y="0"/>
                  </a:moveTo>
                  <a:lnTo>
                    <a:pt x="312665" y="0"/>
                  </a:lnTo>
                  <a:lnTo>
                    <a:pt x="312665" y="404626"/>
                  </a:lnTo>
                  <a:lnTo>
                    <a:pt x="0" y="40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85959" y="42469"/>
              <a:ext cx="533414" cy="195028"/>
            </a:xfrm>
            <a:custGeom>
              <a:avLst/>
              <a:gdLst/>
              <a:ahLst/>
              <a:cxnLst/>
              <a:rect r="r" b="b" t="t" l="l"/>
              <a:pathLst>
                <a:path h="195028" w="533414">
                  <a:moveTo>
                    <a:pt x="0" y="0"/>
                  </a:moveTo>
                  <a:lnTo>
                    <a:pt x="533414" y="0"/>
                  </a:lnTo>
                  <a:lnTo>
                    <a:pt x="533414" y="195027"/>
                  </a:lnTo>
                  <a:lnTo>
                    <a:pt x="0" y="1950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20" b="-65629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true" rot="0">
              <a:off x="960221" y="217748"/>
              <a:ext cx="384890" cy="152341"/>
            </a:xfrm>
            <a:custGeom>
              <a:avLst/>
              <a:gdLst/>
              <a:ahLst/>
              <a:cxnLst/>
              <a:rect r="r" b="b" t="t" l="l"/>
              <a:pathLst>
                <a:path h="152341" w="384890">
                  <a:moveTo>
                    <a:pt x="0" y="152340"/>
                  </a:moveTo>
                  <a:lnTo>
                    <a:pt x="384890" y="152340"/>
                  </a:lnTo>
                  <a:lnTo>
                    <a:pt x="384890" y="0"/>
                  </a:lnTo>
                  <a:lnTo>
                    <a:pt x="0" y="0"/>
                  </a:lnTo>
                  <a:lnTo>
                    <a:pt x="0" y="15234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-38616" b="-112039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923654" y="0"/>
              <a:ext cx="404626" cy="404626"/>
            </a:xfrm>
            <a:custGeom>
              <a:avLst/>
              <a:gdLst/>
              <a:ahLst/>
              <a:cxnLst/>
              <a:rect r="r" b="b" t="t" l="l"/>
              <a:pathLst>
                <a:path h="404626" w="404626">
                  <a:moveTo>
                    <a:pt x="0" y="0"/>
                  </a:moveTo>
                  <a:lnTo>
                    <a:pt x="404626" y="0"/>
                  </a:lnTo>
                  <a:lnTo>
                    <a:pt x="404626" y="404626"/>
                  </a:lnTo>
                  <a:lnTo>
                    <a:pt x="0" y="4046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741791" y="67400"/>
              <a:ext cx="463568" cy="269826"/>
            </a:xfrm>
            <a:custGeom>
              <a:avLst/>
              <a:gdLst/>
              <a:ahLst/>
              <a:cxnLst/>
              <a:rect r="r" b="b" t="t" l="l"/>
              <a:pathLst>
                <a:path h="269826" w="463568">
                  <a:moveTo>
                    <a:pt x="0" y="0"/>
                  </a:moveTo>
                  <a:lnTo>
                    <a:pt x="463567" y="0"/>
                  </a:lnTo>
                  <a:lnTo>
                    <a:pt x="463567" y="269826"/>
                  </a:lnTo>
                  <a:lnTo>
                    <a:pt x="0" y="269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456221"/>
              <a:ext cx="790685" cy="14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b="true" sz="795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20%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43023" y="456221"/>
              <a:ext cx="790503" cy="14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b="true" sz="795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15 KM/H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730716" y="456221"/>
              <a:ext cx="790503" cy="14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b="true" sz="795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WEST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598116" y="456221"/>
              <a:ext cx="790503" cy="1489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95"/>
                </a:lnSpc>
              </a:pPr>
              <a:r>
                <a:rPr lang="en-US" b="true" sz="795">
                  <a:solidFill>
                    <a:srgbClr val="000000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1023.0 MB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00125" y="1178231"/>
            <a:ext cx="7383170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b="true">
                <a:solidFill>
                  <a:srgbClr val="FEA917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BACK</a:t>
            </a:r>
            <a:r>
              <a:rPr lang="en-US" sz="6999" b="true">
                <a:solidFill>
                  <a:srgbClr val="161C5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GROUND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12721" y="2253260"/>
            <a:ext cx="8357978" cy="4908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Weather f</a:t>
            </a:r>
            <a:r>
              <a:rPr lang="en-US" b="true" sz="3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orecasting plays a critical role in aviation safety and operational decision-making. Pilots depend on aviation weather reports such as TAF and METAR to obtain atmospheric conditions before take-off and landing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32141" y="8825357"/>
            <a:ext cx="1426581" cy="54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371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30°C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229600" y="9380569"/>
            <a:ext cx="3619683" cy="128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"/>
              </a:lnSpc>
            </a:pPr>
            <a:r>
              <a:rPr lang="en-US" sz="909" spc="454">
                <a:solidFill>
                  <a:srgbClr val="584344"/>
                </a:solidFill>
                <a:latin typeface="Poppins Light"/>
                <a:ea typeface="Poppins Light"/>
                <a:cs typeface="Poppins Light"/>
                <a:sym typeface="Poppins Light"/>
              </a:rPr>
              <a:t>MAX. 31°C - MIN.15°C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95465" y="4451135"/>
            <a:ext cx="7383170" cy="98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b="true" sz="6999">
                <a:solidFill>
                  <a:srgbClr val="161C58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PROBLEM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97048" y="5374289"/>
            <a:ext cx="8699160" cy="349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Most aviation w</a:t>
            </a:r>
            <a:r>
              <a:rPr lang="en-US" b="true" sz="3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eather f</a:t>
            </a:r>
            <a:r>
              <a:rPr lang="en-US" b="true" sz="3999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orecasting systems rely on global models such as GFS and ECMWF, which provide large-scale forecasts but often miss local airport weather variations.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58703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00125" y="9257527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83418" y="9576317"/>
            <a:ext cx="23973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07274" y="471079"/>
            <a:ext cx="16952026" cy="1230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9"/>
              </a:lnSpc>
            </a:pPr>
            <a:r>
              <a:rPr lang="en-US" sz="8699" b="true">
                <a:solidFill>
                  <a:srgbClr val="F6B332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PROPOSED</a:t>
            </a:r>
            <a:r>
              <a:rPr lang="en-US" sz="8699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 SOLUTION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1625505"/>
            <a:ext cx="12198433" cy="640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5"/>
              </a:lnSpc>
            </a:pPr>
          </a:p>
          <a:p>
            <a:pPr algn="l" marL="875225" indent="-437613" lvl="1">
              <a:lnSpc>
                <a:spcPts val="5675"/>
              </a:lnSpc>
              <a:buFont typeface="Arial"/>
              <a:buChar char="•"/>
            </a:pPr>
            <a:r>
              <a:rPr lang="en-US" b="true" sz="405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M</a:t>
            </a:r>
            <a:r>
              <a:rPr lang="en-US" b="true" sz="405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icroclimate aviation weather prediction system</a:t>
            </a:r>
          </a:p>
          <a:p>
            <a:pPr algn="l" marL="875225" indent="-437613" lvl="1">
              <a:lnSpc>
                <a:spcPts val="5675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05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Predict the next 3 hours weather data</a:t>
            </a:r>
          </a:p>
          <a:p>
            <a:pPr algn="l" marL="875225" indent="-437613" lvl="1">
              <a:lnSpc>
                <a:spcPts val="5675"/>
              </a:lnSpc>
              <a:buFont typeface="Arial"/>
              <a:buChar char="•"/>
            </a:pPr>
            <a:r>
              <a:rPr lang="en-US" b="true" sz="405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This system works as an aviation weather verification system</a:t>
            </a:r>
          </a:p>
          <a:p>
            <a:pPr algn="l" marL="875225" indent="-437613" lvl="1">
              <a:lnSpc>
                <a:spcPts val="5675"/>
              </a:lnSpc>
              <a:buFont typeface="Arial"/>
              <a:buChar char="•"/>
            </a:pPr>
            <a:r>
              <a:rPr lang="en-US" b="true" sz="405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Provides automated weather verification</a:t>
            </a:r>
          </a:p>
          <a:p>
            <a:pPr algn="l">
              <a:lnSpc>
                <a:spcPts val="5675"/>
              </a:lnSpc>
            </a:pPr>
            <a:r>
              <a:rPr lang="en-US" b="true" sz="4053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       support for forecasters and pilots</a:t>
            </a:r>
          </a:p>
          <a:p>
            <a:pPr algn="l">
              <a:lnSpc>
                <a:spcPts val="5675"/>
              </a:lnSpc>
              <a:spcBef>
                <a:spcPct val="0"/>
              </a:spcBef>
            </a:pPr>
          </a:p>
          <a:p>
            <a:pPr algn="l">
              <a:lnSpc>
                <a:spcPts val="5675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10013576" y="2918621"/>
            <a:ext cx="9353832" cy="842074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1028700" y="9257527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85964" y="9603464"/>
            <a:ext cx="23973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87408" y="2276335"/>
            <a:ext cx="12791758" cy="6715673"/>
          </a:xfrm>
          <a:custGeom>
            <a:avLst/>
            <a:gdLst/>
            <a:ahLst/>
            <a:cxnLst/>
            <a:rect r="r" b="b" t="t" l="l"/>
            <a:pathLst>
              <a:path h="6715673" w="12791758">
                <a:moveTo>
                  <a:pt x="0" y="0"/>
                </a:moveTo>
                <a:lnTo>
                  <a:pt x="12791758" y="0"/>
                </a:lnTo>
                <a:lnTo>
                  <a:pt x="12791758" y="6715673"/>
                </a:lnTo>
                <a:lnTo>
                  <a:pt x="0" y="6715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7274" y="452029"/>
            <a:ext cx="16952026" cy="1146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</a:t>
            </a:r>
            <a:r>
              <a:rPr lang="en-US" sz="8000" b="true">
                <a:solidFill>
                  <a:srgbClr val="FEA917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9650" y="9257527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85964" y="9603464"/>
            <a:ext cx="23973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9228271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4" y="0"/>
                </a:lnTo>
                <a:lnTo>
                  <a:pt x="925554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2831" y="1095375"/>
            <a:ext cx="1098574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SANKADEEPA </a:t>
            </a:r>
            <a:r>
              <a:rPr lang="en-US" sz="7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W.D.I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25554" y="9283875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43916" y="9461675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59081" y="5981592"/>
            <a:ext cx="5428743" cy="49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NORTH EAST MONSOON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47494" y="4729586"/>
            <a:ext cx="17040506" cy="1997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sz="7400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Pressure-Temperature Coupled Prediction Model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5231" y="2687021"/>
            <a:ext cx="1083334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IT22113986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0511" y="9539122"/>
            <a:ext cx="8722282" cy="454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3276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Specialization: </a:t>
            </a:r>
            <a:r>
              <a:rPr lang="en-US" sz="3276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Information Technology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-71207">
            <a:off x="13471707" y="488801"/>
            <a:ext cx="3832237" cy="3832237"/>
            <a:chOff x="0" y="0"/>
            <a:chExt cx="2376195" cy="237619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6170" cy="2376170"/>
            </a:xfrm>
            <a:custGeom>
              <a:avLst/>
              <a:gdLst/>
              <a:ahLst/>
              <a:cxnLst/>
              <a:rect r="r" b="b" t="t" l="l"/>
              <a:pathLst>
                <a:path h="2376170" w="2376170">
                  <a:moveTo>
                    <a:pt x="1188085" y="0"/>
                  </a:moveTo>
                  <a:cubicBezTo>
                    <a:pt x="531876" y="0"/>
                    <a:pt x="0" y="531876"/>
                    <a:pt x="0" y="1188085"/>
                  </a:cubicBezTo>
                  <a:cubicBezTo>
                    <a:pt x="0" y="1844294"/>
                    <a:pt x="531876" y="2376170"/>
                    <a:pt x="1188085" y="2376170"/>
                  </a:cubicBezTo>
                  <a:cubicBezTo>
                    <a:pt x="1844294" y="2376170"/>
                    <a:pt x="2376170" y="1844294"/>
                    <a:pt x="2376170" y="1188085"/>
                  </a:cubicBezTo>
                  <a:cubicBezTo>
                    <a:pt x="2376170" y="531876"/>
                    <a:pt x="1844294" y="0"/>
                    <a:pt x="1188085" y="0"/>
                  </a:cubicBezTo>
                  <a:close/>
                </a:path>
              </a:pathLst>
            </a:custGeom>
            <a:blipFill>
              <a:blip r:embed="rId3"/>
              <a:stretch>
                <a:fillRect l="-10863" t="-28638" r="0" b="-1918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3169" y="551920"/>
            <a:ext cx="15566522" cy="102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72"/>
              </a:lnSpc>
            </a:pPr>
            <a:r>
              <a:rPr lang="en-US" b="true" sz="3972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PRESSURE-TEMPERATURE COUP</a:t>
            </a:r>
            <a:r>
              <a:rPr lang="en-US" b="true" sz="3972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LED PREDICTION MODEL </a:t>
            </a:r>
          </a:p>
          <a:p>
            <a:pPr algn="ctr">
              <a:lnSpc>
                <a:spcPts val="3972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6673" y="5537898"/>
            <a:ext cx="4572636" cy="60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  <a:spcBef>
                <a:spcPct val="0"/>
              </a:spcBef>
            </a:pPr>
            <a:r>
              <a:rPr lang="en-US" b="true" sz="33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6252962"/>
            <a:ext cx="8583061" cy="236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8774" indent="-294387" lvl="1">
              <a:lnSpc>
                <a:spcPts val="3817"/>
              </a:lnSpc>
              <a:spcBef>
                <a:spcPct val="0"/>
              </a:spcBef>
              <a:buFont typeface="Arial"/>
              <a:buChar char="•"/>
            </a:pPr>
            <a:r>
              <a:rPr lang="en-US" sz="27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Accurate 3-hour weather prediction</a:t>
            </a:r>
          </a:p>
          <a:p>
            <a:pPr algn="just" marL="588774" indent="-294387" lvl="1">
              <a:lnSpc>
                <a:spcPts val="3817"/>
              </a:lnSpc>
              <a:spcBef>
                <a:spcPct val="0"/>
              </a:spcBef>
              <a:buFont typeface="Arial"/>
              <a:buChar char="•"/>
            </a:pPr>
            <a:r>
              <a:rPr lang="en-US" sz="27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Reliable forecast verification</a:t>
            </a:r>
          </a:p>
          <a:p>
            <a:pPr algn="just" marL="588774" indent="-294387" lvl="1">
              <a:lnSpc>
                <a:spcPts val="3817"/>
              </a:lnSpc>
              <a:spcBef>
                <a:spcPct val="0"/>
              </a:spcBef>
              <a:buFont typeface="Arial"/>
              <a:buChar char="•"/>
            </a:pPr>
            <a:r>
              <a:rPr lang="en-US" sz="27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Short-term aviation weather monitoring</a:t>
            </a:r>
          </a:p>
          <a:p>
            <a:pPr algn="just" marL="588774" indent="-294387" lvl="1">
              <a:lnSpc>
                <a:spcPts val="3817"/>
              </a:lnSpc>
              <a:spcBef>
                <a:spcPct val="0"/>
              </a:spcBef>
              <a:buFont typeface="Arial"/>
              <a:buChar char="•"/>
            </a:pPr>
            <a:r>
              <a:rPr lang="en-US" sz="27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operational decision-making</a:t>
            </a:r>
          </a:p>
          <a:p>
            <a:pPr algn="just">
              <a:lnSpc>
                <a:spcPts val="3817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7755375" y="6262487"/>
            <a:ext cx="10746811" cy="3564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5595" indent="-272797" lvl="1">
              <a:lnSpc>
                <a:spcPts val="3537"/>
              </a:lnSpc>
              <a:spcBef>
                <a:spcPct val="0"/>
              </a:spcBef>
              <a:buFont typeface="Arial"/>
              <a:buChar char="•"/>
            </a:pPr>
            <a:r>
              <a:rPr lang="en-US" sz="252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hyperp</a:t>
            </a:r>
            <a:r>
              <a:rPr lang="en-US" sz="25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arameter tuning to improve prediction accuracy</a:t>
            </a:r>
          </a:p>
          <a:p>
            <a:pPr algn="l" marL="545595" indent="-272797" lvl="1">
              <a:lnSpc>
                <a:spcPts val="3537"/>
              </a:lnSpc>
              <a:spcBef>
                <a:spcPct val="0"/>
              </a:spcBef>
              <a:buFont typeface="Arial"/>
              <a:buChar char="•"/>
            </a:pPr>
            <a:r>
              <a:rPr lang="en-US" sz="25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Implemented a coupled prediction mechanism for temperature and pressure</a:t>
            </a:r>
          </a:p>
          <a:p>
            <a:pPr algn="l" marL="545595" indent="-272797" lvl="1">
              <a:lnSpc>
                <a:spcPts val="3537"/>
              </a:lnSpc>
              <a:spcBef>
                <a:spcPct val="0"/>
              </a:spcBef>
              <a:buFont typeface="Arial"/>
              <a:buChar char="•"/>
            </a:pPr>
            <a:r>
              <a:rPr lang="en-US" sz="25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Performed feature engineering using lag-based and rolling statistical features</a:t>
            </a:r>
          </a:p>
          <a:p>
            <a:pPr algn="l" marL="545595" indent="-272797" lvl="1">
              <a:lnSpc>
                <a:spcPts val="3537"/>
              </a:lnSpc>
              <a:spcBef>
                <a:spcPct val="0"/>
              </a:spcBef>
              <a:buFont typeface="Arial"/>
              <a:buChar char="•"/>
            </a:pPr>
            <a:r>
              <a:rPr lang="en-US" sz="2527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Integrated METAR and TAF based forecast verification support</a:t>
            </a:r>
          </a:p>
          <a:p>
            <a:pPr algn="l">
              <a:lnSpc>
                <a:spcPts val="3537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537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07010" y="5537898"/>
            <a:ext cx="9062582" cy="60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  <a:spcBef>
                <a:spcPct val="0"/>
              </a:spcBef>
            </a:pPr>
            <a:r>
              <a:rPr lang="en-US" b="true" sz="33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Excellence / Contribution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6712" y="1540390"/>
            <a:ext cx="3125034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Sub Problem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277143" y="1481189"/>
            <a:ext cx="2663034" cy="659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07"/>
              </a:lnSpc>
              <a:spcBef>
                <a:spcPct val="0"/>
              </a:spcBef>
            </a:pPr>
            <a:r>
              <a:rPr lang="en-US" b="true" sz="36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278" y="2393929"/>
            <a:ext cx="7597119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</a:t>
            </a: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isting large-scale forecasting systems are Fail for Larage scale prediction for  temperature and pressure  during North-East Monsoon conditions at BIA airport.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784396" y="2379588"/>
            <a:ext cx="9814665" cy="295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AI-based coupled prediction for 3-hour temperature and pressure forecasting.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hyper-local microclimate aviation weather data.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Integrates METAR and TAF verification support.</a:t>
            </a:r>
          </a:p>
          <a:p>
            <a:pPr algn="l" marL="604518" indent="-302259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Supports short-term aviation weather forecasting.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5763914" y="9649733"/>
            <a:ext cx="2387560" cy="58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366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IT22113986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15409" y="9623295"/>
            <a:ext cx="3710107" cy="58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366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Sankadeepa W.D.I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701659" y="9668783"/>
            <a:ext cx="2092042" cy="50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53"/>
              </a:lnSpc>
            </a:pPr>
            <a:r>
              <a:rPr lang="en-US" b="true" sz="2966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11775" y="7548551"/>
            <a:ext cx="2553658" cy="477720"/>
          </a:xfrm>
          <a:custGeom>
            <a:avLst/>
            <a:gdLst/>
            <a:ahLst/>
            <a:cxnLst/>
            <a:rect r="r" b="b" t="t" l="l"/>
            <a:pathLst>
              <a:path h="477720" w="2553658">
                <a:moveTo>
                  <a:pt x="0" y="0"/>
                </a:moveTo>
                <a:lnTo>
                  <a:pt x="2553657" y="0"/>
                </a:lnTo>
                <a:lnTo>
                  <a:pt x="2553657" y="477720"/>
                </a:lnTo>
                <a:lnTo>
                  <a:pt x="0" y="4777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305" t="-35367" r="-39386" b="-5305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9002323" y="4542323"/>
          <a:ext cx="13991602" cy="7112016"/>
        </p:xfrm>
        <a:graphic>
          <a:graphicData uri="http://schemas.openxmlformats.org/presentationml/2006/ole">
            <p:oleObj imgW="16789400" imgH="9906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97830" y="9720304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89321" y="392476"/>
            <a:ext cx="15132518" cy="123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7"/>
              </a:lnSpc>
            </a:pPr>
            <a:r>
              <a:rPr lang="en-US" b="true" sz="4108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PRESSURE</a:t>
            </a:r>
            <a:r>
              <a:rPr lang="en-US" b="true" sz="4108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-TEMPERATURE COUPLED PREDICTION MODEL </a:t>
            </a:r>
          </a:p>
          <a:p>
            <a:pPr algn="l">
              <a:lnSpc>
                <a:spcPts val="484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19245" y="1249633"/>
            <a:ext cx="9214955" cy="688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  <a:spcBef>
                <a:spcPct val="0"/>
              </a:spcBef>
            </a:pPr>
            <a:r>
              <a:rPr lang="en-US" b="true" sz="381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Feedback on Prototype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044766"/>
            <a:ext cx="17021839" cy="274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3569" indent="-281785" lvl="1">
              <a:lnSpc>
                <a:spcPts val="3654"/>
              </a:lnSpc>
              <a:spcBef>
                <a:spcPct val="0"/>
              </a:spcBef>
              <a:buFont typeface="Arial"/>
              <a:buChar char="•"/>
            </a:pPr>
            <a:r>
              <a:rPr lang="en-US" sz="26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ot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otyp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unders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 temper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an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 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ure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rend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analysis d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ri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 No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th-Ea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Monsoon co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nd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itions.</a:t>
            </a:r>
          </a:p>
          <a:p>
            <a:pPr algn="just" marL="542611" indent="-271305" lvl="1">
              <a:lnSpc>
                <a:spcPts val="3518"/>
              </a:lnSpc>
              <a:spcBef>
                <a:spcPct val="0"/>
              </a:spcBef>
              <a:buFont typeface="Arial"/>
              <a:buChar char="•"/>
            </a:pP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sugg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ating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aviation weather 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fu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ure ve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1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s.</a:t>
            </a:r>
          </a:p>
          <a:p>
            <a:pPr algn="just" marL="563569" indent="-281785" lvl="1">
              <a:lnSpc>
                <a:spcPts val="3654"/>
              </a:lnSpc>
              <a:spcBef>
                <a:spcPct val="0"/>
              </a:spcBef>
              <a:buFont typeface="Arial"/>
              <a:buChar char="•"/>
            </a:pP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improved view of Temp and 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pressure trend analysis</a:t>
            </a: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just" marL="563569" indent="-281785" lvl="1">
              <a:lnSpc>
                <a:spcPts val="3654"/>
              </a:lnSpc>
              <a:spcBef>
                <a:spcPct val="0"/>
              </a:spcBef>
              <a:buFont typeface="Arial"/>
              <a:buChar char="•"/>
            </a:pPr>
            <a:r>
              <a:rPr lang="en-US" sz="261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Prototype demonstrated practical support for forecast verification</a:t>
            </a:r>
          </a:p>
          <a:p>
            <a:pPr algn="just" marL="0" indent="0" lvl="0">
              <a:lnSpc>
                <a:spcPts val="365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19245" y="4626477"/>
            <a:ext cx="4245726" cy="1360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4"/>
              </a:lnSpc>
              <a:spcBef>
                <a:spcPct val="0"/>
              </a:spcBef>
            </a:pPr>
            <a:r>
              <a:rPr lang="en-US" b="true" sz="3810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  <a:p>
            <a:pPr algn="l">
              <a:lnSpc>
                <a:spcPts val="533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5555538"/>
            <a:ext cx="4069628" cy="3199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0185" indent="-280093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sz="25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yt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</a:p>
          <a:p>
            <a:pPr algn="just" marL="560185" indent="-280093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ik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-L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earn</a:t>
            </a:r>
          </a:p>
          <a:p>
            <a:pPr algn="just" marL="560185" indent="-280093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orF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/K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eras</a:t>
            </a:r>
          </a:p>
          <a:p>
            <a:pPr algn="just" marL="560185" indent="-280093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</a:t>
            </a:r>
          </a:p>
          <a:p>
            <a:pPr algn="just" marL="560185" indent="-280093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LSTM</a:t>
            </a:r>
          </a:p>
          <a:p>
            <a:pPr algn="just" marL="560185" indent="-280093" lvl="1">
              <a:lnSpc>
                <a:spcPts val="3632"/>
              </a:lnSpc>
              <a:spcBef>
                <a:spcPct val="0"/>
              </a:spcBef>
              <a:buFont typeface="Arial"/>
              <a:buChar char="•"/>
            </a:pP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&amp;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94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NumPy</a:t>
            </a:r>
          </a:p>
          <a:p>
            <a:pPr algn="just" marL="0" indent="0" lvl="0">
              <a:lnSpc>
                <a:spcPts val="3632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763914" y="9649733"/>
            <a:ext cx="2387560" cy="58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366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IT22113986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15409" y="9623295"/>
            <a:ext cx="3710107" cy="58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3"/>
              </a:lnSpc>
            </a:pPr>
            <a:r>
              <a:rPr lang="en-US" sz="3366" b="true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Sankadeepa W.D.I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2831" y="1104900"/>
            <a:ext cx="10833344" cy="112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Ranasinghe R.A.A</a:t>
            </a:r>
            <a:r>
              <a:rPr lang="en-US" sz="7899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.D.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201150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220658" y="9631633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35510" y="6504389"/>
            <a:ext cx="5428743" cy="49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Southwest Monsoon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3747" y="5219700"/>
            <a:ext cx="17040506" cy="1999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7474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Wind Pattern Prediction Model for </a:t>
            </a:r>
          </a:p>
          <a:p>
            <a:pPr algn="l">
              <a:lnSpc>
                <a:spcPts val="74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112831" y="2305682"/>
            <a:ext cx="10833344" cy="112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IT22269720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665371" y="580709"/>
            <a:ext cx="4079275" cy="407927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6747" r="0" b="-16747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227599" y="9698308"/>
            <a:ext cx="8722282" cy="372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2676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Specialization:</a:t>
            </a:r>
            <a:r>
              <a:rPr lang="en-US" sz="2676" b="true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 Information Technology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5211" y="9159632"/>
            <a:ext cx="915341" cy="915341"/>
          </a:xfrm>
          <a:custGeom>
            <a:avLst/>
            <a:gdLst/>
            <a:ahLst/>
            <a:cxnLst/>
            <a:rect r="r" b="b" t="t" l="l"/>
            <a:pathLst>
              <a:path h="915341" w="915341">
                <a:moveTo>
                  <a:pt x="0" y="0"/>
                </a:moveTo>
                <a:lnTo>
                  <a:pt x="915341" y="0"/>
                </a:lnTo>
                <a:lnTo>
                  <a:pt x="915341" y="915341"/>
                </a:lnTo>
                <a:lnTo>
                  <a:pt x="0" y="9153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14995" y="8045926"/>
            <a:ext cx="2386665" cy="477537"/>
          </a:xfrm>
          <a:custGeom>
            <a:avLst/>
            <a:gdLst/>
            <a:ahLst/>
            <a:cxnLst/>
            <a:rect r="r" b="b" t="t" l="l"/>
            <a:pathLst>
              <a:path h="477537" w="2386665">
                <a:moveTo>
                  <a:pt x="0" y="0"/>
                </a:moveTo>
                <a:lnTo>
                  <a:pt x="2386664" y="0"/>
                </a:lnTo>
                <a:lnTo>
                  <a:pt x="2386664" y="477537"/>
                </a:lnTo>
                <a:lnTo>
                  <a:pt x="0" y="4775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21" t="-35367" r="-45603" b="-5305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00552" y="9233042"/>
            <a:ext cx="3309623" cy="841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1"/>
              </a:lnSpc>
            </a:pPr>
            <a:r>
              <a:rPr lang="en-US" sz="2472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461"/>
              </a:lnSpc>
            </a:pPr>
            <a:r>
              <a:rPr lang="en-US" sz="2472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48624" y="5204704"/>
            <a:ext cx="4572636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Requirements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5211" y="5917571"/>
            <a:ext cx="8790064" cy="2783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9890" indent="-234945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short-term wind speed and wind direction prediction </a:t>
            </a:r>
          </a:p>
          <a:p>
            <a:pPr algn="l" marL="469890" indent="-234945" lvl="1">
              <a:lnSpc>
                <a:spcPts val="4069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Runway-oriented headwind and crosswind calculetion</a:t>
            </a:r>
          </a:p>
          <a:p>
            <a:pPr algn="l" marL="469890" indent="-234945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Forecast verification using METAR and TAF aviation weather reports</a:t>
            </a:r>
          </a:p>
          <a:p>
            <a:pPr algn="l" marL="469890" indent="-234945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monitoring of rapidly changing  wind conditions</a:t>
            </a:r>
          </a:p>
          <a:p>
            <a:pPr algn="l" marL="469890" indent="-234945" lvl="1">
              <a:lnSpc>
                <a:spcPts val="3046"/>
              </a:lnSpc>
              <a:buFont typeface="Arial"/>
              <a:buChar char="•"/>
            </a:pPr>
            <a:r>
              <a:rPr lang="en-US" sz="217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create automating weather report generation and delivery process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13996" y="5204704"/>
            <a:ext cx="7612734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Excellence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01464" y="6167216"/>
            <a:ext cx="8668895" cy="304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3630" indent="-231815" lvl="1">
              <a:lnSpc>
                <a:spcPts val="3006"/>
              </a:lnSpc>
              <a:buFont typeface="Arial"/>
              <a:buChar char="•"/>
            </a:pPr>
            <a:r>
              <a:rPr lang="en-US" sz="2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implement the different model using the different algorithms.</a:t>
            </a:r>
          </a:p>
          <a:p>
            <a:pPr algn="l" marL="463630" indent="-231815" lvl="1">
              <a:lnSpc>
                <a:spcPts val="3006"/>
              </a:lnSpc>
              <a:buFont typeface="Arial"/>
              <a:buChar char="•"/>
            </a:pPr>
            <a:r>
              <a:rPr lang="en-US" sz="2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hyperparameter tuning to improve wind prediction accuracy and model performance (using GridSearchCV/RandomizedSearchCV)</a:t>
            </a:r>
          </a:p>
          <a:p>
            <a:pPr algn="l" marL="463630" indent="-231815" lvl="1">
              <a:lnSpc>
                <a:spcPts val="3006"/>
              </a:lnSpc>
              <a:buFont typeface="Arial"/>
              <a:buChar char="•"/>
            </a:pPr>
            <a:r>
              <a:rPr lang="en-US" sz="2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formulas for calculete</a:t>
            </a:r>
            <a:r>
              <a:rPr lang="en-US" sz="2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wind prediction mechanism for crosswind and headwind analysis</a:t>
            </a:r>
          </a:p>
          <a:p>
            <a:pPr algn="just" marL="463630" indent="-231815" lvl="1">
              <a:lnSpc>
                <a:spcPts val="3006"/>
              </a:lnSpc>
              <a:buFont typeface="Arial"/>
              <a:buChar char="•"/>
            </a:pPr>
            <a:r>
              <a:rPr lang="en-US" sz="21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an automatic model retraining pipeline</a:t>
            </a:r>
          </a:p>
          <a:p>
            <a:pPr algn="just">
              <a:lnSpc>
                <a:spcPts val="300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97230" y="241099"/>
            <a:ext cx="17040506" cy="1410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4"/>
              </a:lnSpc>
            </a:pPr>
            <a:r>
              <a:rPr lang="en-US" sz="5074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Wind Pattern Prediction Model </a:t>
            </a:r>
          </a:p>
          <a:p>
            <a:pPr algn="l">
              <a:lnSpc>
                <a:spcPts val="5474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3080920" y="408102"/>
            <a:ext cx="397525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(speed and direction)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461934" y="9691729"/>
            <a:ext cx="21463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IT22269720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48936" y="9682204"/>
            <a:ext cx="37480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Ranasinghe R.A.A.D.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456260" y="9673452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3936" y="2175921"/>
            <a:ext cx="7513656" cy="1794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9"/>
              </a:lnSpc>
            </a:pPr>
          </a:p>
          <a:p>
            <a:pPr algn="l">
              <a:lnSpc>
                <a:spcPts val="2919"/>
              </a:lnSpc>
            </a:pPr>
            <a:r>
              <a:rPr lang="en-US" sz="2085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Global models fail to detect rapid wind speed and direction changes at Bandaranaike International Airport, affecting aviation safety under changing climate conditions.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3936" y="1924779"/>
            <a:ext cx="2465070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Sub Problem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42300" y="1671097"/>
            <a:ext cx="182537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630654" y="2398489"/>
            <a:ext cx="9657346" cy="1703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692" indent="-210846" lvl="1">
              <a:lnSpc>
                <a:spcPts val="2734"/>
              </a:lnSpc>
              <a:buFont typeface="Arial"/>
              <a:buChar char="•"/>
            </a:pPr>
            <a:r>
              <a:rPr lang="en-US" sz="19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train </a:t>
            </a:r>
            <a:r>
              <a:rPr lang="en-US" sz="19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ML models to predict short-term wind direction and speed using Micro Climate data</a:t>
            </a:r>
          </a:p>
          <a:p>
            <a:pPr algn="l" marL="421692" indent="-210846" lvl="1">
              <a:lnSpc>
                <a:spcPts val="2734"/>
              </a:lnSpc>
              <a:buFont typeface="Arial"/>
              <a:buChar char="•"/>
            </a:pPr>
            <a:r>
              <a:rPr lang="en-US" sz="19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Converts predicted wind data into headwind and crosswind components.</a:t>
            </a:r>
          </a:p>
          <a:p>
            <a:pPr algn="l">
              <a:lnSpc>
                <a:spcPts val="2734"/>
              </a:lnSpc>
            </a:pPr>
          </a:p>
          <a:p>
            <a:pPr algn="l" marL="421692" indent="-210846" lvl="1">
              <a:lnSpc>
                <a:spcPts val="2734"/>
              </a:lnSpc>
              <a:buFont typeface="Arial"/>
              <a:buChar char="•"/>
            </a:pPr>
            <a:r>
              <a:rPr lang="en-US" sz="195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runway-oriented aviation weather guidance.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41240" y="8132169"/>
            <a:ext cx="2413293" cy="482865"/>
          </a:xfrm>
          <a:custGeom>
            <a:avLst/>
            <a:gdLst/>
            <a:ahLst/>
            <a:cxnLst/>
            <a:rect r="r" b="b" t="t" l="l"/>
            <a:pathLst>
              <a:path h="482865" w="2413293">
                <a:moveTo>
                  <a:pt x="0" y="0"/>
                </a:moveTo>
                <a:lnTo>
                  <a:pt x="2413293" y="0"/>
                </a:lnTo>
                <a:lnTo>
                  <a:pt x="2413293" y="482864"/>
                </a:lnTo>
                <a:lnTo>
                  <a:pt x="0" y="482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21" t="-35367" r="-45603" b="-5305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0054" y="1321532"/>
            <a:ext cx="967342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Feedback on Prototype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6814" y="2086707"/>
            <a:ext cx="17534371" cy="282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requested clearer visualization of wind speed ,crosswind and hedwind individual colums</a:t>
            </a:r>
          </a:p>
          <a:p>
            <a:pPr algn="just" marL="558949" indent="-279474" lvl="1">
              <a:lnSpc>
                <a:spcPts val="3624"/>
              </a:lnSpc>
              <a:spcBef>
                <a:spcPct val="0"/>
              </a:spcBef>
              <a:buFont typeface="Arial"/>
              <a:buChar char="•"/>
            </a:pP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sugg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ating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liv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aviation weather </a:t>
            </a:r>
            <a:r>
              <a:rPr lang="en-US" sz="25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APi.</a:t>
            </a:r>
          </a:p>
          <a:p>
            <a:pPr algn="just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suggested creating an automated pipeline to retrain ML model monthly   </a:t>
            </a:r>
          </a:p>
          <a:p>
            <a:pPr algn="l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Prototype demonstrated practical support for forecast verification</a:t>
            </a:r>
          </a:p>
          <a:p>
            <a:pPr algn="just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suggested using the last 3-6h data as input for the prediction models.</a:t>
            </a:r>
          </a:p>
          <a:p>
            <a:pPr algn="just" marL="0" indent="0" lvl="0">
              <a:lnSpc>
                <a:spcPts val="376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50054" y="4866384"/>
            <a:ext cx="8140691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Used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530178" y="5577584"/>
            <a:ext cx="5929453" cy="335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yt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ik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-L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earn (random forest)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LSTM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&amp;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NumPy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mstplotlib</a:t>
            </a:r>
          </a:p>
          <a:p>
            <a:pPr algn="just" marL="0" indent="0" lvl="0">
              <a:lnSpc>
                <a:spcPts val="3813"/>
              </a:lnSpc>
              <a:spcBef>
                <a:spcPct val="0"/>
              </a:spcBef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518689" y="5177089"/>
            <a:ext cx="9392496" cy="4214380"/>
          </a:xfrm>
          <a:custGeom>
            <a:avLst/>
            <a:gdLst/>
            <a:ahLst/>
            <a:cxnLst/>
            <a:rect r="r" b="b" t="t" l="l"/>
            <a:pathLst>
              <a:path h="4214380" w="9392496">
                <a:moveTo>
                  <a:pt x="0" y="0"/>
                </a:moveTo>
                <a:lnTo>
                  <a:pt x="9392497" y="0"/>
                </a:lnTo>
                <a:lnTo>
                  <a:pt x="9392497" y="4214379"/>
                </a:lnTo>
                <a:lnTo>
                  <a:pt x="0" y="42143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67" t="-26105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578130" y="283947"/>
            <a:ext cx="17040506" cy="1453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74"/>
              </a:lnSpc>
            </a:pPr>
            <a:r>
              <a:rPr lang="en-US" sz="5474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Wind Pattern Prediction Model </a:t>
            </a:r>
          </a:p>
          <a:p>
            <a:pPr algn="l">
              <a:lnSpc>
                <a:spcPts val="5474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544127" y="467777"/>
            <a:ext cx="397525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(speed and direction)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61934" y="9691729"/>
            <a:ext cx="21463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IT22269720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148936" y="9682204"/>
            <a:ext cx="37480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Ranasinghe R.A.A.D.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456260" y="9673452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13677" y="4804154"/>
            <a:ext cx="620252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PERFORMANCE BENCHMARK METRICS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31221" y="394365"/>
            <a:ext cx="10833344" cy="2028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Jayawardhana H.M.S.I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1630" y="9663927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73816" y="7658033"/>
            <a:ext cx="7616745" cy="49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Fir</a:t>
            </a:r>
            <a:r>
              <a:rPr lang="en-US" sz="3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st Inter-Monsoon period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0054" y="4961824"/>
            <a:ext cx="17040506" cy="2931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sz="7400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Cloud and Visibility Prediction Model for aviation Safety</a:t>
            </a:r>
          </a:p>
          <a:p>
            <a:pPr algn="l">
              <a:lnSpc>
                <a:spcPts val="74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50054" y="2896549"/>
            <a:ext cx="1083334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0"/>
              </a:lnSpc>
            </a:pPr>
            <a:r>
              <a:rPr lang="en-US" sz="7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IT22619976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148987" y="601324"/>
            <a:ext cx="4515266" cy="4457100"/>
            <a:chOff x="0" y="0"/>
            <a:chExt cx="899672" cy="888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9672" cy="888082"/>
            </a:xfrm>
            <a:custGeom>
              <a:avLst/>
              <a:gdLst/>
              <a:ahLst/>
              <a:cxnLst/>
              <a:rect r="r" b="b" t="t" l="l"/>
              <a:pathLst>
                <a:path h="888082" w="899672">
                  <a:moveTo>
                    <a:pt x="449836" y="0"/>
                  </a:moveTo>
                  <a:cubicBezTo>
                    <a:pt x="201398" y="0"/>
                    <a:pt x="0" y="198804"/>
                    <a:pt x="0" y="444041"/>
                  </a:cubicBezTo>
                  <a:cubicBezTo>
                    <a:pt x="0" y="689278"/>
                    <a:pt x="201398" y="888082"/>
                    <a:pt x="449836" y="888082"/>
                  </a:cubicBezTo>
                  <a:cubicBezTo>
                    <a:pt x="698273" y="888082"/>
                    <a:pt x="899672" y="689278"/>
                    <a:pt x="899672" y="444041"/>
                  </a:cubicBezTo>
                  <a:cubicBezTo>
                    <a:pt x="899672" y="198804"/>
                    <a:pt x="698273" y="0"/>
                    <a:pt x="449836" y="0"/>
                  </a:cubicBezTo>
                  <a:close/>
                </a:path>
              </a:pathLst>
            </a:custGeom>
            <a:blipFill>
              <a:blip r:embed="rId3"/>
              <a:stretch>
                <a:fillRect l="-12842" t="0" r="-12842" b="-69767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45" y="412750"/>
            <a:ext cx="18191711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CLOUD AN</a:t>
            </a:r>
            <a:r>
              <a:rPr lang="en-US" b="true" sz="5000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D VISIBILITY PREDICTION MODEL FOR AVIATION SAFETY-FIRST INTER MONSOON PERIOD.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19632" y="9624668"/>
            <a:ext cx="213574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IT22619976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123576" y="9615143"/>
            <a:ext cx="410360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Jayawardhana H.M.S.I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08660" y="9606391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4394" y="1596356"/>
            <a:ext cx="13231888" cy="71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8"/>
              </a:lnSpc>
              <a:spcBef>
                <a:spcPct val="0"/>
              </a:spcBef>
            </a:pPr>
            <a:r>
              <a:rPr lang="en-US" b="true" sz="3955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Addresses the Sub-Problem / Prototype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0054" y="5461000"/>
            <a:ext cx="4572636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Requirements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278" y="6319879"/>
            <a:ext cx="8583061" cy="3051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Accurate visibility and cloud prediction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weather monitoring support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Safer take-off operations at BIA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local weather forecasting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812896" y="6319879"/>
            <a:ext cx="8287895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Compared R</a:t>
            </a: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andom Forest, XGBoost, and Decision Tree models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Used weather factors like RH%, Temperature, and QNH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automated data cleaning and preprocessing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</a:t>
            </a: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roved prediction accuracy using AI techniques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206430" y="5461000"/>
            <a:ext cx="6804461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Excellence / Contribution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5613" y="2458958"/>
            <a:ext cx="3125034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Sub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6965" y="2365641"/>
            <a:ext cx="2663034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75" y="3253887"/>
            <a:ext cx="7391400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Rapid visibility and cloud changes during the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First Inter-Monsoon period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are difficult to predict accurately at BIA airport.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47013" y="3022600"/>
            <a:ext cx="1040293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 models to predict visibility and cloud conditions.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Analyzes METAR weather data to identify rapid weather changes.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pilots and  make safer take-off decisions.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early warnings for low visibility conditions.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Improves local airport weather prediction accuracy.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9144000" y="5185042"/>
          <a:ext cx="13991602" cy="7112016"/>
        </p:xfrm>
        <a:graphic>
          <a:graphicData uri="http://schemas.openxmlformats.org/presentationml/2006/ole">
            <p:oleObj imgW="16789400" imgH="99060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98376" y="9663927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67262" y="9691729"/>
            <a:ext cx="21356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IT22619976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71161" y="9682204"/>
            <a:ext cx="410363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Jayawardhana H.M.S.I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30550" y="2093810"/>
            <a:ext cx="967342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Feedback on Prototype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145" y="412750"/>
            <a:ext cx="18191711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00"/>
              </a:lnSpc>
            </a:pPr>
            <a:r>
              <a:rPr lang="en-US" b="true" sz="5000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CLOUD AN</a:t>
            </a:r>
            <a:r>
              <a:rPr lang="en-US" b="true" sz="5000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D VISIBILITY PREDICTION MODEL FOR AVIATION SAFETY-FIRST INTER MONSOON PERIOD.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278" y="3163785"/>
            <a:ext cx="11312765" cy="332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</a:t>
            </a: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system helped identify sudden weather changes</a:t>
            </a:r>
          </a:p>
          <a:p>
            <a:pPr algn="just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</a:t>
            </a: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</a:t>
            </a: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ved visibility and cloud analysis</a:t>
            </a:r>
          </a:p>
          <a:p>
            <a:pPr algn="just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found the AI verification </a:t>
            </a: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useful</a:t>
            </a:r>
          </a:p>
          <a:p>
            <a:pPr algn="just" marL="580538" indent="-290269" lvl="1">
              <a:lnSpc>
                <a:spcPts val="3764"/>
              </a:lnSpc>
              <a:spcBef>
                <a:spcPct val="0"/>
              </a:spcBef>
              <a:buFont typeface="Arial"/>
              <a:buChar char="•"/>
            </a:pP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uggested adding live METAR data in future</a:t>
            </a:r>
            <a:r>
              <a:rPr lang="en-US" sz="26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versions</a:t>
            </a:r>
          </a:p>
          <a:p>
            <a:pPr algn="just">
              <a:lnSpc>
                <a:spcPts val="3764"/>
              </a:lnSpc>
              <a:spcBef>
                <a:spcPct val="0"/>
              </a:spcBef>
            </a:pPr>
          </a:p>
          <a:p>
            <a:pPr algn="just">
              <a:lnSpc>
                <a:spcPts val="3764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76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959736" y="6410186"/>
            <a:ext cx="4225172" cy="379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1596" indent="-290798" lvl="1">
              <a:lnSpc>
                <a:spcPts val="3771"/>
              </a:lnSpc>
              <a:spcBef>
                <a:spcPct val="0"/>
              </a:spcBef>
              <a:buFont typeface="Arial"/>
              <a:buChar char="•"/>
            </a:pPr>
            <a:r>
              <a:rPr lang="en-US" sz="26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6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ython</a:t>
            </a:r>
          </a:p>
          <a:p>
            <a:pPr algn="just" marL="581596" indent="-290798" lvl="1">
              <a:lnSpc>
                <a:spcPts val="3771"/>
              </a:lnSpc>
              <a:spcBef>
                <a:spcPct val="0"/>
              </a:spcBef>
              <a:buFont typeface="Arial"/>
              <a:buChar char="•"/>
            </a:pPr>
            <a:r>
              <a:rPr lang="en-US" sz="26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Scikit-Learn</a:t>
            </a:r>
          </a:p>
          <a:p>
            <a:pPr algn="just" marL="581596" indent="-290798" lvl="1">
              <a:lnSpc>
                <a:spcPts val="3771"/>
              </a:lnSpc>
              <a:spcBef>
                <a:spcPct val="0"/>
              </a:spcBef>
              <a:buFont typeface="Arial"/>
              <a:buChar char="•"/>
            </a:pPr>
            <a:r>
              <a:rPr lang="en-US" sz="26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XGB</a:t>
            </a:r>
            <a:r>
              <a:rPr lang="en-US" sz="26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oost</a:t>
            </a:r>
          </a:p>
          <a:p>
            <a:pPr algn="just" marL="581596" indent="-290798" lvl="1">
              <a:lnSpc>
                <a:spcPts val="3771"/>
              </a:lnSpc>
              <a:spcBef>
                <a:spcPct val="0"/>
              </a:spcBef>
              <a:buFont typeface="Arial"/>
              <a:buChar char="•"/>
            </a:pPr>
            <a:r>
              <a:rPr lang="en-US" sz="26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 Forest</a:t>
            </a:r>
          </a:p>
          <a:p>
            <a:pPr algn="just" marL="581596" indent="-290798" lvl="1">
              <a:lnSpc>
                <a:spcPts val="3771"/>
              </a:lnSpc>
              <a:spcBef>
                <a:spcPct val="0"/>
              </a:spcBef>
              <a:buFont typeface="Arial"/>
              <a:buChar char="•"/>
            </a:pPr>
            <a:r>
              <a:rPr lang="en-US" sz="26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Pandas &amp; NumPy</a:t>
            </a:r>
          </a:p>
          <a:p>
            <a:pPr algn="just">
              <a:lnSpc>
                <a:spcPts val="3771"/>
              </a:lnSpc>
              <a:spcBef>
                <a:spcPct val="0"/>
              </a:spcBef>
            </a:pPr>
          </a:p>
          <a:p>
            <a:pPr algn="just">
              <a:lnSpc>
                <a:spcPts val="3771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771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43841" y="5464935"/>
            <a:ext cx="4456962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112831" y="1104900"/>
            <a:ext cx="10833344" cy="112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Jayathilaka P.K.V.K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11630" y="9663927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454951" y="7513247"/>
            <a:ext cx="5428743" cy="498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3500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Second Inter-Monsoon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34697" y="5570788"/>
            <a:ext cx="17040506" cy="29425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4"/>
              </a:lnSpc>
            </a:pPr>
            <a:r>
              <a:rPr lang="en-US" sz="7474" b="true">
                <a:solidFill>
                  <a:srgbClr val="FF3131"/>
                </a:solidFill>
                <a:latin typeface="Poppins Bold"/>
                <a:ea typeface="Poppins Bold"/>
                <a:cs typeface="Poppins Bold"/>
                <a:sym typeface="Poppins Bold"/>
              </a:rPr>
              <a:t>Relative Humidity &amp; QNH Stability Prediction Model</a:t>
            </a:r>
          </a:p>
          <a:p>
            <a:pPr algn="l">
              <a:lnSpc>
                <a:spcPts val="7474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3162300"/>
            <a:ext cx="10833344" cy="1124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99"/>
              </a:lnSpc>
            </a:pPr>
            <a:r>
              <a:rPr lang="en-US" sz="7899" b="true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IT22069504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227014" y="465931"/>
            <a:ext cx="4515266" cy="4677569"/>
            <a:chOff x="0" y="0"/>
            <a:chExt cx="899672" cy="9320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99672" cy="932011"/>
            </a:xfrm>
            <a:custGeom>
              <a:avLst/>
              <a:gdLst/>
              <a:ahLst/>
              <a:cxnLst/>
              <a:rect r="r" b="b" t="t" l="l"/>
              <a:pathLst>
                <a:path h="932011" w="899672">
                  <a:moveTo>
                    <a:pt x="449836" y="0"/>
                  </a:moveTo>
                  <a:cubicBezTo>
                    <a:pt x="201398" y="0"/>
                    <a:pt x="0" y="208638"/>
                    <a:pt x="0" y="466005"/>
                  </a:cubicBezTo>
                  <a:cubicBezTo>
                    <a:pt x="0" y="723373"/>
                    <a:pt x="201398" y="932011"/>
                    <a:pt x="449836" y="932011"/>
                  </a:cubicBezTo>
                  <a:cubicBezTo>
                    <a:pt x="698273" y="932011"/>
                    <a:pt x="899672" y="723373"/>
                    <a:pt x="899672" y="466005"/>
                  </a:cubicBezTo>
                  <a:cubicBezTo>
                    <a:pt x="899672" y="208638"/>
                    <a:pt x="698273" y="0"/>
                    <a:pt x="44983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7845" r="0" b="-7845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145" y="403225"/>
            <a:ext cx="18191711" cy="1239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b="true" sz="4700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RELATIVE HUMIDITY &amp; QNH STA</a:t>
            </a:r>
            <a:r>
              <a:rPr lang="en-US" b="true" sz="4700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BILITY PREDICTION MODEL FOR AVIATION SAFETY-SECOND INTER MONSOON PERIOD.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630883" y="9624668"/>
            <a:ext cx="22656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IT22069504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76418" y="9615143"/>
            <a:ext cx="355032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Jayathilaka P.K.V.K.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84860" y="9606391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54394" y="1596356"/>
            <a:ext cx="13231888" cy="710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38"/>
              </a:lnSpc>
              <a:spcBef>
                <a:spcPct val="0"/>
              </a:spcBef>
            </a:pPr>
            <a:r>
              <a:rPr lang="en-US" b="true" sz="3955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 Addresses the Sub-Problem / Prototype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0054" y="5461000"/>
            <a:ext cx="4572636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Requirements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7278" y="6319879"/>
            <a:ext cx="8583061" cy="392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Accurate RH and QNH prediction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Real-time 3-Hour Predictions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Safer take-off operations at BIA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Better local weather forecasting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Improved decision-making for pilots and airport authorities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977117" y="6329404"/>
            <a:ext cx="8946959" cy="29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916" indent="-265458" lvl="1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45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Compared R</a:t>
            </a:r>
            <a:r>
              <a:rPr lang="en-US" sz="245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andom Forest, XGBoost, and LightGBM</a:t>
            </a:r>
          </a:p>
          <a:p>
            <a:pPr algn="l" marL="530916" indent="-265458" lvl="1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45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45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eature Engineering to create a custom Stability Index. By calculating the ratio between humidity and pressure</a:t>
            </a:r>
          </a:p>
          <a:p>
            <a:pPr algn="l" marL="530916" indent="-265458" lvl="1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45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Applied automated data cleaning and preprocessing</a:t>
            </a:r>
          </a:p>
          <a:p>
            <a:pPr algn="l" marL="530916" indent="-265458" lvl="1">
              <a:lnSpc>
                <a:spcPts val="3442"/>
              </a:lnSpc>
              <a:spcBef>
                <a:spcPct val="0"/>
              </a:spcBef>
              <a:buFont typeface="Arial"/>
              <a:buChar char="•"/>
            </a:pPr>
            <a:r>
              <a:rPr lang="en-US" sz="245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</a:t>
            </a:r>
            <a:r>
              <a:rPr lang="en-US" sz="2459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roved prediction accuracy using AI techniques</a:t>
            </a:r>
          </a:p>
          <a:p>
            <a:pPr algn="just">
              <a:lnSpc>
                <a:spcPts val="3442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3442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9206430" y="5556250"/>
            <a:ext cx="6804461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Design Excellence / Contribution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5613" y="2458958"/>
            <a:ext cx="3125034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Sub 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16965" y="2365641"/>
            <a:ext cx="2663034" cy="560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  <a:spcBef>
                <a:spcPct val="0"/>
              </a:spcBef>
            </a:pPr>
            <a:r>
              <a:rPr lang="en-US" b="true" sz="3147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Solutions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3975" y="3253887"/>
            <a:ext cx="7390924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Relative Humidity and QNH changes during the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Second Inter-Monsoon period 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are difficult to predict accurately at BIA airport.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47013" y="3022600"/>
            <a:ext cx="10402372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AI models to predict QNH and RH conditions.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Analyzes METAR weather data to identify rapid weather changes.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Helps pilots and  make safer take-off decisions.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early warnings for low visibility conditions.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Improves local airport weather prediction accuracy.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41240" y="8132169"/>
            <a:ext cx="2413293" cy="482865"/>
          </a:xfrm>
          <a:custGeom>
            <a:avLst/>
            <a:gdLst/>
            <a:ahLst/>
            <a:cxnLst/>
            <a:rect r="r" b="b" t="t" l="l"/>
            <a:pathLst>
              <a:path h="482865" w="2413293">
                <a:moveTo>
                  <a:pt x="0" y="0"/>
                </a:moveTo>
                <a:lnTo>
                  <a:pt x="2413293" y="0"/>
                </a:lnTo>
                <a:lnTo>
                  <a:pt x="2413293" y="482864"/>
                </a:lnTo>
                <a:lnTo>
                  <a:pt x="0" y="482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221" t="-35367" r="-45603" b="-53050"/>
            </a:stretch>
          </a:blipFill>
        </p:spPr>
      </p:sp>
      <p:graphicFrame>
        <p:nvGraphicFramePr>
          <p:cNvPr name="Object 4" id="4"/>
          <p:cNvGraphicFramePr/>
          <p:nvPr/>
        </p:nvGraphicFramePr>
        <p:xfrm>
          <a:off x="9912545" y="5448300"/>
          <a:ext cx="11557385" cy="6968765"/>
        </p:xfrm>
        <a:graphic>
          <a:graphicData uri="http://schemas.openxmlformats.org/presentationml/2006/ole">
            <p:oleObj imgW="13868400" imgH="92710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1112831" y="9313904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66903" y="9663927"/>
            <a:ext cx="211538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8745" y="135776"/>
            <a:ext cx="15600555" cy="188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6"/>
              </a:lnSpc>
            </a:pPr>
            <a:r>
              <a:rPr lang="en-US" b="true" sz="4183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REL</a:t>
            </a:r>
            <a:r>
              <a:rPr lang="en-US" b="true" sz="4183" i="true">
                <a:solidFill>
                  <a:srgbClr val="FF3131"/>
                </a:solidFill>
                <a:latin typeface="Lora Bold Italics"/>
                <a:ea typeface="Lora Bold Italics"/>
                <a:cs typeface="Lora Bold Italics"/>
                <a:sym typeface="Lora Bold Italics"/>
              </a:rPr>
              <a:t>ATIVE HUMIDITY &amp; QNH STABILITY PREDICTION MODEL FOR AVIATION SAFETY-SECOND INTER MONSOON PERIOD.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50054" y="1931246"/>
            <a:ext cx="9673423" cy="717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User Feedback on Prototype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2697929"/>
            <a:ext cx="15448747" cy="28882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0075" indent="-355038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sz="32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Users found the prediction dashboard easy to understand</a:t>
            </a:r>
          </a:p>
          <a:p>
            <a:pPr algn="just" marL="710075" indent="-355038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sz="32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Forecast outputs were useful for aviation weather monitoring</a:t>
            </a:r>
          </a:p>
          <a:p>
            <a:pPr algn="just" marL="710075" indent="-355038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sz="32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improved visibility of weather trend analysis</a:t>
            </a:r>
          </a:p>
          <a:p>
            <a:pPr algn="just" marL="710075" indent="-355038" lvl="1">
              <a:lnSpc>
                <a:spcPts val="4604"/>
              </a:lnSpc>
              <a:spcBef>
                <a:spcPct val="0"/>
              </a:spcBef>
              <a:buFont typeface="Arial"/>
              <a:buChar char="•"/>
            </a:pPr>
            <a:r>
              <a:rPr lang="en-US" sz="3288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Prototype demonstrated practical support for forecast verification</a:t>
            </a:r>
          </a:p>
          <a:p>
            <a:pPr algn="just" marL="0" indent="0" lvl="0">
              <a:lnSpc>
                <a:spcPts val="4604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650054" y="5334000"/>
            <a:ext cx="8140691" cy="142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161C58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Technologies &amp; AI Models Used</a:t>
            </a:r>
          </a:p>
          <a:p>
            <a:pPr algn="l">
              <a:lnSpc>
                <a:spcPts val="559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42875" y="6157691"/>
            <a:ext cx="4272103" cy="3356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yt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on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ik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-L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earn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orF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/K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eras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est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LSTM</a:t>
            </a:r>
          </a:p>
          <a:p>
            <a:pPr algn="just" marL="588056" indent="-294028" lvl="1">
              <a:lnSpc>
                <a:spcPts val="3813"/>
              </a:lnSpc>
              <a:spcBef>
                <a:spcPct val="0"/>
              </a:spcBef>
              <a:buFont typeface="Arial"/>
              <a:buChar char="•"/>
            </a:pP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 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&amp;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72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NumPy</a:t>
            </a:r>
          </a:p>
          <a:p>
            <a:pPr algn="just" marL="0" indent="0" lvl="0">
              <a:lnSpc>
                <a:spcPts val="381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543916" y="9663927"/>
            <a:ext cx="226564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IT22069504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363067" y="9663927"/>
            <a:ext cx="355032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Jayathilaka P.K.V.K.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6870" y="951168"/>
            <a:ext cx="10581937" cy="638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9021" indent="-404511" lvl="1">
              <a:lnSpc>
                <a:spcPts val="5246"/>
              </a:lnSpc>
              <a:buFont typeface="Arial"/>
              <a:buChar char="•"/>
            </a:pPr>
            <a:r>
              <a:rPr lang="en-US" sz="3747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epicflightacademy.com/metar/"/>
              </a:rPr>
              <a:t>https://epicflightacademy.com/metar/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66870" y="1864835"/>
            <a:ext cx="14987826" cy="65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376" indent="-399188" lvl="1">
              <a:lnSpc>
                <a:spcPts val="5177"/>
              </a:lnSpc>
              <a:buFont typeface="Arial"/>
              <a:buChar char="•"/>
            </a:pPr>
            <a:r>
              <a:rPr lang="en-US" sz="369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3" tooltip="https://skybrary.aero/articles/meteorological-aerodrome-report-metar"/>
              </a:rPr>
              <a:t>https://skybrary.aero/articles/meteorological-aerodrome-report-metar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6870" y="2780157"/>
            <a:ext cx="5932357" cy="66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6437" indent="-403218" lvl="1">
              <a:lnSpc>
                <a:spcPts val="5229"/>
              </a:lnSpc>
              <a:buFont typeface="Arial"/>
              <a:buChar char="•"/>
            </a:pPr>
            <a:r>
              <a:rPr lang="en-US" sz="3735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4" tooltip="https://meteo.gov.lk"/>
              </a:rPr>
              <a:t>https://meteo.gov.lk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66870" y="3742557"/>
            <a:ext cx="17800978" cy="3336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3548" indent="-356774" lvl="1">
              <a:lnSpc>
                <a:spcPts val="4626"/>
              </a:lnSpc>
              <a:buFont typeface="Arial"/>
              <a:buChar char="•"/>
            </a:pPr>
            <a:r>
              <a:rPr lang="en-US" sz="33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Federal Aviation Administration (2023). Pilot’s Handbook of Aeronautical Knowledge (FAA-H-8083-25C). Chapter 11: Aircraft Performance. U.S. Department of Transportation.</a:t>
            </a:r>
          </a:p>
          <a:p>
            <a:pPr algn="l" marL="691959" indent="-345979" lvl="1">
              <a:lnSpc>
                <a:spcPts val="4486"/>
              </a:lnSpc>
              <a:buFont typeface="Arial"/>
              <a:buChar char="•"/>
            </a:pPr>
            <a:r>
              <a:rPr lang="en-US" sz="32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Focus: Mathematical derivation of crosswinds and trigonometric applications.</a:t>
            </a:r>
          </a:p>
          <a:p>
            <a:pPr algn="l">
              <a:lnSpc>
                <a:spcPts val="4766"/>
              </a:lnSpc>
            </a:pPr>
            <a:r>
              <a:rPr lang="en-US" b="true" sz="340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     </a:t>
            </a:r>
            <a:r>
              <a:rPr lang="en-US" sz="340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Link: https://www.faa.gov/sites/faa.gov/files/13_phak_ch11.pdf</a:t>
            </a:r>
          </a:p>
          <a:p>
            <a:pPr algn="l">
              <a:lnSpc>
                <a:spcPts val="3507"/>
              </a:lnSpc>
            </a:p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27899" y="299700"/>
            <a:ext cx="17487199" cy="208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Hyper-Local </a:t>
            </a:r>
          </a:p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Aviation Weather Forecast Verification System for Sri Lankan Monsoon Patterns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61221" y="2388529"/>
            <a:ext cx="6940748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Commercialization &amp; Sustainability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24697" y="3242140"/>
            <a:ext cx="3081486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Customer Persona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7583" y="4032250"/>
            <a:ext cx="8554789" cy="261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Primary: Airport Authorities (e.g., AASL)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&amp; Air Traffic Control (ATC) units.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Secondary: Airline Flight Operations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Departments (Dispatchers).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End-Users: Commercial Pilots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(Decision Support) and Meteorological Forecasters.e.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087477" y="2331700"/>
            <a:ext cx="1936254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Market Size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05264" y="2959101"/>
            <a:ext cx="8754666" cy="2184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Glob</a:t>
            </a: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 smart airport market: ~$25 billion by 2030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High demand in South Asia (Sri Lanka, India, Maldives)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Focus: Airports affected by monsoon weather delays</a:t>
            </a:r>
          </a:p>
          <a:p>
            <a:pPr algn="l" marL="539754" indent="-269877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BIA handles 40,000+ flights per year</a:t>
            </a:r>
          </a:p>
          <a:p>
            <a:pPr algn="l">
              <a:lnSpc>
                <a:spcPts val="35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61236" y="6975820"/>
            <a:ext cx="44084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Unique Selling Point (USP)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3801" y="7693406"/>
            <a:ext cx="9149477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ilt for Sri Lanka’s Main Airport (BIA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real weather physics (pressure, temperature, wind)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 just prediction — understands weather relationships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Human-in-the-loop system for expert verification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507586" y="6771985"/>
            <a:ext cx="3750022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Cost &amp; Reve</a:t>
            </a:r>
            <a:r>
              <a:rPr lang="en-US" b="true" sz="2700">
                <a:solidFill>
                  <a:srgbClr val="161C5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nue Model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13754" y="7613995"/>
            <a:ext cx="8931353" cy="217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Subscr</a:t>
            </a: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iption model for airports (SaaS)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Saves airlines fuel cost ($2,000–$5,000 per avoided delay/diversion)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Premium API for flight planning systems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345" r="-4883" b="-1096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5158933"/>
            <a:ext cx="18288000" cy="3406820"/>
            <a:chOff x="0" y="0"/>
            <a:chExt cx="4816593" cy="89726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897269"/>
            </a:xfrm>
            <a:custGeom>
              <a:avLst/>
              <a:gdLst/>
              <a:ahLst/>
              <a:cxnLst/>
              <a:rect r="r" b="b" t="t" l="l"/>
              <a:pathLst>
                <a:path h="89726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97269"/>
                  </a:lnTo>
                  <a:lnTo>
                    <a:pt x="0" y="897269"/>
                  </a:lnTo>
                  <a:close/>
                </a:path>
              </a:pathLst>
            </a:custGeom>
            <a:gradFill rotWithShape="true">
              <a:gsLst>
                <a:gs pos="0">
                  <a:srgbClr val="FAFAFA">
                    <a:alpha val="0"/>
                  </a:srgbClr>
                </a:gs>
                <a:gs pos="100000">
                  <a:srgbClr val="FAFAFA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9353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2772662"/>
            <a:ext cx="8260393" cy="4799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75"/>
              </a:lnSpc>
            </a:pPr>
            <a:r>
              <a:rPr lang="en-US" sz="1941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0" y="8556228"/>
            <a:ext cx="18288000" cy="1730772"/>
            <a:chOff x="0" y="0"/>
            <a:chExt cx="4816593" cy="4558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455841"/>
            </a:xfrm>
            <a:custGeom>
              <a:avLst/>
              <a:gdLst/>
              <a:ahLst/>
              <a:cxnLst/>
              <a:rect r="r" b="b" t="t" l="l"/>
              <a:pathLst>
                <a:path h="45584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455841"/>
                  </a:lnTo>
                  <a:lnTo>
                    <a:pt x="0" y="455841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816593" cy="4939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187278" cy="3364876"/>
            <a:chOff x="0" y="0"/>
            <a:chExt cx="49324" cy="886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324" cy="886222"/>
            </a:xfrm>
            <a:custGeom>
              <a:avLst/>
              <a:gdLst/>
              <a:ahLst/>
              <a:cxnLst/>
              <a:rect r="r" b="b" t="t" l="l"/>
              <a:pathLst>
                <a:path h="886222" w="49324">
                  <a:moveTo>
                    <a:pt x="0" y="0"/>
                  </a:moveTo>
                  <a:lnTo>
                    <a:pt x="49324" y="0"/>
                  </a:lnTo>
                  <a:lnTo>
                    <a:pt x="49324" y="886222"/>
                  </a:lnTo>
                  <a:lnTo>
                    <a:pt x="0" y="886222"/>
                  </a:lnTo>
                  <a:close/>
                </a:path>
              </a:pathLst>
            </a:custGeom>
            <a:solidFill>
              <a:srgbClr val="FAFAF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9324" cy="924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87278" y="9258300"/>
            <a:ext cx="925554" cy="925554"/>
          </a:xfrm>
          <a:custGeom>
            <a:avLst/>
            <a:gdLst/>
            <a:ahLst/>
            <a:cxnLst/>
            <a:rect r="r" b="b" t="t" l="l"/>
            <a:pathLst>
              <a:path h="925554" w="925554">
                <a:moveTo>
                  <a:pt x="0" y="0"/>
                </a:moveTo>
                <a:lnTo>
                  <a:pt x="925553" y="0"/>
                </a:lnTo>
                <a:lnTo>
                  <a:pt x="925553" y="925554"/>
                </a:lnTo>
                <a:lnTo>
                  <a:pt x="0" y="9255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9257527"/>
            <a:ext cx="3346549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SLIIT</a:t>
            </a:r>
          </a:p>
          <a:p>
            <a:pPr algn="ctr">
              <a:lnSpc>
                <a:spcPts val="3500"/>
              </a:lnSpc>
            </a:pPr>
            <a:r>
              <a:rPr lang="en-US" sz="2500" b="true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Faculty of Computing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66868" y="9654402"/>
            <a:ext cx="239732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b="true" sz="3399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R26-IT-132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351CF19874D54390B54B723E8A2D43" ma:contentTypeVersion="12" ma:contentTypeDescription="Create a new document." ma:contentTypeScope="" ma:versionID="1b463a5cf12690795c70ca22925accb2">
  <xsd:schema xmlns:xsd="http://www.w3.org/2001/XMLSchema" xmlns:xs="http://www.w3.org/2001/XMLSchema" xmlns:p="http://schemas.microsoft.com/office/2006/metadata/properties" xmlns:ns2="5aad1aa7-8ede-435c-b3a7-ac11bacaeb50" xmlns:ns3="db72c12f-87a4-44ab-bbc5-4cc8306b158a" targetNamespace="http://schemas.microsoft.com/office/2006/metadata/properties" ma:root="true" ma:fieldsID="8257c98c4c60cf9cc366d29f7e570d5e" ns2:_="" ns3:_="">
    <xsd:import namespace="5aad1aa7-8ede-435c-b3a7-ac11bacaeb50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ad1aa7-8ede-435c-b3a7-ac11bacae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b72c12f-87a4-44ab-bbc5-4cc8306b158a" xsi:nil="true"/>
    <lcf76f155ced4ddcb4097134ff3c332f xmlns="5aad1aa7-8ede-435c-b3a7-ac11bacaeb5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588B39C-14AE-49B8-9E2B-0BD0A9C16A63}"/>
</file>

<file path=customXml/itemProps2.xml><?xml version="1.0" encoding="utf-8"?>
<ds:datastoreItem xmlns:ds="http://schemas.openxmlformats.org/officeDocument/2006/customXml" ds:itemID="{C5CF2C36-6868-472F-84C1-B9804D353C7A}"/>
</file>

<file path=customXml/itemProps3.xml><?xml version="1.0" encoding="utf-8"?>
<ds:datastoreItem xmlns:ds="http://schemas.openxmlformats.org/officeDocument/2006/customXml" ds:itemID="{3BFA25AE-1063-4280-9B55-AFC0FCE7135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and Its Impact</dc:title>
  <cp:revision>1</cp:revision>
  <dcterms:created xsi:type="dcterms:W3CDTF">2006-08-16T00:00:00Z</dcterms:created>
  <dcterms:modified xsi:type="dcterms:W3CDTF">2011-08-01T06:04:30Z</dcterms:modified>
  <dc:identifier>DAHI6avG_78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0x0101003C351CF19874D54390B54B723E8A2D43</vt:lpwstr>
  </property>
</Properties>
</file>