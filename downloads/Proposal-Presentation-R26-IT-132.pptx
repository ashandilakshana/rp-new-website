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91" r:id="rId3"/>
    <p:sldId id="257" r:id="rId4"/>
    <p:sldId id="258" r:id="rId5"/>
    <p:sldId id="259" r:id="rId6"/>
    <p:sldId id="260" r:id="rId7"/>
    <p:sldId id="261" r:id="rId8"/>
    <p:sldId id="292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90" r:id="rId37"/>
    <p:sldId id="289" r:id="rId38"/>
  </p:sldIdLst>
  <p:sldSz cx="18288000" cy="10287000"/>
  <p:notesSz cx="6858000" cy="9144000"/>
  <p:embeddedFontLst>
    <p:embeddedFont>
      <p:font typeface="Canva Sans Bold" panose="020B0803030501040103" pitchFamily="34" charset="0"/>
      <p:regular r:id="rId39"/>
      <p:bold r:id="rId40"/>
    </p:embeddedFont>
    <p:embeddedFont>
      <p:font typeface="Lato" panose="020F0502020204030203" pitchFamily="34" charset="0"/>
      <p:regular r:id="rId41"/>
      <p:bold r:id="rId42"/>
      <p:italic r:id="rId43"/>
      <p:boldItalic r:id="rId44"/>
    </p:embeddedFont>
    <p:embeddedFont>
      <p:font typeface="Lato Bold" panose="020F0502020204030203" pitchFamily="34" charset="0"/>
      <p:regular r:id="rId45"/>
      <p:bold r:id="rId46"/>
    </p:embeddedFont>
    <p:embeddedFont>
      <p:font typeface="Lora Bold Italics" pitchFamily="2" charset="77"/>
      <p:regular r:id="rId47"/>
      <p:bold r:id="rId48"/>
      <p:italic r:id="rId49"/>
      <p:boldItalic r:id="rId50"/>
    </p:embeddedFont>
    <p:embeddedFont>
      <p:font typeface="Poppins" pitchFamily="2" charset="77"/>
      <p:regular r:id="rId51"/>
      <p:bold r:id="rId52"/>
      <p:italic r:id="rId53"/>
      <p:boldItalic r:id="rId54"/>
    </p:embeddedFont>
    <p:embeddedFont>
      <p:font typeface="Poppins Bold" pitchFamily="2" charset="77"/>
      <p:regular r:id="rId55"/>
      <p:bold r:id="rId56"/>
    </p:embeddedFont>
    <p:embeddedFont>
      <p:font typeface="Poppins Light" panose="020B0604020202020204" pitchFamily="34" charset="0"/>
      <p:regular r:id="rId57"/>
      <p:italic r:id="rId58"/>
    </p:embeddedFont>
    <p:embeddedFont>
      <p:font typeface="Poppins Semi-Bold" pitchFamily="2" charset="77"/>
      <p:regular r:id="rId59"/>
      <p:bold r:id="rId60"/>
    </p:embeddedFont>
    <p:embeddedFont>
      <p:font typeface="Poppins Ultra-Bold" pitchFamily="2" charset="77"/>
      <p:regular r:id="rId61"/>
      <p:bold r:id="rId6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82" autoAdjust="0"/>
    <p:restoredTop sz="94643" autoAdjust="0"/>
  </p:normalViewPr>
  <p:slideViewPr>
    <p:cSldViewPr>
      <p:cViewPr varScale="1">
        <p:scale>
          <a:sx n="70" d="100"/>
          <a:sy n="70" d="100"/>
        </p:scale>
        <p:origin x="48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font" Target="fonts/font17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font" Target="fonts/font20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2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font" Target="fonts/font18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8.fntdata"/><Relationship Id="rId59" Type="http://schemas.openxmlformats.org/officeDocument/2006/relationships/font" Target="fonts/font21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62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openxmlformats.org/officeDocument/2006/relationships/font" Target="fonts/font1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60" Type="http://schemas.openxmlformats.org/officeDocument/2006/relationships/font" Target="fonts/font22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08594" y="1028700"/>
            <a:ext cx="1884365" cy="2337197"/>
          </a:xfrm>
          <a:custGeom>
            <a:avLst/>
            <a:gdLst/>
            <a:ahLst/>
            <a:cxnLst/>
            <a:rect l="l" t="t" r="r" b="b"/>
            <a:pathLst>
              <a:path w="1884365" h="2337197">
                <a:moveTo>
                  <a:pt x="0" y="0"/>
                </a:moveTo>
                <a:lnTo>
                  <a:pt x="1884365" y="0"/>
                </a:lnTo>
                <a:lnTo>
                  <a:pt x="1884365" y="2337197"/>
                </a:lnTo>
                <a:lnTo>
                  <a:pt x="0" y="2337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23936" y="266418"/>
            <a:ext cx="18158026" cy="9754165"/>
          </a:xfrm>
          <a:custGeom>
            <a:avLst/>
            <a:gdLst/>
            <a:ahLst/>
            <a:cxnLst/>
            <a:rect l="l" t="t" r="r" b="b"/>
            <a:pathLst>
              <a:path w="18158026" h="9754165">
                <a:moveTo>
                  <a:pt x="0" y="0"/>
                </a:moveTo>
                <a:lnTo>
                  <a:pt x="18158027" y="0"/>
                </a:lnTo>
                <a:lnTo>
                  <a:pt x="18158027" y="9754164"/>
                </a:lnTo>
                <a:lnTo>
                  <a:pt x="0" y="9754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727032" y="1616540"/>
            <a:ext cx="4139563" cy="4139563"/>
          </a:xfrm>
          <a:custGeom>
            <a:avLst/>
            <a:gdLst/>
            <a:ahLst/>
            <a:cxnLst/>
            <a:rect l="l" t="t" r="r" b="b"/>
            <a:pathLst>
              <a:path w="4139563" h="4139563">
                <a:moveTo>
                  <a:pt x="0" y="0"/>
                </a:moveTo>
                <a:lnTo>
                  <a:pt x="4139564" y="0"/>
                </a:lnTo>
                <a:lnTo>
                  <a:pt x="4139564" y="4139563"/>
                </a:lnTo>
                <a:lnTo>
                  <a:pt x="0" y="41395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60629" y="-271215"/>
            <a:ext cx="4139563" cy="4139563"/>
          </a:xfrm>
          <a:custGeom>
            <a:avLst/>
            <a:gdLst/>
            <a:ahLst/>
            <a:cxnLst/>
            <a:rect l="l" t="t" r="r" b="b"/>
            <a:pathLst>
              <a:path w="4139563" h="4139563">
                <a:moveTo>
                  <a:pt x="0" y="0"/>
                </a:moveTo>
                <a:lnTo>
                  <a:pt x="4139563" y="0"/>
                </a:lnTo>
                <a:lnTo>
                  <a:pt x="4139563" y="4139563"/>
                </a:lnTo>
                <a:lnTo>
                  <a:pt x="0" y="41395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884919" y="242159"/>
            <a:ext cx="2748761" cy="2748761"/>
          </a:xfrm>
          <a:custGeom>
            <a:avLst/>
            <a:gdLst/>
            <a:ahLst/>
            <a:cxnLst/>
            <a:rect l="l" t="t" r="r" b="b"/>
            <a:pathLst>
              <a:path w="2748761" h="2748761">
                <a:moveTo>
                  <a:pt x="0" y="0"/>
                </a:moveTo>
                <a:lnTo>
                  <a:pt x="2748762" y="0"/>
                </a:lnTo>
                <a:lnTo>
                  <a:pt x="2748762" y="2748761"/>
                </a:lnTo>
                <a:lnTo>
                  <a:pt x="0" y="27487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470405" y="-1104618"/>
            <a:ext cx="4277276" cy="4308611"/>
          </a:xfrm>
          <a:custGeom>
            <a:avLst/>
            <a:gdLst/>
            <a:ahLst/>
            <a:cxnLst/>
            <a:rect l="l" t="t" r="r" b="b"/>
            <a:pathLst>
              <a:path w="4277276" h="4308611">
                <a:moveTo>
                  <a:pt x="0" y="0"/>
                </a:moveTo>
                <a:lnTo>
                  <a:pt x="4277276" y="0"/>
                </a:lnTo>
                <a:lnTo>
                  <a:pt x="4277276" y="4308611"/>
                </a:lnTo>
                <a:lnTo>
                  <a:pt x="0" y="43086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552154" y="7360997"/>
            <a:ext cx="2840805" cy="1057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5"/>
              </a:lnSpc>
            </a:pPr>
            <a:r>
              <a:rPr lang="en-US" sz="7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30°C</a:t>
            </a:r>
          </a:p>
        </p:txBody>
      </p:sp>
      <p:sp>
        <p:nvSpPr>
          <p:cNvPr id="9" name="Freeform 9"/>
          <p:cNvSpPr/>
          <p:nvPr/>
        </p:nvSpPr>
        <p:spPr>
          <a:xfrm>
            <a:off x="15768732" y="820997"/>
            <a:ext cx="3664273" cy="1955139"/>
          </a:xfrm>
          <a:custGeom>
            <a:avLst/>
            <a:gdLst/>
            <a:ahLst/>
            <a:cxnLst/>
            <a:rect l="l" t="t" r="r" b="b"/>
            <a:pathLst>
              <a:path w="3664273" h="1955139">
                <a:moveTo>
                  <a:pt x="0" y="0"/>
                </a:moveTo>
                <a:lnTo>
                  <a:pt x="3664272" y="0"/>
                </a:lnTo>
                <a:lnTo>
                  <a:pt x="3664272" y="1955139"/>
                </a:lnTo>
                <a:lnTo>
                  <a:pt x="0" y="19551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85000"/>
            </a:blip>
            <a:stretch>
              <a:fillRect t="-44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2356623" y="8428429"/>
            <a:ext cx="7208011" cy="265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0"/>
              </a:lnSpc>
            </a:pPr>
            <a:r>
              <a:rPr lang="en-US" sz="1810" spc="905">
                <a:solidFill>
                  <a:srgbClr val="584344"/>
                </a:solidFill>
                <a:latin typeface="Poppins Light"/>
                <a:ea typeface="Poppins Light"/>
                <a:cs typeface="Poppins Light"/>
                <a:sym typeface="Poppins Light"/>
              </a:rPr>
              <a:t>MAX. 31°C - MIN.15°C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238276" y="9339071"/>
            <a:ext cx="5060912" cy="903810"/>
            <a:chOff x="0" y="0"/>
            <a:chExt cx="6747883" cy="1205080"/>
          </a:xfrm>
        </p:grpSpPr>
        <p:sp>
          <p:nvSpPr>
            <p:cNvPr id="12" name="Freeform 12"/>
            <p:cNvSpPr/>
            <p:nvPr/>
          </p:nvSpPr>
          <p:spPr>
            <a:xfrm>
              <a:off x="475949" y="0"/>
              <a:ext cx="622622" cy="805746"/>
            </a:xfrm>
            <a:custGeom>
              <a:avLst/>
              <a:gdLst/>
              <a:ahLst/>
              <a:cxnLst/>
              <a:rect l="l" t="t" r="r" b="b"/>
              <a:pathLst>
                <a:path w="622622" h="805746">
                  <a:moveTo>
                    <a:pt x="0" y="0"/>
                  </a:moveTo>
                  <a:lnTo>
                    <a:pt x="622622" y="0"/>
                  </a:lnTo>
                  <a:lnTo>
                    <a:pt x="622622" y="805746"/>
                  </a:lnTo>
                  <a:lnTo>
                    <a:pt x="0" y="80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764243" y="84569"/>
              <a:ext cx="1062208" cy="388366"/>
            </a:xfrm>
            <a:custGeom>
              <a:avLst/>
              <a:gdLst/>
              <a:ahLst/>
              <a:cxnLst/>
              <a:rect l="l" t="t" r="r" b="b"/>
              <a:pathLst>
                <a:path w="1062208" h="388366">
                  <a:moveTo>
                    <a:pt x="0" y="0"/>
                  </a:moveTo>
                  <a:lnTo>
                    <a:pt x="1062208" y="0"/>
                  </a:lnTo>
                  <a:lnTo>
                    <a:pt x="1062208" y="388367"/>
                  </a:lnTo>
                  <a:lnTo>
                    <a:pt x="0" y="388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r="-20" b="-6562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 flipV="1">
              <a:off x="1912124" y="433609"/>
              <a:ext cx="766447" cy="303362"/>
            </a:xfrm>
            <a:custGeom>
              <a:avLst/>
              <a:gdLst/>
              <a:ahLst/>
              <a:cxnLst/>
              <a:rect l="l" t="t" r="r" b="b"/>
              <a:pathLst>
                <a:path w="766447" h="303362">
                  <a:moveTo>
                    <a:pt x="0" y="303362"/>
                  </a:moveTo>
                  <a:lnTo>
                    <a:pt x="766446" y="303362"/>
                  </a:lnTo>
                  <a:lnTo>
                    <a:pt x="766446" y="0"/>
                  </a:lnTo>
                  <a:lnTo>
                    <a:pt x="0" y="0"/>
                  </a:lnTo>
                  <a:lnTo>
                    <a:pt x="0" y="303362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r="-38616" b="-11203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3830645" y="0"/>
              <a:ext cx="805746" cy="805746"/>
            </a:xfrm>
            <a:custGeom>
              <a:avLst/>
              <a:gdLst/>
              <a:ahLst/>
              <a:cxnLst/>
              <a:rect l="l" t="t" r="r" b="b"/>
              <a:pathLst>
                <a:path w="805746" h="805746">
                  <a:moveTo>
                    <a:pt x="0" y="0"/>
                  </a:moveTo>
                  <a:lnTo>
                    <a:pt x="805747" y="0"/>
                  </a:lnTo>
                  <a:lnTo>
                    <a:pt x="805747" y="805746"/>
                  </a:lnTo>
                  <a:lnTo>
                    <a:pt x="0" y="80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5459831" y="134216"/>
              <a:ext cx="923120" cy="537315"/>
            </a:xfrm>
            <a:custGeom>
              <a:avLst/>
              <a:gdLst/>
              <a:ahLst/>
              <a:cxnLst/>
              <a:rect l="l" t="t" r="r" b="b"/>
              <a:pathLst>
                <a:path w="923120" h="537315">
                  <a:moveTo>
                    <a:pt x="0" y="0"/>
                  </a:moveTo>
                  <a:lnTo>
                    <a:pt x="923119" y="0"/>
                  </a:lnTo>
                  <a:lnTo>
                    <a:pt x="923119" y="537315"/>
                  </a:lnTo>
                  <a:lnTo>
                    <a:pt x="0" y="537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08573"/>
              <a:ext cx="1574520" cy="296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83"/>
                </a:lnSpc>
              </a:pPr>
              <a:r>
                <a:rPr lang="en-US" sz="1583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20%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78743" y="908573"/>
              <a:ext cx="1574157" cy="296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83"/>
                </a:lnSpc>
              </a:pPr>
              <a:r>
                <a:rPr lang="en-US" sz="1583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15 KM/H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46440" y="908573"/>
              <a:ext cx="1574157" cy="296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83"/>
                </a:lnSpc>
              </a:pPr>
              <a:r>
                <a:rPr lang="en-US" sz="1583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WEST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73725" y="908573"/>
              <a:ext cx="1574157" cy="296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83"/>
                </a:lnSpc>
              </a:pPr>
              <a:r>
                <a:rPr lang="en-US" sz="1583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1023.0 MB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856250" y="8872359"/>
            <a:ext cx="4208758" cy="18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10"/>
              </a:lnSpc>
              <a:spcBef>
                <a:spcPct val="0"/>
              </a:spcBef>
            </a:pPr>
            <a:r>
              <a:rPr lang="en-US" sz="1310" u="none" spc="65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MONDAY, MARCH 16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5488" y="2433539"/>
            <a:ext cx="17454923" cy="4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45"/>
              </a:lnSpc>
            </a:pPr>
            <a:r>
              <a:rPr lang="en-US" sz="6703" b="1" dirty="0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AI-BASED HYPER-LOCAL </a:t>
            </a:r>
          </a:p>
          <a:p>
            <a:pPr algn="ctr">
              <a:lnSpc>
                <a:spcPts val="8245"/>
              </a:lnSpc>
            </a:pPr>
            <a:r>
              <a:rPr lang="en-US" sz="6703" b="1" dirty="0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AVIATION WEATHER FORECAST VERIFICATION SYSTEM FOR SRI LANKAN MONSOON PATTERNS</a:t>
            </a:r>
          </a:p>
        </p:txBody>
      </p:sp>
      <p:sp>
        <p:nvSpPr>
          <p:cNvPr id="23" name="Freeform 23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028700" y="9257527"/>
            <a:ext cx="3873849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55695" y="9603464"/>
            <a:ext cx="2397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6A709AB3-7D48-CEE7-FFB8-6411206FB6E5}"/>
              </a:ext>
            </a:extLst>
          </p:cNvPr>
          <p:cNvSpPr txBox="1"/>
          <p:nvPr/>
        </p:nvSpPr>
        <p:spPr>
          <a:xfrm>
            <a:off x="277165" y="28575"/>
            <a:ext cx="18010836" cy="1564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 dirty="0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AI-BASED HYPER-LOCAL </a:t>
            </a:r>
          </a:p>
          <a:p>
            <a:pPr algn="l">
              <a:lnSpc>
                <a:spcPts val="4000"/>
              </a:lnSpc>
            </a:pPr>
            <a:r>
              <a:rPr lang="en-US" sz="4000" b="1" dirty="0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AVIATION WEATHER FORECAST VERIFICATION SYSTEM </a:t>
            </a:r>
            <a:r>
              <a:rPr lang="en-US" sz="4000" b="1" dirty="0">
                <a:solidFill>
                  <a:srgbClr val="1800A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FOR SRI LANKAN MONSOON PATTERNS</a:t>
            </a:r>
          </a:p>
        </p:txBody>
      </p:sp>
    </p:spTree>
    <p:extLst>
      <p:ext uri="{BB962C8B-B14F-4D97-AF65-F5344CB8AC3E}">
        <p14:creationId xmlns:p14="http://schemas.microsoft.com/office/powerpoint/2010/main" val="221336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58175" y="1084911"/>
            <a:ext cx="2001125" cy="434632"/>
            <a:chOff x="0" y="0"/>
            <a:chExt cx="527045" cy="1144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7045" cy="114471"/>
            </a:xfrm>
            <a:custGeom>
              <a:avLst/>
              <a:gdLst/>
              <a:ahLst/>
              <a:cxnLst/>
              <a:rect l="l" t="t" r="r" b="b"/>
              <a:pathLst>
                <a:path w="527045" h="114471">
                  <a:moveTo>
                    <a:pt x="57236" y="0"/>
                  </a:moveTo>
                  <a:lnTo>
                    <a:pt x="469810" y="0"/>
                  </a:lnTo>
                  <a:cubicBezTo>
                    <a:pt x="484990" y="0"/>
                    <a:pt x="499548" y="6030"/>
                    <a:pt x="510281" y="16764"/>
                  </a:cubicBezTo>
                  <a:cubicBezTo>
                    <a:pt x="521015" y="27498"/>
                    <a:pt x="527045" y="42056"/>
                    <a:pt x="527045" y="57236"/>
                  </a:cubicBezTo>
                  <a:lnTo>
                    <a:pt x="527045" y="57236"/>
                  </a:lnTo>
                  <a:cubicBezTo>
                    <a:pt x="527045" y="72415"/>
                    <a:pt x="521015" y="86973"/>
                    <a:pt x="510281" y="97707"/>
                  </a:cubicBezTo>
                  <a:cubicBezTo>
                    <a:pt x="499548" y="108441"/>
                    <a:pt x="484990" y="114471"/>
                    <a:pt x="469810" y="114471"/>
                  </a:cubicBezTo>
                  <a:lnTo>
                    <a:pt x="57236" y="114471"/>
                  </a:lnTo>
                  <a:cubicBezTo>
                    <a:pt x="42056" y="114471"/>
                    <a:pt x="27498" y="108441"/>
                    <a:pt x="16764" y="97707"/>
                  </a:cubicBezTo>
                  <a:cubicBezTo>
                    <a:pt x="6030" y="86973"/>
                    <a:pt x="0" y="72415"/>
                    <a:pt x="0" y="57236"/>
                  </a:cubicBezTo>
                  <a:lnTo>
                    <a:pt x="0" y="57236"/>
                  </a:lnTo>
                  <a:cubicBezTo>
                    <a:pt x="0" y="42056"/>
                    <a:pt x="6030" y="27498"/>
                    <a:pt x="16764" y="16764"/>
                  </a:cubicBezTo>
                  <a:cubicBezTo>
                    <a:pt x="27498" y="6030"/>
                    <a:pt x="42056" y="0"/>
                    <a:pt x="57236" y="0"/>
                  </a:cubicBezTo>
                  <a:close/>
                </a:path>
              </a:pathLst>
            </a:custGeom>
            <a:solidFill>
              <a:srgbClr val="1B95F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27045" cy="152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70015" y="-1699599"/>
            <a:ext cx="8637196" cy="5775020"/>
            <a:chOff x="0" y="0"/>
            <a:chExt cx="1338128" cy="8947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8128" cy="894702"/>
            </a:xfrm>
            <a:custGeom>
              <a:avLst/>
              <a:gdLst/>
              <a:ahLst/>
              <a:cxnLst/>
              <a:rect l="l" t="t" r="r" b="b"/>
              <a:pathLst>
                <a:path w="1338128" h="894702">
                  <a:moveTo>
                    <a:pt x="67226" y="0"/>
                  </a:moveTo>
                  <a:lnTo>
                    <a:pt x="1270902" y="0"/>
                  </a:lnTo>
                  <a:cubicBezTo>
                    <a:pt x="1288731" y="0"/>
                    <a:pt x="1305830" y="7083"/>
                    <a:pt x="1318438" y="19690"/>
                  </a:cubicBezTo>
                  <a:cubicBezTo>
                    <a:pt x="1331045" y="32297"/>
                    <a:pt x="1338128" y="49397"/>
                    <a:pt x="1338128" y="67226"/>
                  </a:cubicBezTo>
                  <a:lnTo>
                    <a:pt x="1338128" y="827476"/>
                  </a:lnTo>
                  <a:cubicBezTo>
                    <a:pt x="1338128" y="845305"/>
                    <a:pt x="1331045" y="862404"/>
                    <a:pt x="1318438" y="875012"/>
                  </a:cubicBezTo>
                  <a:cubicBezTo>
                    <a:pt x="1305830" y="887619"/>
                    <a:pt x="1288731" y="894702"/>
                    <a:pt x="1270902" y="894702"/>
                  </a:cubicBezTo>
                  <a:lnTo>
                    <a:pt x="67226" y="894702"/>
                  </a:lnTo>
                  <a:cubicBezTo>
                    <a:pt x="49397" y="894702"/>
                    <a:pt x="32297" y="887619"/>
                    <a:pt x="19690" y="875012"/>
                  </a:cubicBezTo>
                  <a:cubicBezTo>
                    <a:pt x="7083" y="862404"/>
                    <a:pt x="0" y="845305"/>
                    <a:pt x="0" y="827476"/>
                  </a:cubicBezTo>
                  <a:lnTo>
                    <a:pt x="0" y="67226"/>
                  </a:lnTo>
                  <a:cubicBezTo>
                    <a:pt x="0" y="49397"/>
                    <a:pt x="7083" y="32297"/>
                    <a:pt x="19690" y="19690"/>
                  </a:cubicBezTo>
                  <a:cubicBezTo>
                    <a:pt x="32297" y="7083"/>
                    <a:pt x="49397" y="0"/>
                    <a:pt x="67226" y="0"/>
                  </a:cubicBezTo>
                  <a:close/>
                </a:path>
              </a:pathLst>
            </a:custGeom>
            <a:blipFill>
              <a:blip r:embed="rId2"/>
              <a:stretch>
                <a:fillRect l="-9494" r="-949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700919" y="9833129"/>
            <a:ext cx="2541464" cy="453871"/>
            <a:chOff x="0" y="0"/>
            <a:chExt cx="3388618" cy="605161"/>
          </a:xfrm>
        </p:grpSpPr>
        <p:sp>
          <p:nvSpPr>
            <p:cNvPr id="8" name="Freeform 8"/>
            <p:cNvSpPr/>
            <p:nvPr/>
          </p:nvSpPr>
          <p:spPr>
            <a:xfrm>
              <a:off x="239010" y="0"/>
              <a:ext cx="312665" cy="404626"/>
            </a:xfrm>
            <a:custGeom>
              <a:avLst/>
              <a:gdLst/>
              <a:ahLst/>
              <a:cxnLst/>
              <a:rect l="l" t="t" r="r" b="b"/>
              <a:pathLst>
                <a:path w="312665" h="404626">
                  <a:moveTo>
                    <a:pt x="0" y="0"/>
                  </a:moveTo>
                  <a:lnTo>
                    <a:pt x="312665" y="0"/>
                  </a:lnTo>
                  <a:lnTo>
                    <a:pt x="312665" y="404626"/>
                  </a:lnTo>
                  <a:lnTo>
                    <a:pt x="0" y="404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885959" y="42469"/>
              <a:ext cx="533414" cy="195028"/>
            </a:xfrm>
            <a:custGeom>
              <a:avLst/>
              <a:gdLst/>
              <a:ahLst/>
              <a:cxnLst/>
              <a:rect l="l" t="t" r="r" b="b"/>
              <a:pathLst>
                <a:path w="533414" h="195028">
                  <a:moveTo>
                    <a:pt x="0" y="0"/>
                  </a:moveTo>
                  <a:lnTo>
                    <a:pt x="533414" y="0"/>
                  </a:lnTo>
                  <a:lnTo>
                    <a:pt x="533414" y="195027"/>
                  </a:lnTo>
                  <a:lnTo>
                    <a:pt x="0" y="195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0" b="-6562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 flipV="1">
              <a:off x="960221" y="217748"/>
              <a:ext cx="384890" cy="152341"/>
            </a:xfrm>
            <a:custGeom>
              <a:avLst/>
              <a:gdLst/>
              <a:ahLst/>
              <a:cxnLst/>
              <a:rect l="l" t="t" r="r" b="b"/>
              <a:pathLst>
                <a:path w="384890" h="152341">
                  <a:moveTo>
                    <a:pt x="0" y="152340"/>
                  </a:moveTo>
                  <a:lnTo>
                    <a:pt x="384890" y="152340"/>
                  </a:lnTo>
                  <a:lnTo>
                    <a:pt x="384890" y="0"/>
                  </a:lnTo>
                  <a:lnTo>
                    <a:pt x="0" y="0"/>
                  </a:lnTo>
                  <a:lnTo>
                    <a:pt x="0" y="15234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38616" b="-11203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923654" y="0"/>
              <a:ext cx="404626" cy="404626"/>
            </a:xfrm>
            <a:custGeom>
              <a:avLst/>
              <a:gdLst/>
              <a:ahLst/>
              <a:cxnLst/>
              <a:rect l="l" t="t" r="r" b="b"/>
              <a:pathLst>
                <a:path w="404626" h="404626">
                  <a:moveTo>
                    <a:pt x="0" y="0"/>
                  </a:moveTo>
                  <a:lnTo>
                    <a:pt x="404626" y="0"/>
                  </a:lnTo>
                  <a:lnTo>
                    <a:pt x="404626" y="404626"/>
                  </a:lnTo>
                  <a:lnTo>
                    <a:pt x="0" y="404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41791" y="67400"/>
              <a:ext cx="463568" cy="269826"/>
            </a:xfrm>
            <a:custGeom>
              <a:avLst/>
              <a:gdLst/>
              <a:ahLst/>
              <a:cxnLst/>
              <a:rect l="l" t="t" r="r" b="b"/>
              <a:pathLst>
                <a:path w="463568" h="269826">
                  <a:moveTo>
                    <a:pt x="0" y="0"/>
                  </a:moveTo>
                  <a:lnTo>
                    <a:pt x="463567" y="0"/>
                  </a:lnTo>
                  <a:lnTo>
                    <a:pt x="463567" y="269826"/>
                  </a:lnTo>
                  <a:lnTo>
                    <a:pt x="0" y="269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456221"/>
              <a:ext cx="790685" cy="148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5"/>
                </a:lnSpc>
              </a:pPr>
              <a:r>
                <a:rPr lang="en-US" sz="795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20%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3023" y="456221"/>
              <a:ext cx="790503" cy="148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5"/>
                </a:lnSpc>
              </a:pPr>
              <a:r>
                <a:rPr lang="en-US" sz="795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15 KM/H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30716" y="456221"/>
              <a:ext cx="790503" cy="148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5"/>
                </a:lnSpc>
              </a:pPr>
              <a:r>
                <a:rPr lang="en-US" sz="795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WEST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98116" y="456221"/>
              <a:ext cx="790503" cy="148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5"/>
                </a:lnSpc>
              </a:pPr>
              <a:r>
                <a:rPr lang="en-US" sz="795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1023.0 MB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1178231"/>
            <a:ext cx="7383170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BACK</a:t>
            </a:r>
            <a:r>
              <a:rPr lang="en-US" sz="6999" b="1">
                <a:solidFill>
                  <a:srgbClr val="161C58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GROUND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1296" y="2253260"/>
            <a:ext cx="8357978" cy="4908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Weather forecasting plays a critical role in aviation safety and operational decision-making. Pilots depend on aviation weather reports such as TAF and METAR to obtain atmospheric conditions before take-off and landing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360716" y="8825357"/>
            <a:ext cx="1426581" cy="545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3"/>
              </a:lnSpc>
            </a:pPr>
            <a:r>
              <a:rPr lang="en-US" sz="37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30°C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258175" y="9380569"/>
            <a:ext cx="3619683" cy="12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"/>
              </a:lnSpc>
            </a:pPr>
            <a:r>
              <a:rPr lang="en-US" sz="909" spc="454">
                <a:solidFill>
                  <a:srgbClr val="584344"/>
                </a:solidFill>
                <a:latin typeface="Poppins Light"/>
                <a:ea typeface="Poppins Light"/>
                <a:cs typeface="Poppins Light"/>
                <a:sym typeface="Poppins Light"/>
              </a:rPr>
              <a:t>MAX. 31°C - MIN.15°C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011250" y="9603500"/>
            <a:ext cx="2113533" cy="88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8"/>
              </a:lnSpc>
              <a:spcBef>
                <a:spcPct val="0"/>
              </a:spcBef>
            </a:pPr>
            <a:r>
              <a:rPr lang="en-US" sz="658" u="none" spc="3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MONDAY, MARCH 16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24040" y="4451135"/>
            <a:ext cx="7383170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161C58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PROBLEM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5623" y="5374289"/>
            <a:ext cx="8699160" cy="352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Most aviation weather forecasting systems rely on global models such as GFS and ECMWF, which provide large-scale forecasts but It fail on Localize weather variations.</a:t>
            </a:r>
          </a:p>
        </p:txBody>
      </p:sp>
      <p:sp>
        <p:nvSpPr>
          <p:cNvPr id="24" name="Freeform 24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028700" y="9257527"/>
            <a:ext cx="3619683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11993" y="9576317"/>
            <a:ext cx="2397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58175" y="1084911"/>
            <a:ext cx="2001125" cy="434632"/>
            <a:chOff x="0" y="0"/>
            <a:chExt cx="527045" cy="1144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7045" cy="114471"/>
            </a:xfrm>
            <a:custGeom>
              <a:avLst/>
              <a:gdLst/>
              <a:ahLst/>
              <a:cxnLst/>
              <a:rect l="l" t="t" r="r" b="b"/>
              <a:pathLst>
                <a:path w="527045" h="114471">
                  <a:moveTo>
                    <a:pt x="57236" y="0"/>
                  </a:moveTo>
                  <a:lnTo>
                    <a:pt x="469810" y="0"/>
                  </a:lnTo>
                  <a:cubicBezTo>
                    <a:pt x="484990" y="0"/>
                    <a:pt x="499548" y="6030"/>
                    <a:pt x="510281" y="16764"/>
                  </a:cubicBezTo>
                  <a:cubicBezTo>
                    <a:pt x="521015" y="27498"/>
                    <a:pt x="527045" y="42056"/>
                    <a:pt x="527045" y="57236"/>
                  </a:cubicBezTo>
                  <a:lnTo>
                    <a:pt x="527045" y="57236"/>
                  </a:lnTo>
                  <a:cubicBezTo>
                    <a:pt x="527045" y="72415"/>
                    <a:pt x="521015" y="86973"/>
                    <a:pt x="510281" y="97707"/>
                  </a:cubicBezTo>
                  <a:cubicBezTo>
                    <a:pt x="499548" y="108441"/>
                    <a:pt x="484990" y="114471"/>
                    <a:pt x="469810" y="114471"/>
                  </a:cubicBezTo>
                  <a:lnTo>
                    <a:pt x="57236" y="114471"/>
                  </a:lnTo>
                  <a:cubicBezTo>
                    <a:pt x="42056" y="114471"/>
                    <a:pt x="27498" y="108441"/>
                    <a:pt x="16764" y="97707"/>
                  </a:cubicBezTo>
                  <a:cubicBezTo>
                    <a:pt x="6030" y="86973"/>
                    <a:pt x="0" y="72415"/>
                    <a:pt x="0" y="57236"/>
                  </a:cubicBezTo>
                  <a:lnTo>
                    <a:pt x="0" y="57236"/>
                  </a:lnTo>
                  <a:cubicBezTo>
                    <a:pt x="0" y="42056"/>
                    <a:pt x="6030" y="27498"/>
                    <a:pt x="16764" y="16764"/>
                  </a:cubicBezTo>
                  <a:cubicBezTo>
                    <a:pt x="27498" y="6030"/>
                    <a:pt x="42056" y="0"/>
                    <a:pt x="57236" y="0"/>
                  </a:cubicBezTo>
                  <a:close/>
                </a:path>
              </a:pathLst>
            </a:custGeom>
            <a:solidFill>
              <a:srgbClr val="1B95F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27045" cy="152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-1619160"/>
            <a:ext cx="8637196" cy="5775020"/>
            <a:chOff x="0" y="0"/>
            <a:chExt cx="1338128" cy="8947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8128" cy="894702"/>
            </a:xfrm>
            <a:custGeom>
              <a:avLst/>
              <a:gdLst/>
              <a:ahLst/>
              <a:cxnLst/>
              <a:rect l="l" t="t" r="r" b="b"/>
              <a:pathLst>
                <a:path w="1338128" h="894702">
                  <a:moveTo>
                    <a:pt x="67226" y="0"/>
                  </a:moveTo>
                  <a:lnTo>
                    <a:pt x="1270902" y="0"/>
                  </a:lnTo>
                  <a:cubicBezTo>
                    <a:pt x="1288731" y="0"/>
                    <a:pt x="1305830" y="7083"/>
                    <a:pt x="1318438" y="19690"/>
                  </a:cubicBezTo>
                  <a:cubicBezTo>
                    <a:pt x="1331045" y="32297"/>
                    <a:pt x="1338128" y="49397"/>
                    <a:pt x="1338128" y="67226"/>
                  </a:cubicBezTo>
                  <a:lnTo>
                    <a:pt x="1338128" y="827476"/>
                  </a:lnTo>
                  <a:cubicBezTo>
                    <a:pt x="1338128" y="845305"/>
                    <a:pt x="1331045" y="862404"/>
                    <a:pt x="1318438" y="875012"/>
                  </a:cubicBezTo>
                  <a:cubicBezTo>
                    <a:pt x="1305830" y="887619"/>
                    <a:pt x="1288731" y="894702"/>
                    <a:pt x="1270902" y="894702"/>
                  </a:cubicBezTo>
                  <a:lnTo>
                    <a:pt x="67226" y="894702"/>
                  </a:lnTo>
                  <a:cubicBezTo>
                    <a:pt x="49397" y="894702"/>
                    <a:pt x="32297" y="887619"/>
                    <a:pt x="19690" y="875012"/>
                  </a:cubicBezTo>
                  <a:cubicBezTo>
                    <a:pt x="7083" y="862404"/>
                    <a:pt x="0" y="845305"/>
                    <a:pt x="0" y="827476"/>
                  </a:cubicBezTo>
                  <a:lnTo>
                    <a:pt x="0" y="67226"/>
                  </a:lnTo>
                  <a:cubicBezTo>
                    <a:pt x="0" y="49397"/>
                    <a:pt x="7083" y="32297"/>
                    <a:pt x="19690" y="19690"/>
                  </a:cubicBezTo>
                  <a:cubicBezTo>
                    <a:pt x="32297" y="7083"/>
                    <a:pt x="49397" y="0"/>
                    <a:pt x="67226" y="0"/>
                  </a:cubicBezTo>
                  <a:close/>
                </a:path>
              </a:pathLst>
            </a:custGeom>
            <a:blipFill>
              <a:blip r:embed="rId2"/>
              <a:stretch>
                <a:fillRect l="-32145" r="-45164" b="-1270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700919" y="9833129"/>
            <a:ext cx="2541464" cy="453871"/>
            <a:chOff x="0" y="0"/>
            <a:chExt cx="3388618" cy="605161"/>
          </a:xfrm>
        </p:grpSpPr>
        <p:sp>
          <p:nvSpPr>
            <p:cNvPr id="8" name="Freeform 8"/>
            <p:cNvSpPr/>
            <p:nvPr/>
          </p:nvSpPr>
          <p:spPr>
            <a:xfrm>
              <a:off x="239010" y="0"/>
              <a:ext cx="312665" cy="404626"/>
            </a:xfrm>
            <a:custGeom>
              <a:avLst/>
              <a:gdLst/>
              <a:ahLst/>
              <a:cxnLst/>
              <a:rect l="l" t="t" r="r" b="b"/>
              <a:pathLst>
                <a:path w="312665" h="404626">
                  <a:moveTo>
                    <a:pt x="0" y="0"/>
                  </a:moveTo>
                  <a:lnTo>
                    <a:pt x="312665" y="0"/>
                  </a:lnTo>
                  <a:lnTo>
                    <a:pt x="312665" y="404626"/>
                  </a:lnTo>
                  <a:lnTo>
                    <a:pt x="0" y="404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885959" y="42469"/>
              <a:ext cx="533414" cy="195028"/>
            </a:xfrm>
            <a:custGeom>
              <a:avLst/>
              <a:gdLst/>
              <a:ahLst/>
              <a:cxnLst/>
              <a:rect l="l" t="t" r="r" b="b"/>
              <a:pathLst>
                <a:path w="533414" h="195028">
                  <a:moveTo>
                    <a:pt x="0" y="0"/>
                  </a:moveTo>
                  <a:lnTo>
                    <a:pt x="533414" y="0"/>
                  </a:lnTo>
                  <a:lnTo>
                    <a:pt x="533414" y="195027"/>
                  </a:lnTo>
                  <a:lnTo>
                    <a:pt x="0" y="195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0" b="-6562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 flipV="1">
              <a:off x="960221" y="217748"/>
              <a:ext cx="384890" cy="152341"/>
            </a:xfrm>
            <a:custGeom>
              <a:avLst/>
              <a:gdLst/>
              <a:ahLst/>
              <a:cxnLst/>
              <a:rect l="l" t="t" r="r" b="b"/>
              <a:pathLst>
                <a:path w="384890" h="152341">
                  <a:moveTo>
                    <a:pt x="0" y="152340"/>
                  </a:moveTo>
                  <a:lnTo>
                    <a:pt x="384890" y="152340"/>
                  </a:lnTo>
                  <a:lnTo>
                    <a:pt x="384890" y="0"/>
                  </a:lnTo>
                  <a:lnTo>
                    <a:pt x="0" y="0"/>
                  </a:lnTo>
                  <a:lnTo>
                    <a:pt x="0" y="15234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38616" b="-11203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923654" y="0"/>
              <a:ext cx="404626" cy="404626"/>
            </a:xfrm>
            <a:custGeom>
              <a:avLst/>
              <a:gdLst/>
              <a:ahLst/>
              <a:cxnLst/>
              <a:rect l="l" t="t" r="r" b="b"/>
              <a:pathLst>
                <a:path w="404626" h="404626">
                  <a:moveTo>
                    <a:pt x="0" y="0"/>
                  </a:moveTo>
                  <a:lnTo>
                    <a:pt x="404626" y="0"/>
                  </a:lnTo>
                  <a:lnTo>
                    <a:pt x="404626" y="404626"/>
                  </a:lnTo>
                  <a:lnTo>
                    <a:pt x="0" y="404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41791" y="67400"/>
              <a:ext cx="463568" cy="269826"/>
            </a:xfrm>
            <a:custGeom>
              <a:avLst/>
              <a:gdLst/>
              <a:ahLst/>
              <a:cxnLst/>
              <a:rect l="l" t="t" r="r" b="b"/>
              <a:pathLst>
                <a:path w="463568" h="269826">
                  <a:moveTo>
                    <a:pt x="0" y="0"/>
                  </a:moveTo>
                  <a:lnTo>
                    <a:pt x="463567" y="0"/>
                  </a:lnTo>
                  <a:lnTo>
                    <a:pt x="463567" y="269826"/>
                  </a:lnTo>
                  <a:lnTo>
                    <a:pt x="0" y="269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456221"/>
              <a:ext cx="790685" cy="148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5"/>
                </a:lnSpc>
              </a:pPr>
              <a:r>
                <a:rPr lang="en-US" sz="795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20%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3023" y="456221"/>
              <a:ext cx="790503" cy="148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5"/>
                </a:lnSpc>
              </a:pPr>
              <a:r>
                <a:rPr lang="en-US" sz="795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15 KM/H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30716" y="456221"/>
              <a:ext cx="790503" cy="148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5"/>
                </a:lnSpc>
              </a:pPr>
              <a:r>
                <a:rPr lang="en-US" sz="795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WEST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98116" y="456221"/>
              <a:ext cx="790503" cy="148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5"/>
                </a:lnSpc>
              </a:pPr>
              <a:r>
                <a:rPr lang="en-US" sz="795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1023.0 MB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0" y="76200"/>
            <a:ext cx="9782737" cy="2769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USERS </a:t>
            </a:r>
            <a:r>
              <a:rPr lang="en-US" sz="6999" b="1">
                <a:solidFill>
                  <a:srgbClr val="161C58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&amp; STAKEHOLDERS</a:t>
            </a:r>
          </a:p>
          <a:p>
            <a:pPr algn="l">
              <a:lnSpc>
                <a:spcPts val="7094"/>
              </a:lnSpc>
            </a:pPr>
            <a:endParaRPr lang="en-US" sz="6999" b="1">
              <a:solidFill>
                <a:srgbClr val="161C58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6360716" y="8825357"/>
            <a:ext cx="1426581" cy="545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3"/>
              </a:lnSpc>
            </a:pPr>
            <a:r>
              <a:rPr lang="en-US" sz="37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30°C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258175" y="9380569"/>
            <a:ext cx="3619683" cy="12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"/>
              </a:lnSpc>
            </a:pPr>
            <a:r>
              <a:rPr lang="en-US" sz="909" spc="454">
                <a:solidFill>
                  <a:srgbClr val="584344"/>
                </a:solidFill>
                <a:latin typeface="Poppins Light"/>
                <a:ea typeface="Poppins Light"/>
                <a:cs typeface="Poppins Light"/>
                <a:sym typeface="Poppins Light"/>
              </a:rPr>
              <a:t>MAX. 31°C - MIN.15°C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011250" y="9603500"/>
            <a:ext cx="2113533" cy="88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8"/>
              </a:lnSpc>
              <a:spcBef>
                <a:spcPct val="0"/>
              </a:spcBef>
            </a:pPr>
            <a:r>
              <a:rPr lang="en-US" sz="658" u="none" spc="3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MONDAY, MARCH 16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90836" y="4387987"/>
            <a:ext cx="7383170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1">
                <a:solidFill>
                  <a:srgbClr val="161C58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STAKEHOLDERS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9257527"/>
            <a:ext cx="3630218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11993" y="9576317"/>
            <a:ext cx="2397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4200" y="2604242"/>
            <a:ext cx="6948508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PRIMARY USERS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14200" y="3631325"/>
            <a:ext cx="7258281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• Pilots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• Air Traffic Controllers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• Aviation Meteorological    Officers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• Airport Operations Managers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49200" y="5390275"/>
            <a:ext cx="9275583" cy="420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Airport authorities (Bandaranaike International Airport)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Civil Aviation Authority of Sri Lanka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Airline operation management teams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Aviation safety organizations</a:t>
            </a:r>
          </a:p>
          <a:p>
            <a:pPr algn="l">
              <a:lnSpc>
                <a:spcPts val="5599"/>
              </a:lnSpc>
            </a:pPr>
            <a:endParaRPr lang="en-US" sz="3999" b="1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82508" y="2882518"/>
            <a:ext cx="7559723" cy="755972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8888" r="-3888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169194" y="461554"/>
            <a:ext cx="13432111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FEA917"/>
                </a:solidFill>
                <a:latin typeface="Poppins Bold"/>
                <a:ea typeface="Poppins Bold"/>
                <a:cs typeface="Poppins Bold"/>
                <a:sym typeface="Poppins Bold"/>
              </a:rPr>
              <a:t>USERS</a:t>
            </a:r>
            <a:r>
              <a:rPr lang="en-US" sz="6999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AND STAKEHOLDERS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7278" y="3744250"/>
            <a:ext cx="11829950" cy="490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Pilots receive visibility and weather alerts before takeoff and landing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Meteorologists verify forecasts using the AI system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Airport authorities use the system for operational planning</a:t>
            </a:r>
          </a:p>
          <a:p>
            <a:pPr algn="l">
              <a:lnSpc>
                <a:spcPts val="5599"/>
              </a:lnSpc>
            </a:pPr>
            <a:endParaRPr lang="en-US" sz="3999" b="1" dirty="0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7278" y="2529988"/>
            <a:ext cx="12399221" cy="708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How they interact with the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9257527"/>
            <a:ext cx="3619500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56570" y="9660092"/>
            <a:ext cx="2397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207796" y="5295900"/>
            <a:ext cx="9315221" cy="5246370"/>
            <a:chOff x="0" y="0"/>
            <a:chExt cx="24353520" cy="13716000"/>
          </a:xfrm>
        </p:grpSpPr>
        <p:sp>
          <p:nvSpPr>
            <p:cNvPr id="4" name="Freeform 4"/>
            <p:cNvSpPr/>
            <p:nvPr/>
          </p:nvSpPr>
          <p:spPr>
            <a:xfrm>
              <a:off x="38100" y="38100"/>
              <a:ext cx="24278589" cy="13639800"/>
            </a:xfrm>
            <a:custGeom>
              <a:avLst/>
              <a:gdLst/>
              <a:ahLst/>
              <a:cxnLst/>
              <a:rect l="l" t="t" r="r" b="b"/>
              <a:pathLst>
                <a:path w="24278589" h="13639800">
                  <a:moveTo>
                    <a:pt x="24278589" y="452120"/>
                  </a:moveTo>
                  <a:lnTo>
                    <a:pt x="24278589" y="13187680"/>
                  </a:lnTo>
                  <a:cubicBezTo>
                    <a:pt x="24278589" y="13436600"/>
                    <a:pt x="24075389" y="13639800"/>
                    <a:pt x="23826470" y="13639800"/>
                  </a:cubicBezTo>
                  <a:lnTo>
                    <a:pt x="7706360" y="13639800"/>
                  </a:lnTo>
                  <a:lnTo>
                    <a:pt x="6588760" y="12920980"/>
                  </a:lnTo>
                  <a:lnTo>
                    <a:pt x="2498090" y="12920980"/>
                  </a:lnTo>
                  <a:lnTo>
                    <a:pt x="1614170" y="13639800"/>
                  </a:lnTo>
                  <a:lnTo>
                    <a:pt x="452120" y="13639800"/>
                  </a:lnTo>
                  <a:cubicBezTo>
                    <a:pt x="203200" y="13639800"/>
                    <a:pt x="0" y="13436600"/>
                    <a:pt x="0" y="13187680"/>
                  </a:cubicBezTo>
                  <a:lnTo>
                    <a:pt x="0" y="452120"/>
                  </a:lnTo>
                  <a:cubicBezTo>
                    <a:pt x="0" y="203200"/>
                    <a:pt x="203200" y="0"/>
                    <a:pt x="452120" y="0"/>
                  </a:cubicBezTo>
                  <a:lnTo>
                    <a:pt x="23826470" y="0"/>
                  </a:lnTo>
                  <a:cubicBezTo>
                    <a:pt x="23925530" y="0"/>
                    <a:pt x="24020780" y="31750"/>
                    <a:pt x="24099520" y="92710"/>
                  </a:cubicBezTo>
                  <a:cubicBezTo>
                    <a:pt x="24212550" y="179070"/>
                    <a:pt x="24278589" y="309880"/>
                    <a:pt x="24278589" y="452120"/>
                  </a:cubicBezTo>
                  <a:close/>
                </a:path>
              </a:pathLst>
            </a:custGeom>
            <a:blipFill>
              <a:blip r:embed="rId3"/>
              <a:stretch>
                <a:fillRect l="-3505" r="-35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24353520" cy="13717270"/>
            </a:xfrm>
            <a:custGeom>
              <a:avLst/>
              <a:gdLst/>
              <a:ahLst/>
              <a:cxnLst/>
              <a:rect l="l" t="t" r="r" b="b"/>
              <a:pathLst>
                <a:path w="24353520" h="13717270">
                  <a:moveTo>
                    <a:pt x="2523490" y="12387580"/>
                  </a:moveTo>
                  <a:lnTo>
                    <a:pt x="834390" y="12387580"/>
                  </a:lnTo>
                  <a:lnTo>
                    <a:pt x="834390" y="1785620"/>
                  </a:lnTo>
                  <a:lnTo>
                    <a:pt x="2327910" y="293370"/>
                  </a:lnTo>
                  <a:lnTo>
                    <a:pt x="14380211" y="293370"/>
                  </a:lnTo>
                  <a:lnTo>
                    <a:pt x="15153639" y="835660"/>
                  </a:lnTo>
                  <a:lnTo>
                    <a:pt x="23520400" y="835660"/>
                  </a:lnTo>
                  <a:lnTo>
                    <a:pt x="23520400" y="11247120"/>
                  </a:lnTo>
                  <a:lnTo>
                    <a:pt x="24062689" y="12192000"/>
                  </a:lnTo>
                  <a:lnTo>
                    <a:pt x="24062689" y="13227050"/>
                  </a:lnTo>
                  <a:cubicBezTo>
                    <a:pt x="24062689" y="13336270"/>
                    <a:pt x="23973789" y="13425170"/>
                    <a:pt x="23865839" y="13425170"/>
                  </a:cubicBezTo>
                  <a:lnTo>
                    <a:pt x="7819390" y="13425170"/>
                  </a:lnTo>
                  <a:lnTo>
                    <a:pt x="6700520" y="12706350"/>
                  </a:lnTo>
                  <a:lnTo>
                    <a:pt x="2523490" y="12706350"/>
                  </a:lnTo>
                  <a:lnTo>
                    <a:pt x="2523490" y="12388850"/>
                  </a:lnTo>
                  <a:close/>
                  <a:moveTo>
                    <a:pt x="872490" y="12349480"/>
                  </a:moveTo>
                  <a:lnTo>
                    <a:pt x="2561590" y="12349480"/>
                  </a:lnTo>
                  <a:lnTo>
                    <a:pt x="2561590" y="12666980"/>
                  </a:lnTo>
                  <a:lnTo>
                    <a:pt x="6711950" y="12666980"/>
                  </a:lnTo>
                  <a:lnTo>
                    <a:pt x="6789420" y="12716511"/>
                  </a:lnTo>
                  <a:lnTo>
                    <a:pt x="7830820" y="13385800"/>
                  </a:lnTo>
                  <a:lnTo>
                    <a:pt x="23864570" y="13385800"/>
                  </a:lnTo>
                  <a:cubicBezTo>
                    <a:pt x="23952200" y="13385800"/>
                    <a:pt x="24023320" y="13314680"/>
                    <a:pt x="24023320" y="13225780"/>
                  </a:cubicBezTo>
                  <a:lnTo>
                    <a:pt x="24023320" y="12200890"/>
                  </a:lnTo>
                  <a:lnTo>
                    <a:pt x="23481030" y="11256011"/>
                  </a:lnTo>
                  <a:lnTo>
                    <a:pt x="23481030" y="872490"/>
                  </a:lnTo>
                  <a:lnTo>
                    <a:pt x="15139670" y="872490"/>
                  </a:lnTo>
                  <a:lnTo>
                    <a:pt x="14366239" y="330200"/>
                  </a:lnTo>
                  <a:lnTo>
                    <a:pt x="2343150" y="330200"/>
                  </a:lnTo>
                  <a:lnTo>
                    <a:pt x="872490" y="1800860"/>
                  </a:lnTo>
                  <a:lnTo>
                    <a:pt x="872490" y="12349480"/>
                  </a:lnTo>
                  <a:close/>
                  <a:moveTo>
                    <a:pt x="1658620" y="13716000"/>
                  </a:moveTo>
                  <a:lnTo>
                    <a:pt x="490220" y="13716000"/>
                  </a:lnTo>
                  <a:cubicBezTo>
                    <a:pt x="219710" y="13716000"/>
                    <a:pt x="0" y="13496289"/>
                    <a:pt x="0" y="13225780"/>
                  </a:cubicBezTo>
                  <a:lnTo>
                    <a:pt x="0" y="490220"/>
                  </a:lnTo>
                  <a:cubicBezTo>
                    <a:pt x="0" y="219710"/>
                    <a:pt x="219710" y="0"/>
                    <a:pt x="490220" y="0"/>
                  </a:cubicBezTo>
                  <a:lnTo>
                    <a:pt x="23864570" y="0"/>
                  </a:lnTo>
                  <a:cubicBezTo>
                    <a:pt x="23972520" y="0"/>
                    <a:pt x="24075389" y="34290"/>
                    <a:pt x="24160480" y="100330"/>
                  </a:cubicBezTo>
                  <a:cubicBezTo>
                    <a:pt x="24283670" y="194310"/>
                    <a:pt x="24353520" y="336550"/>
                    <a:pt x="24353520" y="490220"/>
                  </a:cubicBezTo>
                  <a:lnTo>
                    <a:pt x="24353520" y="13225780"/>
                  </a:lnTo>
                  <a:cubicBezTo>
                    <a:pt x="24353520" y="13496289"/>
                    <a:pt x="24133811" y="13716000"/>
                    <a:pt x="23863300" y="13716000"/>
                  </a:cubicBezTo>
                  <a:lnTo>
                    <a:pt x="7733030" y="13716000"/>
                  </a:lnTo>
                  <a:lnTo>
                    <a:pt x="7727950" y="13713461"/>
                  </a:lnTo>
                  <a:lnTo>
                    <a:pt x="6614161" y="12998450"/>
                  </a:lnTo>
                  <a:lnTo>
                    <a:pt x="2548890" y="12998450"/>
                  </a:lnTo>
                  <a:lnTo>
                    <a:pt x="1664970" y="13717270"/>
                  </a:lnTo>
                  <a:lnTo>
                    <a:pt x="1658620" y="13717270"/>
                  </a:lnTo>
                  <a:close/>
                  <a:moveTo>
                    <a:pt x="1249680" y="13677900"/>
                  </a:moveTo>
                  <a:lnTo>
                    <a:pt x="1652270" y="13677900"/>
                  </a:lnTo>
                  <a:lnTo>
                    <a:pt x="2536190" y="12959080"/>
                  </a:lnTo>
                  <a:lnTo>
                    <a:pt x="6626860" y="12959080"/>
                  </a:lnTo>
                  <a:lnTo>
                    <a:pt x="7744460" y="13677900"/>
                  </a:lnTo>
                  <a:lnTo>
                    <a:pt x="23863300" y="13677900"/>
                  </a:lnTo>
                  <a:cubicBezTo>
                    <a:pt x="24112220" y="13677900"/>
                    <a:pt x="24315420" y="13474700"/>
                    <a:pt x="24315420" y="13225780"/>
                  </a:cubicBezTo>
                  <a:lnTo>
                    <a:pt x="24315420" y="490220"/>
                  </a:lnTo>
                  <a:cubicBezTo>
                    <a:pt x="24315420" y="347980"/>
                    <a:pt x="24250650" y="217170"/>
                    <a:pt x="24137620" y="130810"/>
                  </a:cubicBezTo>
                  <a:cubicBezTo>
                    <a:pt x="24058879" y="69850"/>
                    <a:pt x="23963629" y="38100"/>
                    <a:pt x="23864570" y="38100"/>
                  </a:cubicBezTo>
                  <a:lnTo>
                    <a:pt x="490220" y="38100"/>
                  </a:lnTo>
                  <a:cubicBezTo>
                    <a:pt x="240030" y="38100"/>
                    <a:pt x="38100" y="241300"/>
                    <a:pt x="38100" y="490220"/>
                  </a:cubicBezTo>
                  <a:lnTo>
                    <a:pt x="38100" y="13225780"/>
                  </a:lnTo>
                  <a:cubicBezTo>
                    <a:pt x="38100" y="13474700"/>
                    <a:pt x="241300" y="13677900"/>
                    <a:pt x="490220" y="13677900"/>
                  </a:cubicBezTo>
                  <a:lnTo>
                    <a:pt x="1249680" y="13677900"/>
                  </a:lnTo>
                  <a:close/>
                </a:path>
              </a:pathLst>
            </a:custGeom>
            <a:solidFill>
              <a:srgbClr val="161C5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69194" y="461554"/>
            <a:ext cx="13432111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FEA917"/>
                </a:solidFill>
                <a:latin typeface="Poppins Bold"/>
                <a:ea typeface="Poppins Bold"/>
                <a:cs typeface="Poppins Bold"/>
                <a:sym typeface="Poppins Bold"/>
              </a:rPr>
              <a:t>USERS</a:t>
            </a:r>
            <a:r>
              <a:rPr lang="en-US" sz="6999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AND STAKEHOLDERS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354819" y="2852167"/>
            <a:ext cx="11829950" cy="56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Sudden weather changes can reduce pilot visibility.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Low cloud ceilings can affect safe aircraft landing.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Can cause flight delays and flight diversions.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Affects passenger travel and airline operations.</a:t>
            </a:r>
          </a:p>
          <a:p>
            <a:pPr algn="l">
              <a:lnSpc>
                <a:spcPts val="5599"/>
              </a:lnSpc>
            </a:pPr>
            <a:endParaRPr lang="en-US" sz="3999" b="1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5599"/>
              </a:lnSpc>
            </a:pPr>
            <a:endParaRPr lang="en-US" sz="3999" b="1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87278" y="2129834"/>
            <a:ext cx="15175092" cy="708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of the Problem to Users and Society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9257527"/>
            <a:ext cx="3390900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56570" y="9660092"/>
            <a:ext cx="2397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7274" y="461554"/>
            <a:ext cx="16952026" cy="187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 dirty="0">
                <a:solidFill>
                  <a:srgbClr val="FEA917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SOLUTIONS </a:t>
            </a:r>
          </a:p>
          <a:p>
            <a:pPr algn="l">
              <a:lnSpc>
                <a:spcPts val="6999"/>
              </a:lnSpc>
            </a:pPr>
            <a:r>
              <a:rPr lang="en-US" sz="6999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AND THEIR LIMITATIONS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0801" y="-1173391"/>
            <a:ext cx="7732645" cy="6961278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42741" y="4009027"/>
            <a:ext cx="7517011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Global Forecast System (GFS)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ECMWF weather prediction 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     models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TAF and METAR reports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999" b="1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07274" y="3071787"/>
            <a:ext cx="8476013" cy="2505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Solutions</a:t>
            </a:r>
          </a:p>
          <a:p>
            <a:pPr algn="l">
              <a:lnSpc>
                <a:spcPts val="7005"/>
              </a:lnSpc>
            </a:pPr>
            <a:endParaRPr lang="en-US" sz="5000" b="1">
              <a:solidFill>
                <a:srgbClr val="161C58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7005"/>
              </a:lnSpc>
            </a:pPr>
            <a:endParaRPr lang="en-US" sz="5000" b="1">
              <a:solidFill>
                <a:srgbClr val="161C58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013701" y="5000626"/>
            <a:ext cx="5610240" cy="3470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4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</a:t>
            </a:r>
          </a:p>
          <a:p>
            <a:pPr algn="l">
              <a:lnSpc>
                <a:spcPts val="7235"/>
              </a:lnSpc>
            </a:pPr>
            <a:endParaRPr lang="en-US" sz="4999" b="1">
              <a:solidFill>
                <a:srgbClr val="161C58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7235"/>
              </a:lnSpc>
            </a:pPr>
            <a:endParaRPr lang="en-US" sz="4999" b="1">
              <a:solidFill>
                <a:srgbClr val="161C58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7235"/>
              </a:lnSpc>
            </a:pPr>
            <a:endParaRPr lang="en-US" sz="4999" b="1">
              <a:solidFill>
                <a:srgbClr val="161C58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427542" y="5842683"/>
            <a:ext cx="10782558" cy="490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Difficult to detect rapid local weather changes.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Limited accuracy for airport-level predictions.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Cant find Past data  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999" b="1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999" b="1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9257527"/>
            <a:ext cx="3390900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85964" y="9603464"/>
            <a:ext cx="2397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7F9A71B7-BA4C-69F0-DD77-DA3A14F4B04B}"/>
              </a:ext>
            </a:extLst>
          </p:cNvPr>
          <p:cNvSpPr txBox="1"/>
          <p:nvPr/>
        </p:nvSpPr>
        <p:spPr>
          <a:xfrm>
            <a:off x="307274" y="461554"/>
            <a:ext cx="16952026" cy="187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FEA917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</a:t>
            </a:r>
            <a:r>
              <a:rPr lang="en-US" sz="6999" b="1">
                <a:solidFill>
                  <a:srgbClr val="002060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</a:t>
            </a:r>
          </a:p>
          <a:p>
            <a:pPr algn="l">
              <a:lnSpc>
                <a:spcPts val="6999"/>
              </a:lnSpc>
            </a:pPr>
            <a:endParaRPr lang="en-US" sz="6999" b="1" dirty="0">
              <a:solidFill>
                <a:srgbClr val="161C58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325212-B89F-657C-553F-A166E6C6D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984" y="1790700"/>
            <a:ext cx="13898605" cy="727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23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7274" y="452029"/>
            <a:ext cx="16952026" cy="1146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1">
                <a:solidFill>
                  <a:srgbClr val="F6B332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PROPOSED</a:t>
            </a:r>
            <a:r>
              <a:rPr lang="en-US" sz="8000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2084521"/>
            <a:ext cx="7969091" cy="782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Hyper-local AI-based aviation weather prediction system for monsoon </a:t>
            </a:r>
            <a:r>
              <a:rPr lang="en-US" sz="3999" b="1" dirty="0" err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pattons</a:t>
            </a:r>
            <a:endParaRPr lang="en-US" sz="3999" b="1" dirty="0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Uses machine learning to 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     analyze weather data.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Detects rapid weather 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    changes near airports.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Generates alerts for dangerous 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    aviation weather conditions.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999" b="1" dirty="0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999" b="1" dirty="0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608" y="1302054"/>
            <a:ext cx="11332706" cy="10202216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28700" y="9257527"/>
            <a:ext cx="3543300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85964" y="9603464"/>
            <a:ext cx="2397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369173"/>
            <a:ext cx="15124038" cy="187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 CONTRIBUTIONS</a:t>
            </a:r>
          </a:p>
          <a:p>
            <a:pPr algn="l">
              <a:lnSpc>
                <a:spcPts val="6999"/>
              </a:lnSpc>
            </a:pPr>
            <a:endParaRPr lang="en-US" sz="6999" b="1">
              <a:solidFill>
                <a:srgbClr val="161C58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9257527"/>
            <a:ext cx="3467100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85964" y="9603464"/>
            <a:ext cx="2397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70A18A4-5A1B-6EA8-30B3-98E183562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025328"/>
              </p:ext>
            </p:extLst>
          </p:nvPr>
        </p:nvGraphicFramePr>
        <p:xfrm>
          <a:off x="3200400" y="1943098"/>
          <a:ext cx="12801600" cy="7268105"/>
        </p:xfrm>
        <a:graphic>
          <a:graphicData uri="http://schemas.openxmlformats.org/drawingml/2006/table">
            <a:tbl>
              <a:tblPr/>
              <a:tblGrid>
                <a:gridCol w="6400800">
                  <a:extLst>
                    <a:ext uri="{9D8B030D-6E8A-4147-A177-3AD203B41FA5}">
                      <a16:colId xmlns:a16="http://schemas.microsoft.com/office/drawing/2014/main" val="24735425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1146795604"/>
                    </a:ext>
                  </a:extLst>
                </a:gridCol>
              </a:tblGrid>
              <a:tr h="1448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600" b="1" dirty="0">
                          <a:solidFill>
                            <a:srgbClr val="FF3131"/>
                          </a:solidFill>
                          <a:effectLst/>
                        </a:rPr>
                        <a:t>Studen</a:t>
                      </a:r>
                      <a:r>
                        <a:rPr lang="en-US" sz="6000" b="1" dirty="0">
                          <a:solidFill>
                            <a:srgbClr val="FF3131"/>
                          </a:solidFill>
                          <a:effectLst/>
                        </a:rPr>
                        <a:t>t</a:t>
                      </a:r>
                      <a:endParaRPr lang="en-US" sz="1200" b="1" dirty="0">
                        <a:solidFill>
                          <a:srgbClr val="FF3131"/>
                        </a:solidFill>
                        <a:effectLst/>
                      </a:endParaRPr>
                    </a:p>
                  </a:txBody>
                  <a:tcPr marL="60519" marR="60519" marT="30259" marB="3025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0" b="1" dirty="0">
                          <a:solidFill>
                            <a:srgbClr val="FF3131"/>
                          </a:solidFill>
                          <a:effectLst/>
                        </a:rPr>
                        <a:t>Component</a:t>
                      </a:r>
                      <a:endParaRPr lang="en-US" sz="1200" b="1" dirty="0">
                        <a:solidFill>
                          <a:srgbClr val="FF3131"/>
                        </a:solidFill>
                        <a:effectLst/>
                      </a:endParaRPr>
                    </a:p>
                  </a:txBody>
                  <a:tcPr marL="60519" marR="60519" marT="30259" marB="3025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55749"/>
                  </a:ext>
                </a:extLst>
              </a:tr>
              <a:tr h="1323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 dirty="0" err="1">
                          <a:effectLst/>
                        </a:rPr>
                        <a:t>Sankadeepa</a:t>
                      </a:r>
                      <a:r>
                        <a:rPr lang="en-US" sz="3600" b="1" dirty="0">
                          <a:effectLst/>
                        </a:rPr>
                        <a:t> W.D.I</a:t>
                      </a:r>
                    </a:p>
                  </a:txBody>
                  <a:tcPr marL="60519" marR="60519" marT="30259" marB="3025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 dirty="0">
                          <a:effectLst/>
                        </a:rPr>
                        <a:t>Pressure-Humidity-Temperature Prediction Model</a:t>
                      </a:r>
                    </a:p>
                  </a:txBody>
                  <a:tcPr marL="60519" marR="60519" marT="30259" marB="3025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183442"/>
                  </a:ext>
                </a:extLst>
              </a:tr>
              <a:tr h="1323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 dirty="0" err="1">
                          <a:effectLst/>
                        </a:rPr>
                        <a:t>Ranasingha</a:t>
                      </a:r>
                      <a:r>
                        <a:rPr lang="en-US" sz="3600" b="1" dirty="0">
                          <a:effectLst/>
                        </a:rPr>
                        <a:t> R.A.A.D</a:t>
                      </a:r>
                    </a:p>
                  </a:txBody>
                  <a:tcPr marL="60519" marR="60519" marT="30259" marB="3025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 dirty="0">
                          <a:effectLst/>
                        </a:rPr>
                        <a:t>Wind Pattern Prediction Model</a:t>
                      </a:r>
                    </a:p>
                  </a:txBody>
                  <a:tcPr marL="60519" marR="60519" marT="30259" marB="3025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880354"/>
                  </a:ext>
                </a:extLst>
              </a:tr>
              <a:tr h="1323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 dirty="0" err="1">
                          <a:effectLst/>
                        </a:rPr>
                        <a:t>Jayawardhana</a:t>
                      </a:r>
                      <a:r>
                        <a:rPr lang="en-US" sz="3600" b="1" dirty="0">
                          <a:effectLst/>
                        </a:rPr>
                        <a:t> H.M.S.I</a:t>
                      </a:r>
                    </a:p>
                  </a:txBody>
                  <a:tcPr marL="60519" marR="60519" marT="30259" marB="3025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474"/>
                        </a:lnSpc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  <a:latin typeface="+mn-lt"/>
                          <a:ea typeface="Poppins Bold"/>
                          <a:cs typeface="Poppins Bold"/>
                          <a:sym typeface="Poppins Bold"/>
                        </a:rPr>
                        <a:t>Cloud and Visibility Prediction</a:t>
                      </a:r>
                    </a:p>
                    <a:p>
                      <a:pPr algn="l">
                        <a:lnSpc>
                          <a:spcPts val="7474"/>
                        </a:lnSpc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  <a:latin typeface="+mn-lt"/>
                          <a:ea typeface="Poppins Bold"/>
                          <a:cs typeface="Poppins Bold"/>
                          <a:sym typeface="Poppins Bold"/>
                        </a:rPr>
                        <a:t>Model for aviation Safety</a:t>
                      </a:r>
                    </a:p>
                  </a:txBody>
                  <a:tcPr marL="60519" marR="60519" marT="30259" marB="3025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630386"/>
                  </a:ext>
                </a:extLst>
              </a:tr>
              <a:tr h="1323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 dirty="0">
                          <a:effectLst/>
                        </a:rPr>
                        <a:t>Jayathilaka P.K.V.K</a:t>
                      </a:r>
                    </a:p>
                  </a:txBody>
                  <a:tcPr marL="60519" marR="60519" marT="30259" marB="3025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 dirty="0">
                          <a:effectLst/>
                        </a:rPr>
                        <a:t>Relative Humidity &amp; QNH Stability Model</a:t>
                      </a:r>
                    </a:p>
                  </a:txBody>
                  <a:tcPr marL="60519" marR="60519" marT="30259" marB="3025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714636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03128129-AC69-DBA9-6C88-A7C7ACF48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438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112831" y="1104900"/>
            <a:ext cx="10833344" cy="1124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99"/>
              </a:lnSpc>
            </a:pPr>
            <a:r>
              <a:rPr lang="en-US" sz="78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SANKADEEPA W.D.I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2831" y="9313904"/>
            <a:ext cx="3535369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11630" y="9663927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77546" y="7247884"/>
            <a:ext cx="5428743" cy="462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NORTHEAST MONSOON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219700"/>
            <a:ext cx="17040506" cy="199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7474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Pressure-Humidity-Temperature Coupled Prediction Model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5231" y="2696546"/>
            <a:ext cx="10833344" cy="1124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99"/>
              </a:lnSpc>
            </a:pPr>
            <a:r>
              <a:rPr lang="en-US" sz="78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IT22113986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3820316" y="234204"/>
            <a:ext cx="3990556" cy="3990556"/>
            <a:chOff x="0" y="0"/>
            <a:chExt cx="2376195" cy="23761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76170" cy="2376170"/>
            </a:xfrm>
            <a:custGeom>
              <a:avLst/>
              <a:gdLst/>
              <a:ahLst/>
              <a:cxnLst/>
              <a:rect l="l" t="t" r="r" b="b"/>
              <a:pathLst>
                <a:path w="2376170" h="2376170">
                  <a:moveTo>
                    <a:pt x="1188085" y="0"/>
                  </a:moveTo>
                  <a:cubicBezTo>
                    <a:pt x="531876" y="0"/>
                    <a:pt x="0" y="531876"/>
                    <a:pt x="0" y="1188085"/>
                  </a:cubicBezTo>
                  <a:cubicBezTo>
                    <a:pt x="0" y="1844294"/>
                    <a:pt x="531876" y="2376170"/>
                    <a:pt x="1188085" y="2376170"/>
                  </a:cubicBezTo>
                  <a:cubicBezTo>
                    <a:pt x="1844294" y="2376170"/>
                    <a:pt x="2376170" y="1844294"/>
                    <a:pt x="2376170" y="1188085"/>
                  </a:cubicBezTo>
                  <a:cubicBezTo>
                    <a:pt x="2376170" y="531876"/>
                    <a:pt x="1844294" y="0"/>
                    <a:pt x="1188085" y="0"/>
                  </a:cubicBezTo>
                  <a:close/>
                </a:path>
              </a:pathLst>
            </a:custGeom>
            <a:blipFill>
              <a:blip r:embed="rId3"/>
              <a:stretch>
                <a:fillRect l="-3726" t="-11945" r="-180" b="-263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74654" y="684112"/>
            <a:ext cx="14639106" cy="1600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4"/>
              </a:lnSpc>
            </a:pPr>
            <a:r>
              <a:rPr lang="en-US" sz="5283" b="1" i="1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PRESSURE-HUMIDITY-TEMPERATURE COUPLED PREDICTION MODEL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8558" y="3480682"/>
            <a:ext cx="9673423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Contribution to Overall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4654" y="4726291"/>
            <a:ext cx="9822717" cy="4661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7" lvl="1" indent="-356233" algn="l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predict on North east monsoon</a:t>
            </a:r>
          </a:p>
          <a:p>
            <a:pPr marL="712467" lvl="1" indent="-356233" algn="l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temperature, pressure, and humidity  interact with each other at  airport level</a:t>
            </a:r>
          </a:p>
          <a:p>
            <a:pPr marL="712467" lvl="1" indent="-356233" algn="l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Support hyper-local aviation weather forecasting</a:t>
            </a:r>
          </a:p>
          <a:p>
            <a:pPr marL="712467" lvl="1" indent="-356233" algn="l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Develop a hybrid weather prediction model</a:t>
            </a:r>
          </a:p>
          <a:p>
            <a:pPr marL="356234" lvl="1" algn="l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  (</a:t>
            </a:r>
            <a:r>
              <a:rPr lang="en-US" sz="20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Multilinear regression- parameter relationship &amp;  LSTM- weather pattern </a:t>
            </a:r>
            <a:r>
              <a:rPr lang="en-US" sz="32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) 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endParaRPr lang="en-US" sz="32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4619"/>
              </a:lnSpc>
              <a:spcBef>
                <a:spcPct val="0"/>
              </a:spcBef>
            </a:pPr>
            <a:endParaRPr lang="en-US" sz="32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106550" y="3480682"/>
            <a:ext cx="6348481" cy="2144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61"/>
              </a:lnSpc>
              <a:spcBef>
                <a:spcPct val="0"/>
              </a:spcBef>
            </a:pPr>
            <a:r>
              <a:rPr lang="en-US" sz="4043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 Novelty</a:t>
            </a:r>
          </a:p>
          <a:p>
            <a:pPr marL="567487" lvl="1" indent="-283744" algn="just">
              <a:lnSpc>
                <a:spcPts val="3679"/>
              </a:lnSpc>
              <a:spcBef>
                <a:spcPct val="0"/>
              </a:spcBef>
              <a:buFont typeface="Arial"/>
              <a:buChar char="•"/>
            </a:pPr>
            <a:r>
              <a:rPr lang="en-US" sz="2628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Pressure-Humidity-Temperature </a:t>
            </a:r>
          </a:p>
          <a:p>
            <a:pPr algn="just">
              <a:lnSpc>
                <a:spcPts val="3679"/>
              </a:lnSpc>
              <a:spcBef>
                <a:spcPct val="0"/>
              </a:spcBef>
            </a:pPr>
            <a:r>
              <a:rPr lang="en-US" sz="2628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      Coupled Prediction Model</a:t>
            </a:r>
          </a:p>
          <a:p>
            <a:pPr algn="just">
              <a:lnSpc>
                <a:spcPts val="3679"/>
              </a:lnSpc>
              <a:spcBef>
                <a:spcPct val="0"/>
              </a:spcBef>
            </a:pPr>
            <a:endParaRPr lang="en-US" sz="2628" b="1" dirty="0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12831" y="9313904"/>
            <a:ext cx="3535369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11630" y="9663927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107025" y="5143500"/>
            <a:ext cx="6929239" cy="4227554"/>
            <a:chOff x="0" y="0"/>
            <a:chExt cx="1332232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2232" cy="812800"/>
            </a:xfrm>
            <a:custGeom>
              <a:avLst/>
              <a:gdLst/>
              <a:ahLst/>
              <a:cxnLst/>
              <a:rect l="l" t="t" r="r" b="b"/>
              <a:pathLst>
                <a:path w="1332232" h="812800">
                  <a:moveTo>
                    <a:pt x="52512" y="0"/>
                  </a:moveTo>
                  <a:lnTo>
                    <a:pt x="1279720" y="0"/>
                  </a:lnTo>
                  <a:cubicBezTo>
                    <a:pt x="1308722" y="0"/>
                    <a:pt x="1332232" y="23511"/>
                    <a:pt x="1332232" y="52512"/>
                  </a:cubicBezTo>
                  <a:lnTo>
                    <a:pt x="1332232" y="760288"/>
                  </a:lnTo>
                  <a:cubicBezTo>
                    <a:pt x="1332232" y="789289"/>
                    <a:pt x="1308722" y="812800"/>
                    <a:pt x="1279720" y="812800"/>
                  </a:cubicBezTo>
                  <a:lnTo>
                    <a:pt x="52512" y="812800"/>
                  </a:lnTo>
                  <a:cubicBezTo>
                    <a:pt x="23511" y="812800"/>
                    <a:pt x="0" y="789289"/>
                    <a:pt x="0" y="760288"/>
                  </a:cubicBezTo>
                  <a:lnTo>
                    <a:pt x="0" y="52512"/>
                  </a:lnTo>
                  <a:cubicBezTo>
                    <a:pt x="0" y="23511"/>
                    <a:pt x="23511" y="0"/>
                    <a:pt x="52512" y="0"/>
                  </a:cubicBezTo>
                  <a:close/>
                </a:path>
              </a:pathLst>
            </a:custGeom>
            <a:blipFill>
              <a:blip r:embed="rId3"/>
              <a:stretch>
                <a:fillRect l="-10406" r="-1040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765422" y="1781474"/>
            <a:ext cx="8002083" cy="3667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  <a:spcBef>
                <a:spcPct val="0"/>
              </a:spcBef>
            </a:pPr>
            <a:endParaRPr dirty="0"/>
          </a:p>
          <a:p>
            <a:pPr marL="561341" lvl="1" indent="-28067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Northeast Monsoon causes sudden weather changes.</a:t>
            </a:r>
          </a:p>
          <a:p>
            <a:pPr algn="l">
              <a:lnSpc>
                <a:spcPts val="260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561341" lvl="1" indent="-28067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Large Global model falling(</a:t>
            </a:r>
            <a:r>
              <a:rPr lang="en-US" sz="26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gef</a:t>
            </a: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ecmwf</a:t>
            </a: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)</a:t>
            </a:r>
          </a:p>
          <a:p>
            <a:pPr algn="l">
              <a:lnSpc>
                <a:spcPts val="260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561341" lvl="1" indent="-28067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Fail to capture Localized data.</a:t>
            </a:r>
          </a:p>
          <a:p>
            <a:pPr algn="l">
              <a:lnSpc>
                <a:spcPts val="260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561341" lvl="1" indent="-280670" algn="l">
              <a:lnSpc>
                <a:spcPts val="260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Grid cell represent about 20KM and applied same prediction in all areas .</a:t>
            </a:r>
          </a:p>
          <a:p>
            <a:pPr algn="l">
              <a:lnSpc>
                <a:spcPts val="260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50054" y="1426448"/>
            <a:ext cx="2500670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0054" y="2434692"/>
            <a:ext cx="7511413" cy="1802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Develop a hyper localized model that predicts temperature, humidity and pressure together.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Aviation safety and decision Making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9696" y="5285468"/>
            <a:ext cx="6413737" cy="3550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4000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 Sub-Objectives</a:t>
            </a:r>
          </a:p>
          <a:p>
            <a:pPr marL="565293" lvl="1" indent="-282647" algn="l">
              <a:lnSpc>
                <a:spcPts val="3665"/>
              </a:lnSpc>
              <a:spcBef>
                <a:spcPct val="0"/>
              </a:spcBef>
              <a:buFont typeface="Arial"/>
              <a:buChar char="•"/>
            </a:pPr>
            <a:r>
              <a:rPr lang="en-US" sz="261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Collect airport weather data</a:t>
            </a:r>
          </a:p>
          <a:p>
            <a:pPr marL="565293" lvl="1" indent="-282647" algn="l">
              <a:lnSpc>
                <a:spcPts val="3665"/>
              </a:lnSpc>
              <a:spcBef>
                <a:spcPct val="0"/>
              </a:spcBef>
              <a:buFont typeface="Arial"/>
              <a:buChar char="•"/>
            </a:pPr>
            <a:r>
              <a:rPr lang="en-US" sz="261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Train a multi-variable ML model</a:t>
            </a:r>
          </a:p>
          <a:p>
            <a:pPr marL="565293" lvl="1" indent="-282647" algn="l">
              <a:lnSpc>
                <a:spcPts val="3665"/>
              </a:lnSpc>
              <a:spcBef>
                <a:spcPct val="0"/>
              </a:spcBef>
              <a:buFont typeface="Arial"/>
              <a:buChar char="•"/>
            </a:pPr>
            <a:r>
              <a:rPr lang="en-US" sz="261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Perform forecast verification</a:t>
            </a:r>
          </a:p>
          <a:p>
            <a:pPr marL="565293" lvl="1" indent="-282647" algn="l">
              <a:lnSpc>
                <a:spcPts val="3665"/>
              </a:lnSpc>
              <a:spcBef>
                <a:spcPct val="0"/>
              </a:spcBef>
              <a:buFont typeface="Arial"/>
              <a:buChar char="•"/>
            </a:pPr>
            <a:r>
              <a:rPr lang="en-US" sz="261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Visualize validated weather patterns</a:t>
            </a:r>
          </a:p>
          <a:p>
            <a:pPr algn="l">
              <a:lnSpc>
                <a:spcPts val="3665"/>
              </a:lnSpc>
              <a:spcBef>
                <a:spcPct val="0"/>
              </a:spcBef>
            </a:pPr>
            <a:r>
              <a:rPr lang="en-US" sz="261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       (heatmap , wind patterns)</a:t>
            </a:r>
          </a:p>
          <a:p>
            <a:pPr algn="ctr">
              <a:lnSpc>
                <a:spcPts val="4156"/>
              </a:lnSpc>
              <a:spcBef>
                <a:spcPct val="0"/>
              </a:spcBef>
            </a:pPr>
            <a:endParaRPr lang="en-US" sz="2618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31417" y="9313905"/>
            <a:ext cx="3516783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82902" y="9576197"/>
            <a:ext cx="2409593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IT22113986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91204" y="9572808"/>
            <a:ext cx="3949772" cy="503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Sankadeepa</a:t>
            </a: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W.D.I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56260" y="9673452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22980" y="1115298"/>
            <a:ext cx="2203698" cy="72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7278" y="196453"/>
            <a:ext cx="19286568" cy="535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900" b="1" i="1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PRESSURE-HUMIDITY-TEMPERATURE COUPLED PREDICTION MODEL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129876" y="9258300"/>
            <a:ext cx="3622614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56641" y="9624970"/>
            <a:ext cx="2565394" cy="503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IT22113986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26185" y="9661060"/>
            <a:ext cx="3625924" cy="503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Sankadeepa</a:t>
            </a: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W.D.I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56260" y="9673452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278" y="396875"/>
            <a:ext cx="19286568" cy="114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400" b="1" i="1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PRESSURE-HUMIDITY-TEMPERATURE COUPLED PREDICTION MODEL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4186" y="2148067"/>
            <a:ext cx="3459242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2060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0054" y="3150732"/>
            <a:ext cx="5861566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Aviation meteorology analysis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Time-series machine learning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Multi-linear regression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68804" y="2449692"/>
            <a:ext cx="5688806" cy="2564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endParaRPr/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Multiple Linear Regression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LSTM (best for weather time series)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Neural Network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34186" y="5297170"/>
            <a:ext cx="6932894" cy="142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2060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 and Evaluation </a:t>
            </a:r>
          </a:p>
          <a:p>
            <a:pPr algn="l">
              <a:lnSpc>
                <a:spcPts val="5599"/>
              </a:lnSpc>
            </a:pPr>
            <a:endParaRPr lang="en-US" sz="3999" b="1">
              <a:solidFill>
                <a:srgbClr val="00206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656910" y="5470525"/>
            <a:ext cx="8631090" cy="393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endParaRPr/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Historical meteorological data will be used.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Dataset includes temperature, humidity, and atmospheric pressure.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obtained from meteorological or airport weather observation sources.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 personal or sensitive information is included.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968804" y="2302594"/>
            <a:ext cx="3600926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2060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30562" y="5297170"/>
            <a:ext cx="6561297" cy="142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2060"/>
                </a:solidFill>
                <a:latin typeface="Poppins Bold"/>
                <a:ea typeface="Poppins Bold"/>
                <a:cs typeface="Poppins Bold"/>
                <a:sym typeface="Poppins Bold"/>
              </a:rPr>
              <a:t>Data Availability &amp; Ethics</a:t>
            </a:r>
          </a:p>
          <a:p>
            <a:pPr algn="l">
              <a:lnSpc>
                <a:spcPts val="5599"/>
              </a:lnSpc>
            </a:pPr>
            <a:endParaRPr lang="en-US" sz="3999" b="1">
              <a:solidFill>
                <a:srgbClr val="00206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01477" y="5675989"/>
            <a:ext cx="8213923" cy="347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endParaRPr dirty="0"/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Compare predictions with METAR aviation weather reports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Test the model using historical weather data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Compare predicted results with actual weather data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Compare results with METAR and TAF forecasts</a:t>
            </a: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28880" y="4140395"/>
            <a:ext cx="6479777" cy="4859833"/>
          </a:xfrm>
          <a:custGeom>
            <a:avLst/>
            <a:gdLst/>
            <a:ahLst/>
            <a:cxnLst/>
            <a:rect l="l" t="t" r="r" b="b"/>
            <a:pathLst>
              <a:path w="6479777" h="4859833">
                <a:moveTo>
                  <a:pt x="0" y="0"/>
                </a:moveTo>
                <a:lnTo>
                  <a:pt x="6479777" y="0"/>
                </a:lnTo>
                <a:lnTo>
                  <a:pt x="6479777" y="4859833"/>
                </a:lnTo>
                <a:lnTo>
                  <a:pt x="0" y="4859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859976" y="1798644"/>
            <a:ext cx="4014083" cy="4024376"/>
          </a:xfrm>
          <a:custGeom>
            <a:avLst/>
            <a:gdLst/>
            <a:ahLst/>
            <a:cxnLst/>
            <a:rect l="l" t="t" r="r" b="b"/>
            <a:pathLst>
              <a:path w="4014083" h="4024376">
                <a:moveTo>
                  <a:pt x="0" y="0"/>
                </a:moveTo>
                <a:lnTo>
                  <a:pt x="4014083" y="0"/>
                </a:lnTo>
                <a:lnTo>
                  <a:pt x="4014083" y="4024376"/>
                </a:lnTo>
                <a:lnTo>
                  <a:pt x="0" y="40243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12831" y="9313904"/>
            <a:ext cx="3457837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50884" y="9673452"/>
            <a:ext cx="2238816" cy="503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IT22113986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69916" y="9682203"/>
            <a:ext cx="3745884" cy="51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Sankadeepa</a:t>
            </a: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W.D.I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56260" y="9673452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278" y="387350"/>
            <a:ext cx="19286568" cy="123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700" b="1" i="1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PRESSURE-HUMIDITY-TEMPERATURE COUPLED PREDICTION MODEL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95526" y="1512570"/>
            <a:ext cx="4549735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206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8880" y="2325232"/>
            <a:ext cx="814238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Input → Weather Data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Process → ML Prediction Model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Output → Forecast Temperature, Pressure, Humidity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34662" y="5880170"/>
            <a:ext cx="4724638" cy="281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2060"/>
                </a:solidFill>
                <a:latin typeface="Poppins Bold"/>
                <a:ea typeface="Poppins Bold"/>
                <a:cs typeface="Poppins Bold"/>
                <a:sym typeface="Poppins Bold"/>
              </a:rPr>
              <a:t>Dependencies</a:t>
            </a:r>
          </a:p>
          <a:p>
            <a:pPr algn="ctr">
              <a:lnSpc>
                <a:spcPts val="5599"/>
              </a:lnSpc>
            </a:pPr>
            <a:endParaRPr lang="en-US" sz="3999" b="1">
              <a:solidFill>
                <a:srgbClr val="00206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Airport weather datasets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Forecast verification module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Visualization component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112831" y="1104900"/>
            <a:ext cx="10833344" cy="1124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99"/>
              </a:lnSpc>
            </a:pPr>
            <a:r>
              <a:rPr lang="en-US" sz="78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Ranasinghe R.A.A.D.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2831" y="9313904"/>
            <a:ext cx="3687769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00683" y="9659671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35510" y="6504389"/>
            <a:ext cx="5428743" cy="49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Southwest Monsoon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3747" y="5219700"/>
            <a:ext cx="17040506" cy="199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7474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Wind Pattern Prediction Model for </a:t>
            </a:r>
          </a:p>
          <a:p>
            <a:pPr algn="l">
              <a:lnSpc>
                <a:spcPts val="7474"/>
              </a:lnSpc>
            </a:pPr>
            <a:endParaRPr lang="en-US" sz="7474" b="1">
              <a:solidFill>
                <a:srgbClr val="FF313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12831" y="2305682"/>
            <a:ext cx="10833344" cy="1124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99"/>
              </a:lnSpc>
            </a:pPr>
            <a:r>
              <a:rPr lang="en-US" sz="78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IT22269720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665371" y="580709"/>
            <a:ext cx="4079275" cy="407927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t="-16747" b="-1674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02574" y="636263"/>
            <a:ext cx="14169070" cy="194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1" i="1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WIND PATTERN PREDICTION MODEL FOR SOUTHWEST MONSOON</a:t>
            </a:r>
          </a:p>
          <a:p>
            <a:pPr algn="l">
              <a:lnSpc>
                <a:spcPts val="5000"/>
              </a:lnSpc>
            </a:pPr>
            <a:endParaRPr lang="en-US" sz="5000" b="1" i="1">
              <a:solidFill>
                <a:srgbClr val="FF3131"/>
              </a:solidFill>
              <a:latin typeface="Lora Bold Italics"/>
              <a:ea typeface="Lora Bold Italics"/>
              <a:cs typeface="Lora Bold Italics"/>
              <a:sym typeface="Lora Bold Itali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50054" y="3297052"/>
            <a:ext cx="9673423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Contribution to Overall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0054" y="4293566"/>
            <a:ext cx="8093080" cy="227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Predict wind speed and wind direction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Identify wind variations affecting aviation operations</a:t>
            </a:r>
          </a:p>
          <a:p>
            <a:pPr marL="561341" lvl="1" indent="-280670" algn="just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Support runway wind analysis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375265" y="5936154"/>
            <a:ext cx="9195025" cy="257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Novelty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Convert wind predictions into crosswind and headwind components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Provides runway-specific aviation guidance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b="1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12831" y="9313904"/>
            <a:ext cx="3535369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61934" y="9691729"/>
            <a:ext cx="2539066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IT22269720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48936" y="9682204"/>
            <a:ext cx="374808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Ranasinghe R.A.A.D.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56260" y="9673452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019701" y="4902025"/>
            <a:ext cx="6741555" cy="4174687"/>
          </a:xfrm>
          <a:custGeom>
            <a:avLst/>
            <a:gdLst/>
            <a:ahLst/>
            <a:cxnLst/>
            <a:rect l="l" t="t" r="r" b="b"/>
            <a:pathLst>
              <a:path w="6741555" h="4174687">
                <a:moveTo>
                  <a:pt x="0" y="0"/>
                </a:moveTo>
                <a:lnTo>
                  <a:pt x="6741555" y="0"/>
                </a:lnTo>
                <a:lnTo>
                  <a:pt x="6741555" y="4174687"/>
                </a:lnTo>
                <a:lnTo>
                  <a:pt x="0" y="4174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508" t="-6318" r="-13636" b="-48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6289" y="95250"/>
            <a:ext cx="18191711" cy="257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i="1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WIND PATTERN PREDICTION MODEL FOR SOUTHWEST MONSOON</a:t>
            </a:r>
          </a:p>
          <a:p>
            <a:pPr algn="ctr">
              <a:lnSpc>
                <a:spcPts val="5000"/>
              </a:lnSpc>
            </a:pPr>
            <a:endParaRPr lang="en-US" sz="5000" b="1" i="1">
              <a:solidFill>
                <a:srgbClr val="FF3131"/>
              </a:solidFill>
              <a:latin typeface="Lora Bold Italics"/>
              <a:ea typeface="Lora Bold Italics"/>
              <a:cs typeface="Lora Bold Italics"/>
              <a:sym typeface="Lora Bold Italics"/>
            </a:endParaRPr>
          </a:p>
          <a:p>
            <a:pPr algn="ctr">
              <a:lnSpc>
                <a:spcPts val="5000"/>
              </a:lnSpc>
            </a:pPr>
            <a:endParaRPr lang="en-US" sz="5000" b="1" i="1">
              <a:solidFill>
                <a:srgbClr val="FF3131"/>
              </a:solidFill>
              <a:latin typeface="Lora Bold Italics"/>
              <a:ea typeface="Lora Bold Italics"/>
              <a:cs typeface="Lora Bold Italics"/>
              <a:sym typeface="Lora Bold Itali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50054" y="1861232"/>
            <a:ext cx="11070209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Definition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66167" y="1861232"/>
            <a:ext cx="8448953" cy="210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Develop a machine learning model for wind pattern prediction during the Southwest Monsoon.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12831" y="9313904"/>
            <a:ext cx="3459169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61934" y="9691729"/>
            <a:ext cx="2462866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IT22269720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48936" y="9682204"/>
            <a:ext cx="374808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Ranasinghe R.A.A.D.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56260" y="9673452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9973" y="2758302"/>
            <a:ext cx="8439864" cy="180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Wind is a critical factor in aircraft take-off and landing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Sudden wind changes create aviation hazards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Existing forecasts models low accuracy to predict specific wind prediction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91079" y="5278125"/>
            <a:ext cx="5768355" cy="317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Sub-Objectives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Analyze historical wind patterns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Train ML models for wind prediction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Evaluate wind forecast accuracy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Develop pilot interaction platfome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6289" y="95250"/>
            <a:ext cx="18191711" cy="257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i="1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WIND PATTERN PREDICTION MODEL FOR SOUTHWEST MONSOON</a:t>
            </a:r>
          </a:p>
          <a:p>
            <a:pPr algn="ctr">
              <a:lnSpc>
                <a:spcPts val="5000"/>
              </a:lnSpc>
            </a:pPr>
            <a:endParaRPr lang="en-US" sz="5000" b="1" i="1">
              <a:solidFill>
                <a:srgbClr val="FF3131"/>
              </a:solidFill>
              <a:latin typeface="Lora Bold Italics"/>
              <a:ea typeface="Lora Bold Italics"/>
              <a:cs typeface="Lora Bold Italics"/>
              <a:sym typeface="Lora Bold Italics"/>
            </a:endParaRPr>
          </a:p>
          <a:p>
            <a:pPr algn="ctr">
              <a:lnSpc>
                <a:spcPts val="5000"/>
              </a:lnSpc>
            </a:pPr>
            <a:endParaRPr lang="en-US" sz="5000" b="1" i="1">
              <a:solidFill>
                <a:srgbClr val="FF3131"/>
              </a:solidFill>
              <a:latin typeface="Lora Bold Italics"/>
              <a:ea typeface="Lora Bold Italics"/>
              <a:cs typeface="Lora Bold Italics"/>
              <a:sym typeface="Lora Bold Itali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90405" y="2494915"/>
            <a:ext cx="4600019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908042"/>
            <a:ext cx="4736439" cy="302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Machine Learning models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visualization tools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12831" y="9313904"/>
            <a:ext cx="3459169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61934" y="9673452"/>
            <a:ext cx="2386666" cy="503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IT22269720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48936" y="9682204"/>
            <a:ext cx="374808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Ranasinghe R.A.A.D.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56260" y="9673452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0405" y="2774635"/>
            <a:ext cx="8439864" cy="227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endParaRPr/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Time-series wind pattern analysis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Machine learning based forecasting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Aviation wind hazard assessment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022980" y="5908042"/>
            <a:ext cx="7236320" cy="3107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Data availability &amp; Ethics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Historical wind datasets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Meteorological data only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 personal data usage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022980" y="2552065"/>
            <a:ext cx="5768221" cy="210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Compare with official aviation weather forecasts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6289" y="95250"/>
            <a:ext cx="18191711" cy="257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i="1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WIND PATTERN PREDICTION MODEL FOR SOUTHWEST MONSOON</a:t>
            </a:r>
          </a:p>
          <a:p>
            <a:pPr algn="ctr">
              <a:lnSpc>
                <a:spcPts val="5000"/>
              </a:lnSpc>
            </a:pPr>
            <a:endParaRPr lang="en-US" sz="5000" b="1" i="1">
              <a:solidFill>
                <a:srgbClr val="FF3131"/>
              </a:solidFill>
              <a:latin typeface="Lora Bold Italics"/>
              <a:ea typeface="Lora Bold Italics"/>
              <a:cs typeface="Lora Bold Italics"/>
              <a:sym typeface="Lora Bold Italics"/>
            </a:endParaRPr>
          </a:p>
          <a:p>
            <a:pPr algn="ctr">
              <a:lnSpc>
                <a:spcPts val="5000"/>
              </a:lnSpc>
            </a:pPr>
            <a:endParaRPr lang="en-US" sz="5000" b="1" i="1">
              <a:solidFill>
                <a:srgbClr val="FF3131"/>
              </a:solidFill>
              <a:latin typeface="Lora Bold Italics"/>
              <a:ea typeface="Lora Bold Italics"/>
              <a:cs typeface="Lora Bold Italics"/>
              <a:sym typeface="Lora Bold Itali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12831" y="9313904"/>
            <a:ext cx="3748088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61934" y="9691729"/>
            <a:ext cx="2310466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IT22269720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48936" y="9682204"/>
            <a:ext cx="374808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Ranasinghe R.A.A.D.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56260" y="9673452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44364" y="4076417"/>
            <a:ext cx="7840467" cy="3629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Dependencies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Pilot portal module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Weather dataset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Prediction engine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154932" y="2083787"/>
            <a:ext cx="6614004" cy="210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Overview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Input → Wind data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Process → ML Wind Model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Output → Runway wind prediction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441805" y="4969353"/>
            <a:ext cx="7379606" cy="4151029"/>
          </a:xfrm>
          <a:custGeom>
            <a:avLst/>
            <a:gdLst/>
            <a:ahLst/>
            <a:cxnLst/>
            <a:rect l="l" t="t" r="r" b="b"/>
            <a:pathLst>
              <a:path w="7379606" h="4151029">
                <a:moveTo>
                  <a:pt x="0" y="0"/>
                </a:moveTo>
                <a:lnTo>
                  <a:pt x="7379606" y="0"/>
                </a:lnTo>
                <a:lnTo>
                  <a:pt x="7379606" y="4151028"/>
                </a:lnTo>
                <a:lnTo>
                  <a:pt x="0" y="41510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31221" y="403890"/>
            <a:ext cx="10833344" cy="2124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99"/>
              </a:lnSpc>
            </a:pPr>
            <a:r>
              <a:rPr lang="en-US" sz="78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Jayawardhana H.M.S.I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2831" y="9313904"/>
            <a:ext cx="3611569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782800" y="9685676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2167" y="7007223"/>
            <a:ext cx="7616745" cy="49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First Inter-Monsoon period.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1221" y="4958805"/>
            <a:ext cx="17040506" cy="1970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7474" b="1" dirty="0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Cloud and Visibility Prediction Model for aviation Safety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0054" y="2906074"/>
            <a:ext cx="10833344" cy="1124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99"/>
              </a:lnSpc>
            </a:pPr>
            <a:r>
              <a:rPr lang="en-US" sz="78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IT22619976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148987" y="601324"/>
            <a:ext cx="4515266" cy="4457100"/>
            <a:chOff x="0" y="0"/>
            <a:chExt cx="899672" cy="8880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9672" cy="888082"/>
            </a:xfrm>
            <a:custGeom>
              <a:avLst/>
              <a:gdLst/>
              <a:ahLst/>
              <a:cxnLst/>
              <a:rect l="l" t="t" r="r" b="b"/>
              <a:pathLst>
                <a:path w="899672" h="888082">
                  <a:moveTo>
                    <a:pt x="449836" y="0"/>
                  </a:moveTo>
                  <a:cubicBezTo>
                    <a:pt x="201398" y="0"/>
                    <a:pt x="0" y="198804"/>
                    <a:pt x="0" y="444041"/>
                  </a:cubicBezTo>
                  <a:cubicBezTo>
                    <a:pt x="0" y="689278"/>
                    <a:pt x="201398" y="888082"/>
                    <a:pt x="449836" y="888082"/>
                  </a:cubicBezTo>
                  <a:cubicBezTo>
                    <a:pt x="698273" y="888082"/>
                    <a:pt x="899672" y="689278"/>
                    <a:pt x="899672" y="444041"/>
                  </a:cubicBezTo>
                  <a:cubicBezTo>
                    <a:pt x="899672" y="198804"/>
                    <a:pt x="698273" y="0"/>
                    <a:pt x="449836" y="0"/>
                  </a:cubicBezTo>
                  <a:close/>
                </a:path>
              </a:pathLst>
            </a:custGeom>
            <a:blipFill>
              <a:blip r:embed="rId3"/>
              <a:stretch>
                <a:fillRect l="-12842" r="-12842" b="-6976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87278" y="442685"/>
            <a:ext cx="14169070" cy="258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5400" b="1" dirty="0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Cloud and Visibility Prediction Model for aviation Safety</a:t>
            </a:r>
          </a:p>
          <a:p>
            <a:pPr algn="l">
              <a:lnSpc>
                <a:spcPts val="5000"/>
              </a:lnSpc>
            </a:pPr>
            <a:endParaRPr lang="en-US" sz="5000" b="1" i="1" dirty="0">
              <a:solidFill>
                <a:srgbClr val="FF3131"/>
              </a:solidFill>
              <a:latin typeface="Lora Bold Italics"/>
              <a:ea typeface="Lora Bold Italics"/>
              <a:cs typeface="Lora Bold Italics"/>
              <a:sym typeface="Lora Bold Itali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12841" y="3560535"/>
            <a:ext cx="9673423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Contribution to Overall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2841" y="4452496"/>
            <a:ext cx="8093080" cy="2263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Detect sudden weather changes that can affect aviation operations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Monitor cloud ceiling and visibility reduction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Improve aviation weather safety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296400" y="6667500"/>
            <a:ext cx="9195025" cy="2982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Novelty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Specialized model for First Inter-Monsoon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Detect fog and low cloud conditions which are the main reasons for visibility reduction in aviation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b="1" dirty="0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b="1" dirty="0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12831" y="9313904"/>
            <a:ext cx="3459169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67232" y="9691729"/>
            <a:ext cx="2503944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IT22619976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71176" y="9673452"/>
            <a:ext cx="4354400" cy="523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Jayawardhana</a:t>
            </a: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H.M.S.I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810416" y="9664700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878794" y="4567621"/>
            <a:ext cx="7312619" cy="4766879"/>
          </a:xfrm>
          <a:custGeom>
            <a:avLst/>
            <a:gdLst/>
            <a:ahLst/>
            <a:cxnLst/>
            <a:rect l="l" t="t" r="r" b="b"/>
            <a:pathLst>
              <a:path w="7312619" h="4766879">
                <a:moveTo>
                  <a:pt x="0" y="0"/>
                </a:moveTo>
                <a:lnTo>
                  <a:pt x="7312619" y="0"/>
                </a:lnTo>
                <a:lnTo>
                  <a:pt x="7312619" y="4766879"/>
                </a:lnTo>
                <a:lnTo>
                  <a:pt x="0" y="4766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917" b="-101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97070" y="2444750"/>
            <a:ext cx="11070209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Definition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66167" y="1861232"/>
            <a:ext cx="9210953" cy="210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Develop a ML model to detect sudden atmospheric 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changes.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12831" y="9313904"/>
            <a:ext cx="3512240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9793" y="3094990"/>
            <a:ext cx="8439864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Rapid weather changes reduce pilot visibility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Fog and low clouds can disrupt flight operation</a:t>
            </a: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491079" y="5278125"/>
            <a:ext cx="5370340" cy="5415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Sub-Objectives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Analyze visibility patterns using historical weather data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Detect fog formation &amp; sudden visibility reduction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Train ML detection models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Process flight time inputs that can analyze weather conditions during the relevant flight period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50054" y="669337"/>
            <a:ext cx="16458845" cy="256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5400" b="1" dirty="0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Cloud and Visibility Prediction Model for aviation Safety</a:t>
            </a:r>
          </a:p>
          <a:p>
            <a:pPr algn="l">
              <a:lnSpc>
                <a:spcPts val="5000"/>
              </a:lnSpc>
            </a:pPr>
            <a:endParaRPr lang="en-US" sz="5000" b="1" i="1" dirty="0">
              <a:solidFill>
                <a:srgbClr val="FF3131"/>
              </a:solidFill>
              <a:latin typeface="Lora Bold Italics"/>
              <a:ea typeface="Lora Bold Italics"/>
              <a:cs typeface="Lora Bold Italics"/>
              <a:sym typeface="Lora Bold Itali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168964" y="9615143"/>
            <a:ext cx="2410719" cy="503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IT22619976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23576" y="9615142"/>
            <a:ext cx="4220824" cy="514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Jayawardhana</a:t>
            </a: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H.M.S.I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963778" y="9624668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2445" y="598170"/>
            <a:ext cx="18191711" cy="3207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5400" b="1" dirty="0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Cloud and Visibility Prediction Model for aviation Safety</a:t>
            </a:r>
          </a:p>
          <a:p>
            <a:pPr algn="ctr">
              <a:lnSpc>
                <a:spcPts val="5000"/>
              </a:lnSpc>
            </a:pPr>
            <a:endParaRPr lang="en-US" sz="5000" b="1" i="1" dirty="0">
              <a:solidFill>
                <a:srgbClr val="FF3131"/>
              </a:solidFill>
              <a:latin typeface="Lora Bold Italics"/>
              <a:ea typeface="Lora Bold Italics"/>
              <a:cs typeface="Lora Bold Italics"/>
              <a:sym typeface="Lora Bold Italics"/>
            </a:endParaRPr>
          </a:p>
          <a:p>
            <a:pPr algn="ctr">
              <a:lnSpc>
                <a:spcPts val="5000"/>
              </a:lnSpc>
            </a:pPr>
            <a:endParaRPr lang="en-US" sz="5000" b="1" i="1" dirty="0">
              <a:solidFill>
                <a:srgbClr val="FF3131"/>
              </a:solidFill>
              <a:latin typeface="Lora Bold Italics"/>
              <a:ea typeface="Lora Bold Italics"/>
              <a:cs typeface="Lora Bold Italics"/>
              <a:sym typeface="Lora Bold Itali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78443" y="2494915"/>
            <a:ext cx="4600019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8808" y="5689920"/>
            <a:ext cx="4736439" cy="393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Machine Learning models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preprocessing tools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12831" y="9313904"/>
            <a:ext cx="3687769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8443" y="3231835"/>
            <a:ext cx="8439864" cy="226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Cloud ceiling analysis to monitor how cloud height changes over time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Visibility pattern detection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Machine learning classification</a:t>
            </a: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022980" y="5767072"/>
            <a:ext cx="6893420" cy="26454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Data availability &amp; Ethics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Aviation weather dataset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 personal data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022980" y="2552065"/>
            <a:ext cx="5768221" cy="164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Compare predictions with actual weather observations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19632" y="9615143"/>
            <a:ext cx="2305168" cy="503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IT22619976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48753" y="9635739"/>
            <a:ext cx="4449424" cy="503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Jayawardhana</a:t>
            </a: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H.M.S.I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345481" y="9615143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81526" y="4443095"/>
            <a:ext cx="8760816" cy="4927959"/>
          </a:xfrm>
          <a:custGeom>
            <a:avLst/>
            <a:gdLst/>
            <a:ahLst/>
            <a:cxnLst/>
            <a:rect l="l" t="t" r="r" b="b"/>
            <a:pathLst>
              <a:path w="8760816" h="4927959">
                <a:moveTo>
                  <a:pt x="0" y="0"/>
                </a:moveTo>
                <a:lnTo>
                  <a:pt x="8760816" y="0"/>
                </a:lnTo>
                <a:lnTo>
                  <a:pt x="8760816" y="4927959"/>
                </a:lnTo>
                <a:lnTo>
                  <a:pt x="0" y="4927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2489" y="571500"/>
            <a:ext cx="18191711" cy="1604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4800" b="1" dirty="0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Cloud and Visibility Prediction Model for aviation Safety</a:t>
            </a:r>
          </a:p>
          <a:p>
            <a:pPr algn="ctr">
              <a:lnSpc>
                <a:spcPts val="5000"/>
              </a:lnSpc>
            </a:pPr>
            <a:endParaRPr lang="en-US" sz="5000" b="1" i="1" dirty="0">
              <a:solidFill>
                <a:srgbClr val="FF3131"/>
              </a:solidFill>
              <a:latin typeface="Lora Bold Italics"/>
              <a:ea typeface="Lora Bold Italics"/>
              <a:cs typeface="Lora Bold Italics"/>
              <a:sym typeface="Lora Bold Itali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12831" y="9313904"/>
            <a:ext cx="3535369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65946" y="5029200"/>
            <a:ext cx="7840467" cy="3629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Dependencies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Flight time processing module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Weather data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08634" y="1893570"/>
            <a:ext cx="6614004" cy="210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Overview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Input → Cloud &amp; visibility data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Process → ML detection model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Output → Weather hazard alerts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19632" y="9635738"/>
            <a:ext cx="2457568" cy="503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IT22619976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22618" y="9597873"/>
            <a:ext cx="4686655" cy="503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Jayawardhana</a:t>
            </a: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H.M.S.I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833688" y="9615143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112831" y="1104900"/>
            <a:ext cx="10833344" cy="1124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99"/>
              </a:lnSpc>
            </a:pPr>
            <a:r>
              <a:rPr lang="en-US" sz="78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Jayathilaka P.K.V.K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2831" y="9313904"/>
            <a:ext cx="3535369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11630" y="9663927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54951" y="7513247"/>
            <a:ext cx="5428743" cy="49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Second Inter-Monsoon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4697" y="5570788"/>
            <a:ext cx="17040506" cy="2942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7474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Relative Humidity &amp; QNH Stability Prediction Model</a:t>
            </a:r>
          </a:p>
          <a:p>
            <a:pPr algn="l">
              <a:lnSpc>
                <a:spcPts val="7474"/>
              </a:lnSpc>
            </a:pPr>
            <a:endParaRPr lang="en-US" sz="7474" b="1">
              <a:solidFill>
                <a:srgbClr val="FF313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3162300"/>
            <a:ext cx="10833344" cy="1124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99"/>
              </a:lnSpc>
            </a:pPr>
            <a:r>
              <a:rPr lang="en-US" sz="78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IT22069504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227014" y="465931"/>
            <a:ext cx="4515266" cy="4677569"/>
            <a:chOff x="0" y="0"/>
            <a:chExt cx="899672" cy="9320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9672" cy="932011"/>
            </a:xfrm>
            <a:custGeom>
              <a:avLst/>
              <a:gdLst/>
              <a:ahLst/>
              <a:cxnLst/>
              <a:rect l="l" t="t" r="r" b="b"/>
              <a:pathLst>
                <a:path w="899672" h="932011">
                  <a:moveTo>
                    <a:pt x="449836" y="0"/>
                  </a:moveTo>
                  <a:cubicBezTo>
                    <a:pt x="201398" y="0"/>
                    <a:pt x="0" y="208638"/>
                    <a:pt x="0" y="466005"/>
                  </a:cubicBezTo>
                  <a:cubicBezTo>
                    <a:pt x="0" y="723373"/>
                    <a:pt x="201398" y="932011"/>
                    <a:pt x="449836" y="932011"/>
                  </a:cubicBezTo>
                  <a:cubicBezTo>
                    <a:pt x="698273" y="932011"/>
                    <a:pt x="899672" y="723373"/>
                    <a:pt x="899672" y="466005"/>
                  </a:cubicBezTo>
                  <a:cubicBezTo>
                    <a:pt x="899672" y="208638"/>
                    <a:pt x="698273" y="0"/>
                    <a:pt x="449836" y="0"/>
                  </a:cubicBezTo>
                  <a:close/>
                </a:path>
              </a:pathLst>
            </a:custGeom>
            <a:blipFill>
              <a:blip r:embed="rId3"/>
              <a:stretch>
                <a:fillRect t="-7845" b="-78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28616" y="1114425"/>
            <a:ext cx="13496843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1" i="1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RELATIVE HUMIDITY &amp; QNH STABILITY PREDICTION MODEL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8154" y="3560535"/>
            <a:ext cx="9673423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Contribution to Overall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8154" y="4452496"/>
            <a:ext cx="8093080" cy="226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Develop a machine learning model that Predict atmospheric stability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Analyze relative humidity and QNH variations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Generate pilot weather guidance documents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427947" y="6340200"/>
            <a:ext cx="9195025" cy="303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Novelty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Develop RH &amp; QNH stability model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Generate reliability scoring based on pressure trends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b="1" dirty="0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b="1" dirty="0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b="1" dirty="0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12831" y="9313904"/>
            <a:ext cx="3459169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67232" y="9673452"/>
            <a:ext cx="2503944" cy="503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IT22069504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71176" y="9682204"/>
            <a:ext cx="410360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Jayathilaka P.K.V.K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56260" y="9673452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786106" y="4775946"/>
            <a:ext cx="7499663" cy="4595109"/>
          </a:xfrm>
          <a:custGeom>
            <a:avLst/>
            <a:gdLst/>
            <a:ahLst/>
            <a:cxnLst/>
            <a:rect l="l" t="t" r="r" b="b"/>
            <a:pathLst>
              <a:path w="7499663" h="4595109">
                <a:moveTo>
                  <a:pt x="0" y="0"/>
                </a:moveTo>
                <a:lnTo>
                  <a:pt x="7499663" y="0"/>
                </a:lnTo>
                <a:lnTo>
                  <a:pt x="7499663" y="4595108"/>
                </a:lnTo>
                <a:lnTo>
                  <a:pt x="0" y="4595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215" b="-59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41230" y="2131107"/>
            <a:ext cx="11070209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Definition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70772" y="2724832"/>
            <a:ext cx="9210953" cy="210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Develop a predictive model to analyze humidity peaks and pressure drops.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12831" y="9313904"/>
            <a:ext cx="3382969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3953" y="3028177"/>
            <a:ext cx="8439864" cy="227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High humidity and QNH changes influence local weather instability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Aviation systems lack localized pressure trend prediction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257486" y="5740281"/>
            <a:ext cx="6796921" cy="449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Sub-Objectives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Analyze humidity and QNH correlations using historical weather data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Train ML models to predict rh &amp; QNH variations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Generate structured pilot weather guidance reports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50054" y="577712"/>
            <a:ext cx="16458845" cy="194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i="1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RELATIVE HUMIDITY &amp; QNH STABILITY PREDICTION MODEL</a:t>
            </a:r>
          </a:p>
          <a:p>
            <a:pPr algn="ctr">
              <a:lnSpc>
                <a:spcPts val="5000"/>
              </a:lnSpc>
            </a:pPr>
            <a:endParaRPr lang="en-US" sz="5000" b="1" i="1">
              <a:solidFill>
                <a:srgbClr val="FF3131"/>
              </a:solidFill>
              <a:latin typeface="Lora Bold Italics"/>
              <a:ea typeface="Lora Bold Italics"/>
              <a:cs typeface="Lora Bold Italics"/>
              <a:sym typeface="Lora Bold Itali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554683" y="9624668"/>
            <a:ext cx="226564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IT22069504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00218" y="9606391"/>
            <a:ext cx="3867982" cy="523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Jayathilaka P.K.V.K.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08660" y="9606391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8145" y="598170"/>
            <a:ext cx="18191711" cy="194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i="1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RELATIVE HUMIDITY &amp; QNH STABILITY PREDICTION MODEL</a:t>
            </a:r>
          </a:p>
          <a:p>
            <a:pPr algn="ctr">
              <a:lnSpc>
                <a:spcPts val="5000"/>
              </a:lnSpc>
            </a:pPr>
            <a:endParaRPr lang="en-US" sz="5000" b="1" i="1">
              <a:solidFill>
                <a:srgbClr val="FF3131"/>
              </a:solidFill>
              <a:latin typeface="Lora Bold Italics"/>
              <a:ea typeface="Lora Bold Italics"/>
              <a:cs typeface="Lora Bold Italics"/>
              <a:sym typeface="Lora Bold Itali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80361" y="2494915"/>
            <a:ext cx="4600019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841724"/>
            <a:ext cx="4736439" cy="393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TensorFlow / Scikit-Learn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Pandas / NumPy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12831" y="9313904"/>
            <a:ext cx="3382969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0361" y="3263265"/>
            <a:ext cx="8439864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Time-series atmospheric analysis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Machine learning prediction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correlation modeling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022980" y="5757547"/>
            <a:ext cx="6531888" cy="3629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Data availability &amp; Ethics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Historical weather datasets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Meteorological data only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Ethical compliance ensured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022980" y="2552065"/>
            <a:ext cx="5768221" cy="164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Compare predictions with METAR and TAF aviation reports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54683" y="9624668"/>
            <a:ext cx="226564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IT22069504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00218" y="9606391"/>
            <a:ext cx="3791782" cy="523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Jayathilaka P.K.V.K.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08660" y="9606391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796241" y="4998849"/>
            <a:ext cx="7782525" cy="4372205"/>
          </a:xfrm>
          <a:custGeom>
            <a:avLst/>
            <a:gdLst/>
            <a:ahLst/>
            <a:cxnLst/>
            <a:rect l="l" t="t" r="r" b="b"/>
            <a:pathLst>
              <a:path w="7782525" h="4372205">
                <a:moveTo>
                  <a:pt x="0" y="0"/>
                </a:moveTo>
                <a:lnTo>
                  <a:pt x="7782525" y="0"/>
                </a:lnTo>
                <a:lnTo>
                  <a:pt x="7782525" y="4372205"/>
                </a:lnTo>
                <a:lnTo>
                  <a:pt x="0" y="4372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7239" y="926498"/>
            <a:ext cx="18191711" cy="194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i="1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RELATIVE HUMIDITY &amp; QNH STABILITY PREDICTION MODEL</a:t>
            </a:r>
          </a:p>
          <a:p>
            <a:pPr algn="ctr">
              <a:lnSpc>
                <a:spcPts val="5000"/>
              </a:lnSpc>
            </a:pPr>
            <a:endParaRPr lang="en-US" sz="5000" b="1" i="1">
              <a:solidFill>
                <a:srgbClr val="FF3131"/>
              </a:solidFill>
              <a:latin typeface="Lora Bold Italics"/>
              <a:ea typeface="Lora Bold Italics"/>
              <a:cs typeface="Lora Bold Italics"/>
              <a:sym typeface="Lora Bold Itali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12831" y="9313904"/>
            <a:ext cx="3550325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65946" y="5029200"/>
            <a:ext cx="7840467" cy="3629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Dependencies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Forecast verification module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Weather document generation system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20435" y="2336165"/>
            <a:ext cx="6614004" cy="210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Overview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Input → historical Weather data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Process → Stability prediction model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Output → Pilot weather guidance document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54683" y="9624668"/>
            <a:ext cx="226564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IT22069504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00218" y="9615143"/>
            <a:ext cx="3791782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Jayathilaka P.K.V.K.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08660" y="9606391"/>
            <a:ext cx="21153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707433" y="1429529"/>
            <a:ext cx="7110708" cy="5499688"/>
          </a:xfrm>
          <a:custGeom>
            <a:avLst/>
            <a:gdLst/>
            <a:ahLst/>
            <a:cxnLst/>
            <a:rect l="l" t="t" r="r" b="b"/>
            <a:pathLst>
              <a:path w="7110708" h="5499688">
                <a:moveTo>
                  <a:pt x="0" y="0"/>
                </a:moveTo>
                <a:lnTo>
                  <a:pt x="7110708" y="0"/>
                </a:lnTo>
                <a:lnTo>
                  <a:pt x="7110708" y="5499688"/>
                </a:lnTo>
                <a:lnTo>
                  <a:pt x="0" y="549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77165" y="28575"/>
            <a:ext cx="17847618" cy="2092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 dirty="0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AI-BASED HYPER-LOCAL </a:t>
            </a:r>
          </a:p>
          <a:p>
            <a:pPr algn="l">
              <a:lnSpc>
                <a:spcPts val="4000"/>
              </a:lnSpc>
            </a:pPr>
            <a:r>
              <a:rPr lang="en-US" sz="4000" b="1" dirty="0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AVIATION WEATHER FORECAST VERIFICATION SYSTEM </a:t>
            </a:r>
            <a:r>
              <a:rPr lang="en-US" sz="4000" b="1" dirty="0">
                <a:solidFill>
                  <a:srgbClr val="1800A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FOR SRI LANKAN MONSOON PATTERNS</a:t>
            </a:r>
          </a:p>
          <a:p>
            <a:pPr algn="l">
              <a:lnSpc>
                <a:spcPts val="4000"/>
              </a:lnSpc>
            </a:pPr>
            <a:endParaRPr lang="en-US" sz="4000" b="1" dirty="0">
              <a:solidFill>
                <a:srgbClr val="1800AD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44840" y="2499672"/>
            <a:ext cx="8699160" cy="3708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Ability of Commercialization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Can be used by airports and aviation authorities for weather monitoring.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Supports safer flight operations by providing early weather alerts.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Can be integrated with airport meteorological systems.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9257527"/>
            <a:ext cx="3543300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11993" y="9576317"/>
            <a:ext cx="2397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9658" y="7207740"/>
            <a:ext cx="6658483" cy="2106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Labour Cost</a:t>
            </a:r>
          </a:p>
          <a:p>
            <a:pPr marL="561282" lvl="1" indent="-280641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161C58"/>
                </a:solidFill>
                <a:latin typeface="Lato Bold"/>
                <a:ea typeface="Lato Bold"/>
                <a:cs typeface="Lato Bold"/>
                <a:sym typeface="Lato Bold"/>
              </a:rPr>
              <a:t>AI model development</a:t>
            </a:r>
          </a:p>
          <a:p>
            <a:pPr marL="561282" lvl="1" indent="-280641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b="1">
                <a:solidFill>
                  <a:srgbClr val="161C58"/>
                </a:solidFill>
                <a:latin typeface="Lato Bold"/>
                <a:ea typeface="Lato Bold"/>
                <a:cs typeface="Lato Bold"/>
                <a:sym typeface="Lato Bold"/>
              </a:rPr>
              <a:t>Data analysis and system development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 b="1">
              <a:solidFill>
                <a:srgbClr val="161C58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44840" y="6814917"/>
            <a:ext cx="8550920" cy="2106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Material / Technical Cost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161C58"/>
                </a:solidFill>
                <a:latin typeface="Lato Bold"/>
                <a:ea typeface="Lato Bold"/>
                <a:cs typeface="Lato Bold"/>
                <a:sym typeface="Lato Bold"/>
              </a:rPr>
              <a:t>Cloud computing resources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161C58"/>
                </a:solidFill>
                <a:latin typeface="Lato Bold"/>
                <a:ea typeface="Lato Bold"/>
                <a:cs typeface="Lato Bold"/>
                <a:sym typeface="Lato Bold"/>
              </a:rPr>
              <a:t>Data storage and system maintenance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600" b="1">
              <a:solidFill>
                <a:srgbClr val="161C58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77165" y="28575"/>
            <a:ext cx="17847618" cy="2092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AI-BASED HYPER-LOCAL </a:t>
            </a:r>
          </a:p>
          <a:p>
            <a:pPr algn="l">
              <a:lnSpc>
                <a:spcPts val="4000"/>
              </a:lnSpc>
            </a:pPr>
            <a:r>
              <a:rPr lang="en-US" sz="4000" b="1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AVIATION WEATHER FORECAST VERIFICATION SYSTEM </a:t>
            </a:r>
            <a:r>
              <a:rPr lang="en-US" sz="4000" b="1">
                <a:solidFill>
                  <a:srgbClr val="1800A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FOR SRI LANKAN MONSOON PATTERNS</a:t>
            </a:r>
          </a:p>
          <a:p>
            <a:pPr algn="l">
              <a:lnSpc>
                <a:spcPts val="4000"/>
              </a:lnSpc>
            </a:pPr>
            <a:endParaRPr lang="en-US" sz="4000" b="1">
              <a:solidFill>
                <a:srgbClr val="1800AD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44840" y="2499672"/>
            <a:ext cx="8699160" cy="279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Cost Recovery / Pricing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Software subscription for airports and airlines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Licensing for aviation authorities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Integration service for aviation weather systems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9257527"/>
            <a:ext cx="3467100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11993" y="9576317"/>
            <a:ext cx="2397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44200" y="7200900"/>
            <a:ext cx="6658483" cy="1649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Market</a:t>
            </a:r>
          </a:p>
          <a:p>
            <a:pPr marL="561282" lvl="1" indent="-280641" algn="l">
              <a:lnSpc>
                <a:spcPts val="3639"/>
              </a:lnSpc>
              <a:buFont typeface="Arial"/>
              <a:buChar char="•"/>
            </a:pPr>
            <a:r>
              <a:rPr lang="en-US" sz="2599" b="1" dirty="0">
                <a:solidFill>
                  <a:srgbClr val="161C58"/>
                </a:solidFill>
                <a:latin typeface="Lato Bold"/>
                <a:ea typeface="Lato Bold"/>
                <a:cs typeface="Lato Bold"/>
                <a:sym typeface="Lato Bold"/>
              </a:rPr>
              <a:t>Airports in Sri Lanka</a:t>
            </a:r>
          </a:p>
          <a:p>
            <a:pPr marL="561282" lvl="1" indent="-280641" algn="l">
              <a:lnSpc>
                <a:spcPts val="3639"/>
              </a:lnSpc>
              <a:buFont typeface="Arial"/>
              <a:buChar char="•"/>
            </a:pPr>
            <a:r>
              <a:rPr lang="en-US" sz="2599" b="1" dirty="0">
                <a:solidFill>
                  <a:srgbClr val="161C58"/>
                </a:solidFill>
                <a:latin typeface="Lato Bold"/>
                <a:ea typeface="Lato Bold"/>
                <a:cs typeface="Lato Bold"/>
                <a:sym typeface="Lato Bold"/>
              </a:rPr>
              <a:t>Aviation meteorology departments</a:t>
            </a:r>
          </a:p>
        </p:txBody>
      </p:sp>
      <p:pic>
        <p:nvPicPr>
          <p:cNvPr id="3074" name="Picture 2" descr="List of Sri Lanka's International and Domestic Airports">
            <a:extLst>
              <a:ext uri="{FF2B5EF4-FFF2-40B4-BE49-F238E27FC236}">
                <a16:creationId xmlns:a16="http://schemas.microsoft.com/office/drawing/2014/main" id="{E09CE82E-1E7B-B4EE-4522-AEC9D53DE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40" y="4752421"/>
            <a:ext cx="7908850" cy="444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ow Rossby Waves effect our world weather system? : r/geography">
            <a:extLst>
              <a:ext uri="{FF2B5EF4-FFF2-40B4-BE49-F238E27FC236}">
                <a16:creationId xmlns:a16="http://schemas.microsoft.com/office/drawing/2014/main" id="{3B603512-4D72-C628-DA35-CF8FE8BEE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838" y="1171222"/>
            <a:ext cx="6096000" cy="456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9104" y="5293680"/>
            <a:ext cx="7257179" cy="3511538"/>
          </a:xfrm>
          <a:custGeom>
            <a:avLst/>
            <a:gdLst/>
            <a:ahLst/>
            <a:cxnLst/>
            <a:rect l="l" t="t" r="r" b="b"/>
            <a:pathLst>
              <a:path w="7257179" h="3511538">
                <a:moveTo>
                  <a:pt x="0" y="0"/>
                </a:moveTo>
                <a:lnTo>
                  <a:pt x="7257180" y="0"/>
                </a:lnTo>
                <a:lnTo>
                  <a:pt x="7257180" y="3511538"/>
                </a:lnTo>
                <a:lnTo>
                  <a:pt x="0" y="3511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686237" y="1702897"/>
            <a:ext cx="6757010" cy="4501858"/>
          </a:xfrm>
          <a:custGeom>
            <a:avLst/>
            <a:gdLst/>
            <a:ahLst/>
            <a:cxnLst/>
            <a:rect l="l" t="t" r="r" b="b"/>
            <a:pathLst>
              <a:path w="6757010" h="4501858">
                <a:moveTo>
                  <a:pt x="0" y="0"/>
                </a:moveTo>
                <a:lnTo>
                  <a:pt x="6757010" y="0"/>
                </a:lnTo>
                <a:lnTo>
                  <a:pt x="6757010" y="4501858"/>
                </a:lnTo>
                <a:lnTo>
                  <a:pt x="0" y="4501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77165" y="28575"/>
            <a:ext cx="17847618" cy="2092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AI-BASED HYPER-LOCAL </a:t>
            </a:r>
          </a:p>
          <a:p>
            <a:pPr algn="l">
              <a:lnSpc>
                <a:spcPts val="4000"/>
              </a:lnSpc>
            </a:pPr>
            <a:r>
              <a:rPr lang="en-US" sz="4000" b="1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AVIATION WEATHER FORECAST VERIFICATION SYSTEM </a:t>
            </a:r>
            <a:r>
              <a:rPr lang="en-US" sz="4000" b="1">
                <a:solidFill>
                  <a:srgbClr val="1800A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FOR SRI LANKAN MONSOON PATTERNS</a:t>
            </a:r>
          </a:p>
          <a:p>
            <a:pPr algn="l">
              <a:lnSpc>
                <a:spcPts val="4000"/>
              </a:lnSpc>
            </a:pPr>
            <a:endParaRPr lang="en-US" sz="4000" b="1">
              <a:solidFill>
                <a:srgbClr val="1800AD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44840" y="2499672"/>
            <a:ext cx="8699160" cy="279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Value Proposition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Early detection of hazardous weather conditions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Improved aviation safety and operational planning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More accurate airport-level weather analysis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9257527"/>
            <a:ext cx="3467100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11993" y="9576317"/>
            <a:ext cx="2397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6236963"/>
            <a:ext cx="7841484" cy="3021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Intellectual Property Rights</a:t>
            </a:r>
          </a:p>
          <a:p>
            <a:pPr marL="561282" lvl="1" indent="-280641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161C58"/>
                </a:solidFill>
                <a:latin typeface="Lato Bold"/>
                <a:ea typeface="Lato Bold"/>
                <a:cs typeface="Lato Bold"/>
                <a:sym typeface="Lato Bold"/>
              </a:rPr>
              <a:t>Machine learning model architecture</a:t>
            </a:r>
          </a:p>
          <a:p>
            <a:pPr marL="561282" lvl="1" indent="-280641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161C58"/>
                </a:solidFill>
                <a:latin typeface="Lato Bold"/>
                <a:ea typeface="Lato Bold"/>
                <a:cs typeface="Lato Bold"/>
                <a:sym typeface="Lato Bold"/>
              </a:rPr>
              <a:t>Weather prediction algorithms</a:t>
            </a:r>
          </a:p>
          <a:p>
            <a:pPr marL="561282" lvl="1" indent="-280641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161C58"/>
                </a:solidFill>
                <a:latin typeface="Lato Bold"/>
                <a:ea typeface="Lato Bold"/>
                <a:cs typeface="Lato Bold"/>
                <a:sym typeface="Lato Bold"/>
              </a:rPr>
              <a:t>Software system design</a:t>
            </a:r>
          </a:p>
          <a:p>
            <a:pPr algn="l">
              <a:lnSpc>
                <a:spcPts val="3639"/>
              </a:lnSpc>
            </a:pPr>
            <a:endParaRPr lang="en-US" sz="2599" b="1">
              <a:solidFill>
                <a:srgbClr val="161C58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639"/>
              </a:lnSpc>
            </a:pPr>
            <a:endParaRPr lang="en-US" sz="2599" b="1">
              <a:solidFill>
                <a:srgbClr val="161C58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77165" y="28575"/>
            <a:ext cx="17847618" cy="2092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 dirty="0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AI-BASED HYPER-LOCAL </a:t>
            </a:r>
          </a:p>
          <a:p>
            <a:pPr algn="l">
              <a:lnSpc>
                <a:spcPts val="4000"/>
              </a:lnSpc>
            </a:pPr>
            <a:r>
              <a:rPr lang="en-US" sz="4000" b="1" dirty="0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AVIATION WEATHER FORECAST VERIFICATION SYSTEM </a:t>
            </a:r>
            <a:r>
              <a:rPr lang="en-US" sz="4000" b="1" dirty="0">
                <a:solidFill>
                  <a:srgbClr val="1800A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FOR SRI LANKAN MONSOON PATTERNS</a:t>
            </a:r>
          </a:p>
          <a:p>
            <a:pPr algn="l">
              <a:lnSpc>
                <a:spcPts val="4000"/>
              </a:lnSpc>
            </a:pPr>
            <a:endParaRPr lang="en-US" sz="4000" b="1" dirty="0">
              <a:solidFill>
                <a:srgbClr val="1800AD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9257527"/>
            <a:ext cx="3467100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11993" y="9576317"/>
            <a:ext cx="2397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3032" y="2016127"/>
            <a:ext cx="7356283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161C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GANTT CHART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4959EF-8C6C-5BAE-49D8-451F499DF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137725"/>
            <a:ext cx="14836542" cy="513314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40382" y="156031"/>
            <a:ext cx="17847618" cy="2092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 dirty="0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AI-BASED HYPER-LOCAL </a:t>
            </a:r>
          </a:p>
          <a:p>
            <a:pPr algn="l">
              <a:lnSpc>
                <a:spcPts val="4000"/>
              </a:lnSpc>
            </a:pPr>
            <a:r>
              <a:rPr lang="en-US" sz="4000" b="1" dirty="0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AVIATION WEATHER FORECAST VERIFICATION SYSTEM </a:t>
            </a:r>
            <a:r>
              <a:rPr lang="en-US" sz="4000" b="1" dirty="0">
                <a:solidFill>
                  <a:srgbClr val="1800A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FOR SRI LANKAN MONSOON PATTERNS</a:t>
            </a:r>
          </a:p>
          <a:p>
            <a:pPr algn="l">
              <a:lnSpc>
                <a:spcPts val="4000"/>
              </a:lnSpc>
            </a:pPr>
            <a:endParaRPr lang="en-US" sz="4000" b="1" dirty="0">
              <a:solidFill>
                <a:srgbClr val="1800AD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9257527"/>
            <a:ext cx="3467100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66868" y="9654402"/>
            <a:ext cx="2397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278" y="1764171"/>
            <a:ext cx="953443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161C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 Breakdown Structure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1319969-DEF3-9F80-1EC9-69D193F5A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2575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98AC7A9E-97BE-A540-1B9B-6CEDBB5BE0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3900" y="4991100"/>
            <a:ext cx="5712500" cy="571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FC5787-FA32-1394-0E95-3EEA09E6C3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39" y="2484688"/>
            <a:ext cx="15240000" cy="69151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0" y="2705100"/>
            <a:ext cx="14020800" cy="7093602"/>
          </a:xfrm>
          <a:custGeom>
            <a:avLst/>
            <a:gdLst/>
            <a:ahLst/>
            <a:cxnLst/>
            <a:rect l="l" t="t" r="r" b="b"/>
            <a:pathLst>
              <a:path w="15247176" h="8853205">
                <a:moveTo>
                  <a:pt x="0" y="0"/>
                </a:moveTo>
                <a:lnTo>
                  <a:pt x="15247176" y="0"/>
                </a:lnTo>
                <a:lnTo>
                  <a:pt x="15247176" y="8853205"/>
                </a:lnTo>
                <a:lnTo>
                  <a:pt x="0" y="8853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67" r="-1219" b="-11895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B51FD309-14F3-DB79-F12B-84E3FEC6C6E3}"/>
              </a:ext>
            </a:extLst>
          </p:cNvPr>
          <p:cNvSpPr txBox="1"/>
          <p:nvPr/>
        </p:nvSpPr>
        <p:spPr>
          <a:xfrm>
            <a:off x="277165" y="28575"/>
            <a:ext cx="17847618" cy="1564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 dirty="0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AI-BASED HYPER-LOCAL </a:t>
            </a:r>
          </a:p>
          <a:p>
            <a:pPr algn="l">
              <a:lnSpc>
                <a:spcPts val="4000"/>
              </a:lnSpc>
            </a:pPr>
            <a:r>
              <a:rPr lang="en-US" sz="4000" b="1" dirty="0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AVIATION WEATHER FORECAST VERIFICATION SYSTEM </a:t>
            </a:r>
            <a:r>
              <a:rPr lang="en-US" sz="4000" b="1" dirty="0">
                <a:solidFill>
                  <a:srgbClr val="1800A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FOR SRI LANKAN MONSOON PATTERNS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82DFABD-ACF3-3A07-35BA-08B1FCAB57AD}"/>
              </a:ext>
            </a:extLst>
          </p:cNvPr>
          <p:cNvSpPr txBox="1"/>
          <p:nvPr/>
        </p:nvSpPr>
        <p:spPr>
          <a:xfrm>
            <a:off x="281321" y="2014091"/>
            <a:ext cx="17847618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b="1" dirty="0">
                <a:solidFill>
                  <a:srgbClr val="00206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Collected Data set So far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45" r="-4883" b="-1096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5158933"/>
            <a:ext cx="18288000" cy="3406820"/>
            <a:chOff x="0" y="0"/>
            <a:chExt cx="4816593" cy="8972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897269"/>
            </a:xfrm>
            <a:custGeom>
              <a:avLst/>
              <a:gdLst/>
              <a:ahLst/>
              <a:cxnLst/>
              <a:rect l="l" t="t" r="r" b="b"/>
              <a:pathLst>
                <a:path w="4816592" h="897269">
                  <a:moveTo>
                    <a:pt x="0" y="0"/>
                  </a:moveTo>
                  <a:lnTo>
                    <a:pt x="4816592" y="0"/>
                  </a:lnTo>
                  <a:lnTo>
                    <a:pt x="4816592" y="897269"/>
                  </a:lnTo>
                  <a:lnTo>
                    <a:pt x="0" y="897269"/>
                  </a:lnTo>
                  <a:close/>
                </a:path>
              </a:pathLst>
            </a:custGeom>
            <a:gradFill rotWithShape="1">
              <a:gsLst>
                <a:gs pos="0">
                  <a:srgbClr val="FAFAFA">
                    <a:alpha val="0"/>
                  </a:srgbClr>
                </a:gs>
                <a:gs pos="100000">
                  <a:srgbClr val="FAFAF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9353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772662"/>
            <a:ext cx="8260393" cy="479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75"/>
              </a:lnSpc>
            </a:pPr>
            <a:r>
              <a:rPr lang="en-US" sz="1941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8556228"/>
            <a:ext cx="18288000" cy="1730772"/>
            <a:chOff x="0" y="0"/>
            <a:chExt cx="4816593" cy="4558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455841"/>
            </a:xfrm>
            <a:custGeom>
              <a:avLst/>
              <a:gdLst/>
              <a:ahLst/>
              <a:cxnLst/>
              <a:rect l="l" t="t" r="r" b="b"/>
              <a:pathLst>
                <a:path w="4816592" h="455841">
                  <a:moveTo>
                    <a:pt x="0" y="0"/>
                  </a:moveTo>
                  <a:lnTo>
                    <a:pt x="4816592" y="0"/>
                  </a:lnTo>
                  <a:lnTo>
                    <a:pt x="4816592" y="455841"/>
                  </a:lnTo>
                  <a:lnTo>
                    <a:pt x="0" y="455841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493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187278" cy="3364876"/>
            <a:chOff x="0" y="0"/>
            <a:chExt cx="49324" cy="88622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324" cy="886222"/>
            </a:xfrm>
            <a:custGeom>
              <a:avLst/>
              <a:gdLst/>
              <a:ahLst/>
              <a:cxnLst/>
              <a:rect l="l" t="t" r="r" b="b"/>
              <a:pathLst>
                <a:path w="49324" h="886222">
                  <a:moveTo>
                    <a:pt x="0" y="0"/>
                  </a:moveTo>
                  <a:lnTo>
                    <a:pt x="49324" y="0"/>
                  </a:lnTo>
                  <a:lnTo>
                    <a:pt x="49324" y="886222"/>
                  </a:lnTo>
                  <a:lnTo>
                    <a:pt x="0" y="886222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9324" cy="924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87278" y="9258300"/>
            <a:ext cx="925554" cy="925554"/>
          </a:xfrm>
          <a:custGeom>
            <a:avLst/>
            <a:gdLst/>
            <a:ahLst/>
            <a:cxnLst/>
            <a:rect l="l" t="t" r="r" b="b"/>
            <a:pathLst>
              <a:path w="925554" h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028700" y="9257527"/>
            <a:ext cx="3619500" cy="869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66868" y="9654402"/>
            <a:ext cx="2397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1884</Words>
  <Application>Microsoft Macintosh PowerPoint</Application>
  <PresentationFormat>Custom</PresentationFormat>
  <Paragraphs>474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Lato Bold</vt:lpstr>
      <vt:lpstr>Calibri</vt:lpstr>
      <vt:lpstr>Poppins</vt:lpstr>
      <vt:lpstr>Lora Bold Italics</vt:lpstr>
      <vt:lpstr>Arial</vt:lpstr>
      <vt:lpstr>Lato</vt:lpstr>
      <vt:lpstr>Canva Sans Bold</vt:lpstr>
      <vt:lpstr>Poppins Bold</vt:lpstr>
      <vt:lpstr>Poppins Light</vt:lpstr>
      <vt:lpstr>Poppins Ultra-Bold</vt:lpstr>
      <vt:lpstr>Poppins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Orange and White Modern Aviation Presentation</dc:title>
  <cp:lastModifiedBy>RANASINGHA R.A.A.D it22269720</cp:lastModifiedBy>
  <cp:revision>15</cp:revision>
  <cp:lastPrinted>2026-03-16T07:08:07Z</cp:lastPrinted>
  <dcterms:created xsi:type="dcterms:W3CDTF">2006-08-16T00:00:00Z</dcterms:created>
  <dcterms:modified xsi:type="dcterms:W3CDTF">2026-03-16T18:06:21Z</dcterms:modified>
  <dc:identifier>DAHD8hgucU4</dc:identifier>
</cp:coreProperties>
</file>