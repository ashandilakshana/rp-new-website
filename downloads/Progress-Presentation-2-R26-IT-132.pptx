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Canva Sans Bold" panose="020B0604020202020204" charset="0"/>
      <p:regular r:id="rId14"/>
    </p:embeddedFont>
    <p:embeddedFont>
      <p:font typeface="Lato" panose="020F0502020204030203" pitchFamily="34" charset="0"/>
      <p:regular r:id="rId15"/>
    </p:embeddedFont>
    <p:embeddedFont>
      <p:font typeface="Lato Bold" panose="020B0604020202020204" charset="0"/>
      <p:regular r:id="rId16"/>
    </p:embeddedFont>
    <p:embeddedFont>
      <p:font typeface="Lora Bold Italics" panose="020B0604020202020204" charset="0"/>
      <p:regular r:id="rId17"/>
    </p:embeddedFont>
    <p:embeddedFont>
      <p:font typeface="Poppins" panose="00000500000000000000" pitchFamily="2" charset="0"/>
      <p:regular r:id="rId18"/>
    </p:embeddedFont>
    <p:embeddedFont>
      <p:font typeface="Poppins Bold" panose="00000800000000000000" charset="0"/>
      <p:regular r:id="rId19"/>
    </p:embeddedFont>
    <p:embeddedFont>
      <p:font typeface="Poppins Light" panose="00000400000000000000" pitchFamily="2" charset="0"/>
      <p:regular r:id="rId20"/>
    </p:embeddedFont>
    <p:embeddedFont>
      <p:font typeface="Poppins Semi-Bold" panose="020B0604020202020204" charset="0"/>
      <p:regular r:id="rId21"/>
    </p:embeddedFont>
    <p:embeddedFont>
      <p:font typeface="Poppins Ultra-Bol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presProps" Target="presProps.xml"/><Relationship Id="rId28"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C85BD3-1BB5-4CFE-AD58-3D3671EC96B8}" type="datetimeFigureOut">
              <a:rPr lang="en-US" smtClean="0"/>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9CFD86-0AFE-43F2-8707-94F779AAC38C}" type="slidenum">
              <a:rPr lang="en-US" smtClean="0"/>
              <a:t>‹#›</a:t>
            </a:fld>
            <a:endParaRPr lang="en-US"/>
          </a:p>
        </p:txBody>
      </p:sp>
    </p:spTree>
    <p:extLst>
      <p:ext uri="{BB962C8B-B14F-4D97-AF65-F5344CB8AC3E}">
        <p14:creationId xmlns:p14="http://schemas.microsoft.com/office/powerpoint/2010/main" val="583116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9CFD86-0AFE-43F2-8707-94F779AAC38C}" type="slidenum">
              <a:rPr lang="en-US" smtClean="0"/>
              <a:t>1</a:t>
            </a:fld>
            <a:endParaRPr lang="en-US"/>
          </a:p>
        </p:txBody>
      </p:sp>
    </p:spTree>
    <p:extLst>
      <p:ext uri="{BB962C8B-B14F-4D97-AF65-F5344CB8AC3E}">
        <p14:creationId xmlns:p14="http://schemas.microsoft.com/office/powerpoint/2010/main" val="40228141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9CFD86-0AFE-43F2-8707-94F779AAC38C}" type="slidenum">
              <a:rPr lang="en-US" smtClean="0"/>
              <a:t>7</a:t>
            </a:fld>
            <a:endParaRPr lang="en-US"/>
          </a:p>
        </p:txBody>
      </p:sp>
    </p:spTree>
    <p:extLst>
      <p:ext uri="{BB962C8B-B14F-4D97-AF65-F5344CB8AC3E}">
        <p14:creationId xmlns:p14="http://schemas.microsoft.com/office/powerpoint/2010/main" val="3540019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7.xml"/><Relationship Id="rId7" Type="http://schemas.openxmlformats.org/officeDocument/2006/relationships/image" Target="../media/image11.sv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 Id="rId9" Type="http://schemas.openxmlformats.org/officeDocument/2006/relationships/image" Target="../media/image12.jpe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3.png"/><Relationship Id="rId2" Type="http://schemas.openxmlformats.org/officeDocument/2006/relationships/image" Target="../media/image14.jpe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3.png"/><Relationship Id="rId2" Type="http://schemas.openxmlformats.org/officeDocument/2006/relationships/image" Target="../media/image15.jpe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1.svg"/><Relationship Id="rId4" Type="http://schemas.openxmlformats.org/officeDocument/2006/relationships/image" Target="../media/image10.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55C"/>
        </a:solidFill>
        <a:effectLst/>
      </p:bgPr>
    </p:bg>
    <p:spTree>
      <p:nvGrpSpPr>
        <p:cNvPr id="1" name=""/>
        <p:cNvGrpSpPr/>
        <p:nvPr/>
      </p:nvGrpSpPr>
      <p:grpSpPr>
        <a:xfrm>
          <a:off x="0" y="0"/>
          <a:ext cx="0" cy="0"/>
          <a:chOff x="0" y="0"/>
          <a:chExt cx="0" cy="0"/>
        </a:xfrm>
      </p:grpSpPr>
      <p:sp>
        <p:nvSpPr>
          <p:cNvPr id="2" name="Freeform 2"/>
          <p:cNvSpPr/>
          <p:nvPr/>
        </p:nvSpPr>
        <p:spPr>
          <a:xfrm>
            <a:off x="522124" y="1028700"/>
            <a:ext cx="16737176" cy="8180295"/>
          </a:xfrm>
          <a:custGeom>
            <a:avLst/>
            <a:gdLst/>
            <a:ahLst/>
            <a:cxnLst/>
            <a:rect l="l" t="t" r="r" b="b"/>
            <a:pathLst>
              <a:path w="16737176" h="8180295">
                <a:moveTo>
                  <a:pt x="0" y="0"/>
                </a:moveTo>
                <a:lnTo>
                  <a:pt x="16737176" y="0"/>
                </a:lnTo>
                <a:lnTo>
                  <a:pt x="16737176" y="8180295"/>
                </a:lnTo>
                <a:lnTo>
                  <a:pt x="0" y="8180295"/>
                </a:lnTo>
                <a:lnTo>
                  <a:pt x="0" y="0"/>
                </a:lnTo>
                <a:close/>
              </a:path>
            </a:pathLst>
          </a:custGeom>
          <a:blipFill>
            <a:blip>
              <a:alphaModFix amt="18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729018" flipH="1">
            <a:off x="895064" y="5388942"/>
            <a:ext cx="9047641" cy="3291079"/>
          </a:xfrm>
          <a:custGeom>
            <a:avLst/>
            <a:gdLst/>
            <a:ahLst/>
            <a:cxnLst/>
            <a:rect l="l" t="t" r="r" b="b"/>
            <a:pathLst>
              <a:path w="9047641" h="3291079">
                <a:moveTo>
                  <a:pt x="9047640" y="0"/>
                </a:moveTo>
                <a:lnTo>
                  <a:pt x="0" y="0"/>
                </a:lnTo>
                <a:lnTo>
                  <a:pt x="0" y="3291080"/>
                </a:lnTo>
                <a:lnTo>
                  <a:pt x="9047640" y="3291080"/>
                </a:lnTo>
                <a:lnTo>
                  <a:pt x="9047640" y="0"/>
                </a:lnTo>
                <a:close/>
              </a:path>
            </a:pathLst>
          </a:custGeom>
          <a:blipFill>
            <a:blip>
              <a:alphaModFix amt="23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rot="272926">
            <a:off x="11904587" y="4339079"/>
            <a:ext cx="6040844" cy="2197357"/>
          </a:xfrm>
          <a:custGeom>
            <a:avLst/>
            <a:gdLst/>
            <a:ahLst/>
            <a:cxnLst/>
            <a:rect l="l" t="t" r="r" b="b"/>
            <a:pathLst>
              <a:path w="6040844" h="2197357">
                <a:moveTo>
                  <a:pt x="0" y="0"/>
                </a:moveTo>
                <a:lnTo>
                  <a:pt x="6040844" y="0"/>
                </a:lnTo>
                <a:lnTo>
                  <a:pt x="6040844" y="2197357"/>
                </a:lnTo>
                <a:lnTo>
                  <a:pt x="0" y="2197357"/>
                </a:lnTo>
                <a:lnTo>
                  <a:pt x="0" y="0"/>
                </a:lnTo>
                <a:close/>
              </a:path>
            </a:pathLst>
          </a:custGeom>
          <a:blipFill>
            <a:blip>
              <a:alphaModFix amt="23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106586" y="9194463"/>
            <a:ext cx="925554" cy="925554"/>
          </a:xfrm>
          <a:custGeom>
            <a:avLst/>
            <a:gdLst/>
            <a:ahLst/>
            <a:cxnLst/>
            <a:rect l="l" t="t" r="r" b="b"/>
            <a:pathLst>
              <a:path w="925554" h="925554">
                <a:moveTo>
                  <a:pt x="0" y="0"/>
                </a:moveTo>
                <a:lnTo>
                  <a:pt x="925553" y="0"/>
                </a:lnTo>
                <a:lnTo>
                  <a:pt x="925553" y="925554"/>
                </a:lnTo>
                <a:lnTo>
                  <a:pt x="0" y="925554"/>
                </a:lnTo>
                <a:lnTo>
                  <a:pt x="0" y="0"/>
                </a:lnTo>
                <a:close/>
              </a:path>
            </a:pathLst>
          </a:custGeom>
          <a:blipFill>
            <a:blip r:embed="rId5"/>
            <a:stretch>
              <a:fillRect/>
            </a:stretch>
          </a:blipFill>
        </p:spPr>
        <p:txBody>
          <a:bodyPr/>
          <a:lstStyle/>
          <a:p>
            <a:endParaRPr lang="en-US" dirty="0"/>
          </a:p>
        </p:txBody>
      </p:sp>
      <p:sp>
        <p:nvSpPr>
          <p:cNvPr id="6" name="TextBox 6"/>
          <p:cNvSpPr txBox="1"/>
          <p:nvPr/>
        </p:nvSpPr>
        <p:spPr>
          <a:xfrm>
            <a:off x="1160070" y="9251766"/>
            <a:ext cx="3522586" cy="868251"/>
          </a:xfrm>
          <a:prstGeom prst="rect">
            <a:avLst/>
          </a:prstGeom>
        </p:spPr>
        <p:txBody>
          <a:bodyPr wrap="square" lIns="0" tIns="0" rIns="0" bIns="0" rtlCol="0" anchor="t">
            <a:spAutoFit/>
          </a:bodyPr>
          <a:lstStyle/>
          <a:p>
            <a:pPr algn="l">
              <a:lnSpc>
                <a:spcPts val="3500"/>
              </a:lnSpc>
            </a:pPr>
            <a:r>
              <a:rPr lang="en-US" sz="2500" b="1" dirty="0">
                <a:solidFill>
                  <a:srgbClr val="FFFFFF"/>
                </a:solidFill>
                <a:latin typeface="Canva Sans Bold"/>
                <a:ea typeface="Canva Sans Bold"/>
                <a:cs typeface="Canva Sans Bold"/>
                <a:sym typeface="Canva Sans Bold"/>
              </a:rPr>
              <a:t>SLIIT</a:t>
            </a:r>
          </a:p>
          <a:p>
            <a:pPr algn="l">
              <a:lnSpc>
                <a:spcPts val="3500"/>
              </a:lnSpc>
            </a:pPr>
            <a:r>
              <a:rPr lang="en-US" sz="2500" b="1" dirty="0">
                <a:solidFill>
                  <a:srgbClr val="FFFFFF"/>
                </a:solidFill>
                <a:latin typeface="Canva Sans Bold"/>
                <a:ea typeface="Canva Sans Bold"/>
                <a:cs typeface="Canva Sans Bold"/>
                <a:sym typeface="Canva Sans Bold"/>
              </a:rPr>
              <a:t>Faculty of Computing</a:t>
            </a:r>
          </a:p>
        </p:txBody>
      </p:sp>
      <p:sp>
        <p:nvSpPr>
          <p:cNvPr id="7" name="TextBox 7"/>
          <p:cNvSpPr txBox="1"/>
          <p:nvPr/>
        </p:nvSpPr>
        <p:spPr>
          <a:xfrm>
            <a:off x="6158542" y="9603464"/>
            <a:ext cx="2397323" cy="580390"/>
          </a:xfrm>
          <a:prstGeom prst="rect">
            <a:avLst/>
          </a:prstGeom>
        </p:spPr>
        <p:txBody>
          <a:bodyPr lIns="0" tIns="0" rIns="0" bIns="0" rtlCol="0" anchor="t">
            <a:spAutoFit/>
          </a:bodyPr>
          <a:lstStyle/>
          <a:p>
            <a:pPr algn="ctr">
              <a:lnSpc>
                <a:spcPts val="4759"/>
              </a:lnSpc>
            </a:pPr>
            <a:r>
              <a:rPr lang="en-US" sz="3399" b="1">
                <a:solidFill>
                  <a:srgbClr val="FFFFFF"/>
                </a:solidFill>
                <a:latin typeface="Canva Sans Bold"/>
                <a:ea typeface="Canva Sans Bold"/>
                <a:cs typeface="Canva Sans Bold"/>
                <a:sym typeface="Canva Sans Bold"/>
              </a:rPr>
              <a:t> R26-IT-132 </a:t>
            </a:r>
          </a:p>
        </p:txBody>
      </p:sp>
      <p:sp>
        <p:nvSpPr>
          <p:cNvPr id="8" name="TextBox 8"/>
          <p:cNvSpPr txBox="1"/>
          <p:nvPr/>
        </p:nvSpPr>
        <p:spPr>
          <a:xfrm>
            <a:off x="-314501" y="2530997"/>
            <a:ext cx="18917001" cy="4503485"/>
          </a:xfrm>
          <a:prstGeom prst="rect">
            <a:avLst/>
          </a:prstGeom>
        </p:spPr>
        <p:txBody>
          <a:bodyPr lIns="0" tIns="0" rIns="0" bIns="0" rtlCol="0" anchor="t">
            <a:spAutoFit/>
          </a:bodyPr>
          <a:lstStyle/>
          <a:p>
            <a:pPr algn="ctr">
              <a:lnSpc>
                <a:spcPts val="8739"/>
              </a:lnSpc>
            </a:pPr>
            <a:r>
              <a:rPr lang="en-US" sz="7105" b="1" dirty="0">
                <a:solidFill>
                  <a:srgbClr val="000000"/>
                </a:solidFill>
                <a:latin typeface="Poppins Bold"/>
                <a:ea typeface="Poppins Bold"/>
                <a:cs typeface="Poppins Bold"/>
                <a:sym typeface="Poppins Bold"/>
              </a:rPr>
              <a:t> </a:t>
            </a:r>
            <a:r>
              <a:rPr lang="en-US" sz="7105" b="1" dirty="0">
                <a:solidFill>
                  <a:schemeClr val="bg1"/>
                </a:solidFill>
                <a:latin typeface="Poppins Bold"/>
                <a:ea typeface="Poppins Bold"/>
                <a:cs typeface="Poppins Bold"/>
                <a:sym typeface="Poppins Bold"/>
              </a:rPr>
              <a:t>HYPER-LOCAL </a:t>
            </a:r>
          </a:p>
          <a:p>
            <a:pPr algn="ctr">
              <a:lnSpc>
                <a:spcPts val="8739"/>
              </a:lnSpc>
            </a:pPr>
            <a:r>
              <a:rPr lang="en-US" sz="7105" b="1" dirty="0">
                <a:solidFill>
                  <a:schemeClr val="bg1"/>
                </a:solidFill>
                <a:latin typeface="Poppins Bold"/>
                <a:ea typeface="Poppins Bold"/>
                <a:cs typeface="Poppins Bold"/>
                <a:sym typeface="Poppins Bold"/>
              </a:rPr>
              <a:t>AVIATION WEATHER FORECAST VERIFICATION SYSTEM FOR SRI LANKAN MONSOON PATTERNS</a:t>
            </a:r>
          </a:p>
        </p:txBody>
      </p:sp>
      <p:sp>
        <p:nvSpPr>
          <p:cNvPr id="9" name="TextBox 9"/>
          <p:cNvSpPr txBox="1"/>
          <p:nvPr/>
        </p:nvSpPr>
        <p:spPr>
          <a:xfrm>
            <a:off x="14877173" y="7781777"/>
            <a:ext cx="2657039" cy="985160"/>
          </a:xfrm>
          <a:prstGeom prst="rect">
            <a:avLst/>
          </a:prstGeom>
        </p:spPr>
        <p:txBody>
          <a:bodyPr lIns="0" tIns="0" rIns="0" bIns="0" rtlCol="0" anchor="t">
            <a:spAutoFit/>
          </a:bodyPr>
          <a:lstStyle/>
          <a:p>
            <a:pPr algn="ctr">
              <a:lnSpc>
                <a:spcPts val="6917"/>
              </a:lnSpc>
            </a:pPr>
            <a:r>
              <a:rPr lang="en-US" sz="6917">
                <a:solidFill>
                  <a:srgbClr val="FFFFFF"/>
                </a:solidFill>
                <a:latin typeface="Poppins"/>
                <a:ea typeface="Poppins"/>
                <a:cs typeface="Poppins"/>
                <a:sym typeface="Poppins"/>
              </a:rPr>
              <a:t>30°C</a:t>
            </a:r>
          </a:p>
        </p:txBody>
      </p:sp>
      <p:sp>
        <p:nvSpPr>
          <p:cNvPr id="10" name="TextBox 10"/>
          <p:cNvSpPr txBox="1"/>
          <p:nvPr/>
        </p:nvSpPr>
        <p:spPr>
          <a:xfrm>
            <a:off x="12834823" y="8776462"/>
            <a:ext cx="6741739" cy="247356"/>
          </a:xfrm>
          <a:prstGeom prst="rect">
            <a:avLst/>
          </a:prstGeom>
        </p:spPr>
        <p:txBody>
          <a:bodyPr lIns="0" tIns="0" rIns="0" bIns="0" rtlCol="0" anchor="t">
            <a:spAutoFit/>
          </a:bodyPr>
          <a:lstStyle/>
          <a:p>
            <a:pPr algn="ctr">
              <a:lnSpc>
                <a:spcPts val="1693"/>
              </a:lnSpc>
            </a:pPr>
            <a:r>
              <a:rPr lang="en-US" sz="1693" spc="846">
                <a:solidFill>
                  <a:srgbClr val="FFFFFF"/>
                </a:solidFill>
                <a:latin typeface="Poppins Light"/>
                <a:ea typeface="Poppins Light"/>
                <a:cs typeface="Poppins Light"/>
                <a:sym typeface="Poppins Light"/>
              </a:rPr>
              <a:t>MAX. 31°C - MIN.15°C</a:t>
            </a:r>
          </a:p>
        </p:txBody>
      </p:sp>
      <p:grpSp>
        <p:nvGrpSpPr>
          <p:cNvPr id="11" name="Group 11"/>
          <p:cNvGrpSpPr/>
          <p:nvPr/>
        </p:nvGrpSpPr>
        <p:grpSpPr>
          <a:xfrm>
            <a:off x="13599853" y="9264869"/>
            <a:ext cx="4523692" cy="807870"/>
            <a:chOff x="0" y="0"/>
            <a:chExt cx="6031589" cy="1077160"/>
          </a:xfrm>
        </p:grpSpPr>
        <p:sp>
          <p:nvSpPr>
            <p:cNvPr id="12" name="Freeform 12"/>
            <p:cNvSpPr/>
            <p:nvPr/>
          </p:nvSpPr>
          <p:spPr>
            <a:xfrm>
              <a:off x="425426" y="0"/>
              <a:ext cx="556530" cy="720216"/>
            </a:xfrm>
            <a:custGeom>
              <a:avLst/>
              <a:gdLst/>
              <a:ahLst/>
              <a:cxnLst/>
              <a:rect l="l" t="t" r="r" b="b"/>
              <a:pathLst>
                <a:path w="556530" h="720216">
                  <a:moveTo>
                    <a:pt x="0" y="0"/>
                  </a:moveTo>
                  <a:lnTo>
                    <a:pt x="556531" y="0"/>
                  </a:lnTo>
                  <a:lnTo>
                    <a:pt x="556531" y="720216"/>
                  </a:lnTo>
                  <a:lnTo>
                    <a:pt x="0" y="72021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3" name="Freeform 13"/>
            <p:cNvSpPr/>
            <p:nvPr/>
          </p:nvSpPr>
          <p:spPr>
            <a:xfrm>
              <a:off x="1576967" y="75592"/>
              <a:ext cx="949644" cy="574966"/>
            </a:xfrm>
            <a:custGeom>
              <a:avLst/>
              <a:gdLst/>
              <a:ahLst/>
              <a:cxnLst/>
              <a:rect l="l" t="t" r="r" b="b"/>
              <a:pathLst>
                <a:path w="949644" h="574966">
                  <a:moveTo>
                    <a:pt x="0" y="0"/>
                  </a:moveTo>
                  <a:lnTo>
                    <a:pt x="949644" y="0"/>
                  </a:lnTo>
                  <a:lnTo>
                    <a:pt x="949644" y="574966"/>
                  </a:lnTo>
                  <a:lnTo>
                    <a:pt x="0" y="574966"/>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4" name="Freeform 14"/>
            <p:cNvSpPr/>
            <p:nvPr/>
          </p:nvSpPr>
          <p:spPr>
            <a:xfrm flipV="1">
              <a:off x="1709150" y="387581"/>
              <a:ext cx="685088" cy="271160"/>
            </a:xfrm>
            <a:custGeom>
              <a:avLst/>
              <a:gdLst/>
              <a:ahLst/>
              <a:cxnLst/>
              <a:rect l="l" t="t" r="r" b="b"/>
              <a:pathLst>
                <a:path w="685088" h="271160">
                  <a:moveTo>
                    <a:pt x="0" y="271160"/>
                  </a:moveTo>
                  <a:lnTo>
                    <a:pt x="685088" y="271160"/>
                  </a:lnTo>
                  <a:lnTo>
                    <a:pt x="685088" y="0"/>
                  </a:lnTo>
                  <a:lnTo>
                    <a:pt x="0" y="0"/>
                  </a:lnTo>
                  <a:lnTo>
                    <a:pt x="0" y="271160"/>
                  </a:lnTo>
                  <a:close/>
                </a:path>
              </a:pathLst>
            </a:custGeom>
            <a:blipFill>
              <a:blip>
                <a:extLst>
                  <a:ext uri="{96DAC541-7B7A-43D3-8B79-37D633B846F1}">
                    <asvg:svgBlip xmlns:asvg="http://schemas.microsoft.com/office/drawing/2016/SVG/main" r:embed="rId7"/>
                  </a:ext>
                </a:extLst>
              </a:blip>
              <a:stretch>
                <a:fillRect r="-38616" b="-112039"/>
              </a:stretch>
            </a:blipFill>
          </p:spPr>
          <p:txBody>
            <a:bodyPr/>
            <a:lstStyle/>
            <a:p>
              <a:endParaRPr lang="en-US"/>
            </a:p>
          </p:txBody>
        </p:sp>
        <p:sp>
          <p:nvSpPr>
            <p:cNvPr id="15" name="Freeform 15"/>
            <p:cNvSpPr/>
            <p:nvPr/>
          </p:nvSpPr>
          <p:spPr>
            <a:xfrm>
              <a:off x="3424019" y="0"/>
              <a:ext cx="720216" cy="720216"/>
            </a:xfrm>
            <a:custGeom>
              <a:avLst/>
              <a:gdLst/>
              <a:ahLst/>
              <a:cxnLst/>
              <a:rect l="l" t="t" r="r" b="b"/>
              <a:pathLst>
                <a:path w="720216" h="720216">
                  <a:moveTo>
                    <a:pt x="0" y="0"/>
                  </a:moveTo>
                  <a:lnTo>
                    <a:pt x="720215" y="0"/>
                  </a:lnTo>
                  <a:lnTo>
                    <a:pt x="720215" y="720216"/>
                  </a:lnTo>
                  <a:lnTo>
                    <a:pt x="0" y="720216"/>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6" name="Freeform 16"/>
            <p:cNvSpPr/>
            <p:nvPr/>
          </p:nvSpPr>
          <p:spPr>
            <a:xfrm>
              <a:off x="4880265" y="119969"/>
              <a:ext cx="825130" cy="480278"/>
            </a:xfrm>
            <a:custGeom>
              <a:avLst/>
              <a:gdLst/>
              <a:ahLst/>
              <a:cxnLst/>
              <a:rect l="l" t="t" r="r" b="b"/>
              <a:pathLst>
                <a:path w="825130" h="480278">
                  <a:moveTo>
                    <a:pt x="0" y="0"/>
                  </a:moveTo>
                  <a:lnTo>
                    <a:pt x="825129" y="0"/>
                  </a:lnTo>
                  <a:lnTo>
                    <a:pt x="825129" y="480278"/>
                  </a:lnTo>
                  <a:lnTo>
                    <a:pt x="0" y="480278"/>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7" name="TextBox 17"/>
            <p:cNvSpPr txBox="1"/>
            <p:nvPr/>
          </p:nvSpPr>
          <p:spPr>
            <a:xfrm>
              <a:off x="0" y="795099"/>
              <a:ext cx="1407383" cy="282061"/>
            </a:xfrm>
            <a:prstGeom prst="rect">
              <a:avLst/>
            </a:prstGeom>
          </p:spPr>
          <p:txBody>
            <a:bodyPr lIns="0" tIns="0" rIns="0" bIns="0" rtlCol="0" anchor="t">
              <a:spAutoFit/>
            </a:bodyPr>
            <a:lstStyle/>
            <a:p>
              <a:pPr algn="ctr">
                <a:lnSpc>
                  <a:spcPts val="1415"/>
                </a:lnSpc>
              </a:pPr>
              <a:r>
                <a:rPr lang="en-US" sz="1415" b="1">
                  <a:solidFill>
                    <a:srgbClr val="FFFFFF"/>
                  </a:solidFill>
                  <a:latin typeface="Poppins Semi-Bold"/>
                  <a:ea typeface="Poppins Semi-Bold"/>
                  <a:cs typeface="Poppins Semi-Bold"/>
                  <a:sym typeface="Poppins Semi-Bold"/>
                </a:rPr>
                <a:t>20%</a:t>
              </a:r>
            </a:p>
          </p:txBody>
        </p:sp>
        <p:sp>
          <p:nvSpPr>
            <p:cNvPr id="18" name="TextBox 18"/>
            <p:cNvSpPr txBox="1"/>
            <p:nvPr/>
          </p:nvSpPr>
          <p:spPr>
            <a:xfrm>
              <a:off x="1500543" y="795099"/>
              <a:ext cx="1407059" cy="282061"/>
            </a:xfrm>
            <a:prstGeom prst="rect">
              <a:avLst/>
            </a:prstGeom>
          </p:spPr>
          <p:txBody>
            <a:bodyPr lIns="0" tIns="0" rIns="0" bIns="0" rtlCol="0" anchor="t">
              <a:spAutoFit/>
            </a:bodyPr>
            <a:lstStyle/>
            <a:p>
              <a:pPr algn="ctr">
                <a:lnSpc>
                  <a:spcPts val="1415"/>
                </a:lnSpc>
              </a:pPr>
              <a:r>
                <a:rPr lang="en-US" sz="1415" b="1">
                  <a:solidFill>
                    <a:srgbClr val="FFFFFF"/>
                  </a:solidFill>
                  <a:latin typeface="Poppins Semi-Bold"/>
                  <a:ea typeface="Poppins Semi-Bold"/>
                  <a:cs typeface="Poppins Semi-Bold"/>
                  <a:sym typeface="Poppins Semi-Bold"/>
                </a:rPr>
                <a:t>15 KM/H</a:t>
              </a:r>
            </a:p>
          </p:txBody>
        </p:sp>
        <p:sp>
          <p:nvSpPr>
            <p:cNvPr id="19" name="TextBox 19"/>
            <p:cNvSpPr txBox="1"/>
            <p:nvPr/>
          </p:nvSpPr>
          <p:spPr>
            <a:xfrm>
              <a:off x="3080597" y="795099"/>
              <a:ext cx="1407059" cy="282061"/>
            </a:xfrm>
            <a:prstGeom prst="rect">
              <a:avLst/>
            </a:prstGeom>
          </p:spPr>
          <p:txBody>
            <a:bodyPr lIns="0" tIns="0" rIns="0" bIns="0" rtlCol="0" anchor="t">
              <a:spAutoFit/>
            </a:bodyPr>
            <a:lstStyle/>
            <a:p>
              <a:pPr algn="ctr">
                <a:lnSpc>
                  <a:spcPts val="1415"/>
                </a:lnSpc>
              </a:pPr>
              <a:r>
                <a:rPr lang="en-US" sz="1415" b="1">
                  <a:solidFill>
                    <a:srgbClr val="FFFFFF"/>
                  </a:solidFill>
                  <a:latin typeface="Poppins Semi-Bold"/>
                  <a:ea typeface="Poppins Semi-Bold"/>
                  <a:cs typeface="Poppins Semi-Bold"/>
                  <a:sym typeface="Poppins Semi-Bold"/>
                </a:rPr>
                <a:t>WEST</a:t>
              </a:r>
            </a:p>
          </p:txBody>
        </p:sp>
        <p:sp>
          <p:nvSpPr>
            <p:cNvPr id="20" name="TextBox 20"/>
            <p:cNvSpPr txBox="1"/>
            <p:nvPr/>
          </p:nvSpPr>
          <p:spPr>
            <a:xfrm>
              <a:off x="4624530" y="795099"/>
              <a:ext cx="1407059" cy="282061"/>
            </a:xfrm>
            <a:prstGeom prst="rect">
              <a:avLst/>
            </a:prstGeom>
          </p:spPr>
          <p:txBody>
            <a:bodyPr lIns="0" tIns="0" rIns="0" bIns="0" rtlCol="0" anchor="t">
              <a:spAutoFit/>
            </a:bodyPr>
            <a:lstStyle/>
            <a:p>
              <a:pPr algn="ctr">
                <a:lnSpc>
                  <a:spcPts val="1415"/>
                </a:lnSpc>
              </a:pPr>
              <a:r>
                <a:rPr lang="en-US" sz="1415" b="1">
                  <a:solidFill>
                    <a:srgbClr val="FFFFFF"/>
                  </a:solidFill>
                  <a:latin typeface="Poppins Semi-Bold"/>
                  <a:ea typeface="Poppins Semi-Bold"/>
                  <a:cs typeface="Poppins Semi-Bold"/>
                  <a:sym typeface="Poppins Semi-Bold"/>
                </a:rPr>
                <a:t>1023.0 MB</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72344" y="9833129"/>
            <a:ext cx="2541464" cy="453871"/>
            <a:chOff x="0" y="0"/>
            <a:chExt cx="3388618" cy="605161"/>
          </a:xfrm>
        </p:grpSpPr>
        <p:sp>
          <p:nvSpPr>
            <p:cNvPr id="3" name="Freeform 3"/>
            <p:cNvSpPr/>
            <p:nvPr/>
          </p:nvSpPr>
          <p:spPr>
            <a:xfrm>
              <a:off x="239010" y="0"/>
              <a:ext cx="312665" cy="404626"/>
            </a:xfrm>
            <a:custGeom>
              <a:avLst/>
              <a:gdLst/>
              <a:ahLst/>
              <a:cxnLst/>
              <a:rect l="l" t="t" r="r" b="b"/>
              <a:pathLst>
                <a:path w="312665" h="404626">
                  <a:moveTo>
                    <a:pt x="0" y="0"/>
                  </a:moveTo>
                  <a:lnTo>
                    <a:pt x="312665" y="0"/>
                  </a:lnTo>
                  <a:lnTo>
                    <a:pt x="312665" y="404626"/>
                  </a:lnTo>
                  <a:lnTo>
                    <a:pt x="0" y="40462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885959" y="42469"/>
              <a:ext cx="533414" cy="195028"/>
            </a:xfrm>
            <a:custGeom>
              <a:avLst/>
              <a:gdLst/>
              <a:ahLst/>
              <a:cxnLst/>
              <a:rect l="l" t="t" r="r" b="b"/>
              <a:pathLst>
                <a:path w="533414" h="195028">
                  <a:moveTo>
                    <a:pt x="0" y="0"/>
                  </a:moveTo>
                  <a:lnTo>
                    <a:pt x="533414" y="0"/>
                  </a:lnTo>
                  <a:lnTo>
                    <a:pt x="533414" y="195027"/>
                  </a:lnTo>
                  <a:lnTo>
                    <a:pt x="0" y="195027"/>
                  </a:lnTo>
                  <a:lnTo>
                    <a:pt x="0" y="0"/>
                  </a:lnTo>
                  <a:close/>
                </a:path>
              </a:pathLst>
            </a:custGeom>
            <a:blipFill>
              <a:blip>
                <a:extLst>
                  <a:ext uri="{96DAC541-7B7A-43D3-8B79-37D633B846F1}">
                    <asvg:svgBlip xmlns:asvg="http://schemas.microsoft.com/office/drawing/2016/SVG/main" r:embed="rId5"/>
                  </a:ext>
                </a:extLst>
              </a:blip>
              <a:stretch>
                <a:fillRect r="-20" b="-65629"/>
              </a:stretch>
            </a:blipFill>
          </p:spPr>
          <p:txBody>
            <a:bodyPr/>
            <a:lstStyle/>
            <a:p>
              <a:endParaRPr lang="en-US"/>
            </a:p>
          </p:txBody>
        </p:sp>
        <p:sp>
          <p:nvSpPr>
            <p:cNvPr id="5" name="Freeform 5"/>
            <p:cNvSpPr/>
            <p:nvPr/>
          </p:nvSpPr>
          <p:spPr>
            <a:xfrm flipV="1">
              <a:off x="960221" y="217748"/>
              <a:ext cx="384890" cy="152341"/>
            </a:xfrm>
            <a:custGeom>
              <a:avLst/>
              <a:gdLst/>
              <a:ahLst/>
              <a:cxnLst/>
              <a:rect l="l" t="t" r="r" b="b"/>
              <a:pathLst>
                <a:path w="384890" h="152341">
                  <a:moveTo>
                    <a:pt x="0" y="152340"/>
                  </a:moveTo>
                  <a:lnTo>
                    <a:pt x="384890" y="152340"/>
                  </a:lnTo>
                  <a:lnTo>
                    <a:pt x="384890" y="0"/>
                  </a:lnTo>
                  <a:lnTo>
                    <a:pt x="0" y="0"/>
                  </a:lnTo>
                  <a:lnTo>
                    <a:pt x="0" y="152340"/>
                  </a:lnTo>
                  <a:close/>
                </a:path>
              </a:pathLst>
            </a:custGeom>
            <a:blipFill>
              <a:blip>
                <a:extLst>
                  <a:ext uri="{96DAC541-7B7A-43D3-8B79-37D633B846F1}">
                    <asvg:svgBlip xmlns:asvg="http://schemas.microsoft.com/office/drawing/2016/SVG/main" r:embed="rId5"/>
                  </a:ext>
                </a:extLst>
              </a:blip>
              <a:stretch>
                <a:fillRect r="-38616" b="-112039"/>
              </a:stretch>
            </a:blipFill>
          </p:spPr>
          <p:txBody>
            <a:bodyPr/>
            <a:lstStyle/>
            <a:p>
              <a:endParaRPr lang="en-US"/>
            </a:p>
          </p:txBody>
        </p:sp>
        <p:sp>
          <p:nvSpPr>
            <p:cNvPr id="6" name="Freeform 6"/>
            <p:cNvSpPr/>
            <p:nvPr/>
          </p:nvSpPr>
          <p:spPr>
            <a:xfrm>
              <a:off x="1923654" y="0"/>
              <a:ext cx="404626" cy="404626"/>
            </a:xfrm>
            <a:custGeom>
              <a:avLst/>
              <a:gdLst/>
              <a:ahLst/>
              <a:cxnLst/>
              <a:rect l="l" t="t" r="r" b="b"/>
              <a:pathLst>
                <a:path w="404626" h="404626">
                  <a:moveTo>
                    <a:pt x="0" y="0"/>
                  </a:moveTo>
                  <a:lnTo>
                    <a:pt x="404626" y="0"/>
                  </a:lnTo>
                  <a:lnTo>
                    <a:pt x="404626" y="404626"/>
                  </a:lnTo>
                  <a:lnTo>
                    <a:pt x="0" y="40462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Freeform 7"/>
            <p:cNvSpPr/>
            <p:nvPr/>
          </p:nvSpPr>
          <p:spPr>
            <a:xfrm>
              <a:off x="2741791" y="67400"/>
              <a:ext cx="463568" cy="269826"/>
            </a:xfrm>
            <a:custGeom>
              <a:avLst/>
              <a:gdLst/>
              <a:ahLst/>
              <a:cxnLst/>
              <a:rect l="l" t="t" r="r" b="b"/>
              <a:pathLst>
                <a:path w="463568" h="269826">
                  <a:moveTo>
                    <a:pt x="0" y="0"/>
                  </a:moveTo>
                  <a:lnTo>
                    <a:pt x="463567" y="0"/>
                  </a:lnTo>
                  <a:lnTo>
                    <a:pt x="463567" y="269826"/>
                  </a:lnTo>
                  <a:lnTo>
                    <a:pt x="0" y="269826"/>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8" name="TextBox 8"/>
            <p:cNvSpPr txBox="1"/>
            <p:nvPr/>
          </p:nvSpPr>
          <p:spPr>
            <a:xfrm>
              <a:off x="0" y="456221"/>
              <a:ext cx="790685" cy="148940"/>
            </a:xfrm>
            <a:prstGeom prst="rect">
              <a:avLst/>
            </a:prstGeom>
          </p:spPr>
          <p:txBody>
            <a:bodyPr lIns="0" tIns="0" rIns="0" bIns="0" rtlCol="0" anchor="t">
              <a:spAutoFit/>
            </a:bodyPr>
            <a:lstStyle/>
            <a:p>
              <a:pPr algn="ctr">
                <a:lnSpc>
                  <a:spcPts val="795"/>
                </a:lnSpc>
              </a:pPr>
              <a:r>
                <a:rPr lang="en-US" sz="795" b="1">
                  <a:solidFill>
                    <a:srgbClr val="000000"/>
                  </a:solidFill>
                  <a:latin typeface="Poppins Semi-Bold"/>
                  <a:ea typeface="Poppins Semi-Bold"/>
                  <a:cs typeface="Poppins Semi-Bold"/>
                  <a:sym typeface="Poppins Semi-Bold"/>
                </a:rPr>
                <a:t>20%</a:t>
              </a:r>
            </a:p>
          </p:txBody>
        </p:sp>
        <p:sp>
          <p:nvSpPr>
            <p:cNvPr id="9" name="TextBox 9"/>
            <p:cNvSpPr txBox="1"/>
            <p:nvPr/>
          </p:nvSpPr>
          <p:spPr>
            <a:xfrm>
              <a:off x="843023" y="456221"/>
              <a:ext cx="790503" cy="148940"/>
            </a:xfrm>
            <a:prstGeom prst="rect">
              <a:avLst/>
            </a:prstGeom>
          </p:spPr>
          <p:txBody>
            <a:bodyPr lIns="0" tIns="0" rIns="0" bIns="0" rtlCol="0" anchor="t">
              <a:spAutoFit/>
            </a:bodyPr>
            <a:lstStyle/>
            <a:p>
              <a:pPr algn="ctr">
                <a:lnSpc>
                  <a:spcPts val="795"/>
                </a:lnSpc>
              </a:pPr>
              <a:r>
                <a:rPr lang="en-US" sz="795" b="1">
                  <a:solidFill>
                    <a:srgbClr val="000000"/>
                  </a:solidFill>
                  <a:latin typeface="Poppins Semi-Bold"/>
                  <a:ea typeface="Poppins Semi-Bold"/>
                  <a:cs typeface="Poppins Semi-Bold"/>
                  <a:sym typeface="Poppins Semi-Bold"/>
                </a:rPr>
                <a:t>15 KM/H</a:t>
              </a:r>
            </a:p>
          </p:txBody>
        </p:sp>
        <p:sp>
          <p:nvSpPr>
            <p:cNvPr id="10" name="TextBox 10"/>
            <p:cNvSpPr txBox="1"/>
            <p:nvPr/>
          </p:nvSpPr>
          <p:spPr>
            <a:xfrm>
              <a:off x="1730716" y="456221"/>
              <a:ext cx="790503" cy="148940"/>
            </a:xfrm>
            <a:prstGeom prst="rect">
              <a:avLst/>
            </a:prstGeom>
          </p:spPr>
          <p:txBody>
            <a:bodyPr lIns="0" tIns="0" rIns="0" bIns="0" rtlCol="0" anchor="t">
              <a:spAutoFit/>
            </a:bodyPr>
            <a:lstStyle/>
            <a:p>
              <a:pPr algn="ctr">
                <a:lnSpc>
                  <a:spcPts val="795"/>
                </a:lnSpc>
              </a:pPr>
              <a:r>
                <a:rPr lang="en-US" sz="795" b="1">
                  <a:solidFill>
                    <a:srgbClr val="000000"/>
                  </a:solidFill>
                  <a:latin typeface="Poppins Semi-Bold"/>
                  <a:ea typeface="Poppins Semi-Bold"/>
                  <a:cs typeface="Poppins Semi-Bold"/>
                  <a:sym typeface="Poppins Semi-Bold"/>
                </a:rPr>
                <a:t>WEST</a:t>
              </a:r>
            </a:p>
          </p:txBody>
        </p:sp>
        <p:sp>
          <p:nvSpPr>
            <p:cNvPr id="11" name="TextBox 11"/>
            <p:cNvSpPr txBox="1"/>
            <p:nvPr/>
          </p:nvSpPr>
          <p:spPr>
            <a:xfrm>
              <a:off x="2598116" y="456221"/>
              <a:ext cx="790503" cy="148940"/>
            </a:xfrm>
            <a:prstGeom prst="rect">
              <a:avLst/>
            </a:prstGeom>
          </p:spPr>
          <p:txBody>
            <a:bodyPr lIns="0" tIns="0" rIns="0" bIns="0" rtlCol="0" anchor="t">
              <a:spAutoFit/>
            </a:bodyPr>
            <a:lstStyle/>
            <a:p>
              <a:pPr algn="ctr">
                <a:lnSpc>
                  <a:spcPts val="795"/>
                </a:lnSpc>
              </a:pPr>
              <a:r>
                <a:rPr lang="en-US" sz="795" b="1">
                  <a:solidFill>
                    <a:srgbClr val="000000"/>
                  </a:solidFill>
                  <a:latin typeface="Poppins Semi-Bold"/>
                  <a:ea typeface="Poppins Semi-Bold"/>
                  <a:cs typeface="Poppins Semi-Bold"/>
                  <a:sym typeface="Poppins Semi-Bold"/>
                </a:rPr>
                <a:t>1023.0 MB</a:t>
              </a:r>
            </a:p>
          </p:txBody>
        </p:sp>
      </p:grpSp>
      <p:sp>
        <p:nvSpPr>
          <p:cNvPr id="12" name="Freeform 12"/>
          <p:cNvSpPr/>
          <p:nvPr/>
        </p:nvSpPr>
        <p:spPr>
          <a:xfrm>
            <a:off x="158703" y="9258300"/>
            <a:ext cx="925554" cy="925554"/>
          </a:xfrm>
          <a:custGeom>
            <a:avLst/>
            <a:gdLst/>
            <a:ahLst/>
            <a:cxnLst/>
            <a:rect l="l" t="t" r="r" b="b"/>
            <a:pathLst>
              <a:path w="925554" h="925554">
                <a:moveTo>
                  <a:pt x="0" y="0"/>
                </a:moveTo>
                <a:lnTo>
                  <a:pt x="925553" y="0"/>
                </a:lnTo>
                <a:lnTo>
                  <a:pt x="925553" y="925554"/>
                </a:lnTo>
                <a:lnTo>
                  <a:pt x="0" y="925554"/>
                </a:lnTo>
                <a:lnTo>
                  <a:pt x="0" y="0"/>
                </a:lnTo>
                <a:close/>
              </a:path>
            </a:pathLst>
          </a:custGeom>
          <a:blipFill>
            <a:blip r:embed="rId8"/>
            <a:stretch>
              <a:fillRect/>
            </a:stretch>
          </a:blipFill>
        </p:spPr>
        <p:txBody>
          <a:bodyPr/>
          <a:lstStyle/>
          <a:p>
            <a:endParaRPr lang="en-US"/>
          </a:p>
        </p:txBody>
      </p:sp>
      <p:pic>
        <p:nvPicPr>
          <p:cNvPr id="13" name="Picture 1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9"/>
          <a:srcRect/>
          <a:stretch>
            <a:fillRect/>
          </a:stretch>
        </p:blipFill>
        <p:spPr>
          <a:xfrm>
            <a:off x="1172525" y="0"/>
            <a:ext cx="15942951" cy="8967910"/>
          </a:xfrm>
          <a:prstGeom prst="rect">
            <a:avLst/>
          </a:prstGeom>
        </p:spPr>
      </p:pic>
      <p:sp>
        <p:nvSpPr>
          <p:cNvPr id="14" name="TextBox 14"/>
          <p:cNvSpPr txBox="1"/>
          <p:nvPr/>
        </p:nvSpPr>
        <p:spPr>
          <a:xfrm>
            <a:off x="15235590" y="9542651"/>
            <a:ext cx="3619683" cy="128396"/>
          </a:xfrm>
          <a:prstGeom prst="rect">
            <a:avLst/>
          </a:prstGeom>
        </p:spPr>
        <p:txBody>
          <a:bodyPr lIns="0" tIns="0" rIns="0" bIns="0" rtlCol="0" anchor="t">
            <a:spAutoFit/>
          </a:bodyPr>
          <a:lstStyle/>
          <a:p>
            <a:pPr algn="ctr">
              <a:lnSpc>
                <a:spcPts val="909"/>
              </a:lnSpc>
            </a:pPr>
            <a:r>
              <a:rPr lang="en-US" sz="909" spc="454">
                <a:solidFill>
                  <a:srgbClr val="584344"/>
                </a:solidFill>
                <a:latin typeface="Poppins Light"/>
                <a:ea typeface="Poppins Light"/>
                <a:cs typeface="Poppins Light"/>
                <a:sym typeface="Poppins Light"/>
              </a:rPr>
              <a:t>MAX. 31°C - MIN.15°C</a:t>
            </a:r>
          </a:p>
        </p:txBody>
      </p:sp>
      <p:sp>
        <p:nvSpPr>
          <p:cNvPr id="15" name="TextBox 15"/>
          <p:cNvSpPr txBox="1"/>
          <p:nvPr/>
        </p:nvSpPr>
        <p:spPr>
          <a:xfrm>
            <a:off x="1084257" y="9327316"/>
            <a:ext cx="3619683" cy="869949"/>
          </a:xfrm>
          <a:prstGeom prst="rect">
            <a:avLst/>
          </a:prstGeom>
        </p:spPr>
        <p:txBody>
          <a:bodyPr wrap="square" lIns="0" tIns="0" rIns="0" bIns="0" rtlCol="0" anchor="t">
            <a:spAutoFit/>
          </a:bodyPr>
          <a:lstStyle/>
          <a:p>
            <a:pPr algn="l">
              <a:lnSpc>
                <a:spcPts val="3500"/>
              </a:lnSpc>
            </a:pPr>
            <a:r>
              <a:rPr lang="en-US" sz="2500" b="1" dirty="0">
                <a:solidFill>
                  <a:srgbClr val="1800AD"/>
                </a:solidFill>
                <a:latin typeface="Canva Sans Bold"/>
                <a:ea typeface="Canva Sans Bold"/>
                <a:cs typeface="Canva Sans Bold"/>
                <a:sym typeface="Canva Sans Bold"/>
              </a:rPr>
              <a:t>SLIIT</a:t>
            </a:r>
          </a:p>
          <a:p>
            <a:pPr algn="l">
              <a:lnSpc>
                <a:spcPts val="3500"/>
              </a:lnSpc>
            </a:pPr>
            <a:r>
              <a:rPr lang="en-US" sz="2500" b="1" dirty="0">
                <a:solidFill>
                  <a:srgbClr val="1800AD"/>
                </a:solidFill>
                <a:latin typeface="Canva Sans Bold"/>
                <a:ea typeface="Canva Sans Bold"/>
                <a:cs typeface="Canva Sans Bold"/>
                <a:sym typeface="Canva Sans Bold"/>
              </a:rPr>
              <a:t>Faculty of Computing</a:t>
            </a:r>
          </a:p>
        </p:txBody>
      </p:sp>
      <p:sp>
        <p:nvSpPr>
          <p:cNvPr id="16" name="TextBox 16"/>
          <p:cNvSpPr txBox="1"/>
          <p:nvPr/>
        </p:nvSpPr>
        <p:spPr>
          <a:xfrm>
            <a:off x="5383418" y="9576317"/>
            <a:ext cx="2397323" cy="580390"/>
          </a:xfrm>
          <a:prstGeom prst="rect">
            <a:avLst/>
          </a:prstGeom>
        </p:spPr>
        <p:txBody>
          <a:bodyPr lIns="0" tIns="0" rIns="0" bIns="0" rtlCol="0" anchor="t">
            <a:spAutoFit/>
          </a:bodyPr>
          <a:lstStyle/>
          <a:p>
            <a:pPr algn="ctr">
              <a:lnSpc>
                <a:spcPts val="4759"/>
              </a:lnSpc>
            </a:pPr>
            <a:r>
              <a:rPr lang="en-US" sz="3399" b="1">
                <a:solidFill>
                  <a:srgbClr val="1800AD"/>
                </a:solidFill>
                <a:latin typeface="Canva Sans Bold"/>
                <a:ea typeface="Canva Sans Bold"/>
                <a:cs typeface="Canva Sans Bold"/>
                <a:sym typeface="Canva Sans Bold"/>
              </a:rPr>
              <a:t> R26-IT-132 </a:t>
            </a:r>
          </a:p>
        </p:txBody>
      </p:sp>
    </p:spTree>
  </p:cSld>
  <p:clrMapOvr>
    <a:masterClrMapping/>
  </p:clrMapOvr>
  <p:timing>
    <p:tnLst>
      <p:par>
        <p:cTn id="1" dur="indefinite" restart="never" nodeType="tmRoot">
          <p:childTnLst>
            <p:video>
              <p:cMediaNode vol="100000">
                <p:cTn id="2" fill="hold" display="0">
                  <p:stCondLst>
                    <p:cond delay="indefinite"/>
                  </p:stCondLst>
                </p:cTn>
                <p:tgtEl>
                  <p:spTgt spid="13"/>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29600" y="1084911"/>
            <a:ext cx="2001125" cy="434632"/>
            <a:chOff x="0" y="0"/>
            <a:chExt cx="527045" cy="114471"/>
          </a:xfrm>
        </p:grpSpPr>
        <p:sp>
          <p:nvSpPr>
            <p:cNvPr id="3" name="Freeform 3"/>
            <p:cNvSpPr/>
            <p:nvPr/>
          </p:nvSpPr>
          <p:spPr>
            <a:xfrm>
              <a:off x="0" y="0"/>
              <a:ext cx="527045" cy="114471"/>
            </a:xfrm>
            <a:custGeom>
              <a:avLst/>
              <a:gdLst/>
              <a:ahLst/>
              <a:cxnLst/>
              <a:rect l="l" t="t" r="r" b="b"/>
              <a:pathLst>
                <a:path w="527045" h="114471">
                  <a:moveTo>
                    <a:pt x="57236" y="0"/>
                  </a:moveTo>
                  <a:lnTo>
                    <a:pt x="469810" y="0"/>
                  </a:lnTo>
                  <a:cubicBezTo>
                    <a:pt x="484990" y="0"/>
                    <a:pt x="499548" y="6030"/>
                    <a:pt x="510281" y="16764"/>
                  </a:cubicBezTo>
                  <a:cubicBezTo>
                    <a:pt x="521015" y="27498"/>
                    <a:pt x="527045" y="42056"/>
                    <a:pt x="527045" y="57236"/>
                  </a:cubicBezTo>
                  <a:lnTo>
                    <a:pt x="527045" y="57236"/>
                  </a:lnTo>
                  <a:cubicBezTo>
                    <a:pt x="527045" y="72415"/>
                    <a:pt x="521015" y="86973"/>
                    <a:pt x="510281" y="97707"/>
                  </a:cubicBezTo>
                  <a:cubicBezTo>
                    <a:pt x="499548" y="108441"/>
                    <a:pt x="484990" y="114471"/>
                    <a:pt x="469810" y="114471"/>
                  </a:cubicBezTo>
                  <a:lnTo>
                    <a:pt x="57236" y="114471"/>
                  </a:lnTo>
                  <a:cubicBezTo>
                    <a:pt x="42056" y="114471"/>
                    <a:pt x="27498" y="108441"/>
                    <a:pt x="16764" y="97707"/>
                  </a:cubicBezTo>
                  <a:cubicBezTo>
                    <a:pt x="6030" y="86973"/>
                    <a:pt x="0" y="72415"/>
                    <a:pt x="0" y="57236"/>
                  </a:cubicBezTo>
                  <a:lnTo>
                    <a:pt x="0" y="57236"/>
                  </a:lnTo>
                  <a:cubicBezTo>
                    <a:pt x="0" y="42056"/>
                    <a:pt x="6030" y="27498"/>
                    <a:pt x="16764" y="16764"/>
                  </a:cubicBezTo>
                  <a:cubicBezTo>
                    <a:pt x="27498" y="6030"/>
                    <a:pt x="42056" y="0"/>
                    <a:pt x="57236" y="0"/>
                  </a:cubicBezTo>
                  <a:close/>
                </a:path>
              </a:pathLst>
            </a:custGeom>
            <a:solidFill>
              <a:srgbClr val="1B95F4"/>
            </a:solidFill>
          </p:spPr>
          <p:txBody>
            <a:bodyPr/>
            <a:lstStyle/>
            <a:p>
              <a:endParaRPr lang="en-US"/>
            </a:p>
          </p:txBody>
        </p:sp>
        <p:sp>
          <p:nvSpPr>
            <p:cNvPr id="4" name="TextBox 4"/>
            <p:cNvSpPr txBox="1"/>
            <p:nvPr/>
          </p:nvSpPr>
          <p:spPr>
            <a:xfrm>
              <a:off x="0" y="-38100"/>
              <a:ext cx="527045" cy="152571"/>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9803067" y="-1585283"/>
            <a:ext cx="8637196" cy="5775020"/>
            <a:chOff x="0" y="0"/>
            <a:chExt cx="1338128" cy="894702"/>
          </a:xfrm>
        </p:grpSpPr>
        <p:sp>
          <p:nvSpPr>
            <p:cNvPr id="6" name="Freeform 6"/>
            <p:cNvSpPr/>
            <p:nvPr/>
          </p:nvSpPr>
          <p:spPr>
            <a:xfrm>
              <a:off x="0" y="0"/>
              <a:ext cx="1338128" cy="894702"/>
            </a:xfrm>
            <a:custGeom>
              <a:avLst/>
              <a:gdLst/>
              <a:ahLst/>
              <a:cxnLst/>
              <a:rect l="l" t="t" r="r" b="b"/>
              <a:pathLst>
                <a:path w="1338128" h="894702">
                  <a:moveTo>
                    <a:pt x="67226" y="0"/>
                  </a:moveTo>
                  <a:lnTo>
                    <a:pt x="1270902" y="0"/>
                  </a:lnTo>
                  <a:cubicBezTo>
                    <a:pt x="1288731" y="0"/>
                    <a:pt x="1305830" y="7083"/>
                    <a:pt x="1318438" y="19690"/>
                  </a:cubicBezTo>
                  <a:cubicBezTo>
                    <a:pt x="1331045" y="32297"/>
                    <a:pt x="1338128" y="49397"/>
                    <a:pt x="1338128" y="67226"/>
                  </a:cubicBezTo>
                  <a:lnTo>
                    <a:pt x="1338128" y="827476"/>
                  </a:lnTo>
                  <a:cubicBezTo>
                    <a:pt x="1338128" y="845305"/>
                    <a:pt x="1331045" y="862404"/>
                    <a:pt x="1318438" y="875012"/>
                  </a:cubicBezTo>
                  <a:cubicBezTo>
                    <a:pt x="1305830" y="887619"/>
                    <a:pt x="1288731" y="894702"/>
                    <a:pt x="1270902" y="894702"/>
                  </a:cubicBezTo>
                  <a:lnTo>
                    <a:pt x="67226" y="894702"/>
                  </a:lnTo>
                  <a:cubicBezTo>
                    <a:pt x="49397" y="894702"/>
                    <a:pt x="32297" y="887619"/>
                    <a:pt x="19690" y="875012"/>
                  </a:cubicBezTo>
                  <a:cubicBezTo>
                    <a:pt x="7083" y="862404"/>
                    <a:pt x="0" y="845305"/>
                    <a:pt x="0" y="827476"/>
                  </a:cubicBezTo>
                  <a:lnTo>
                    <a:pt x="0" y="67226"/>
                  </a:lnTo>
                  <a:cubicBezTo>
                    <a:pt x="0" y="49397"/>
                    <a:pt x="7083" y="32297"/>
                    <a:pt x="19690" y="19690"/>
                  </a:cubicBezTo>
                  <a:cubicBezTo>
                    <a:pt x="32297" y="7083"/>
                    <a:pt x="49397" y="0"/>
                    <a:pt x="67226" y="0"/>
                  </a:cubicBezTo>
                  <a:close/>
                </a:path>
              </a:pathLst>
            </a:custGeom>
            <a:blipFill>
              <a:blip r:embed="rId2"/>
              <a:stretch>
                <a:fillRect l="-16805" r="-16805"/>
              </a:stretch>
            </a:blipFill>
          </p:spPr>
          <p:txBody>
            <a:bodyPr/>
            <a:lstStyle/>
            <a:p>
              <a:endParaRPr lang="en-US"/>
            </a:p>
          </p:txBody>
        </p:sp>
      </p:grpSp>
      <p:grpSp>
        <p:nvGrpSpPr>
          <p:cNvPr id="7" name="Group 7"/>
          <p:cNvGrpSpPr/>
          <p:nvPr/>
        </p:nvGrpSpPr>
        <p:grpSpPr>
          <a:xfrm>
            <a:off x="15672344" y="9833129"/>
            <a:ext cx="2541464" cy="453871"/>
            <a:chOff x="0" y="0"/>
            <a:chExt cx="3388618" cy="605161"/>
          </a:xfrm>
        </p:grpSpPr>
        <p:sp>
          <p:nvSpPr>
            <p:cNvPr id="8" name="Freeform 8"/>
            <p:cNvSpPr/>
            <p:nvPr/>
          </p:nvSpPr>
          <p:spPr>
            <a:xfrm>
              <a:off x="239010" y="0"/>
              <a:ext cx="312665" cy="404626"/>
            </a:xfrm>
            <a:custGeom>
              <a:avLst/>
              <a:gdLst/>
              <a:ahLst/>
              <a:cxnLst/>
              <a:rect l="l" t="t" r="r" b="b"/>
              <a:pathLst>
                <a:path w="312665" h="404626">
                  <a:moveTo>
                    <a:pt x="0" y="0"/>
                  </a:moveTo>
                  <a:lnTo>
                    <a:pt x="312665" y="0"/>
                  </a:lnTo>
                  <a:lnTo>
                    <a:pt x="312665" y="404626"/>
                  </a:lnTo>
                  <a:lnTo>
                    <a:pt x="0" y="40462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885959" y="42469"/>
              <a:ext cx="533414" cy="195028"/>
            </a:xfrm>
            <a:custGeom>
              <a:avLst/>
              <a:gdLst/>
              <a:ahLst/>
              <a:cxnLst/>
              <a:rect l="l" t="t" r="r" b="b"/>
              <a:pathLst>
                <a:path w="533414" h="195028">
                  <a:moveTo>
                    <a:pt x="0" y="0"/>
                  </a:moveTo>
                  <a:lnTo>
                    <a:pt x="533414" y="0"/>
                  </a:lnTo>
                  <a:lnTo>
                    <a:pt x="533414" y="195027"/>
                  </a:lnTo>
                  <a:lnTo>
                    <a:pt x="0" y="195027"/>
                  </a:lnTo>
                  <a:lnTo>
                    <a:pt x="0" y="0"/>
                  </a:lnTo>
                  <a:close/>
                </a:path>
              </a:pathLst>
            </a:custGeom>
            <a:blipFill>
              <a:blip>
                <a:extLst>
                  <a:ext uri="{96DAC541-7B7A-43D3-8B79-37D633B846F1}">
                    <asvg:svgBlip xmlns:asvg="http://schemas.microsoft.com/office/drawing/2016/SVG/main" r:embed="rId4"/>
                  </a:ext>
                </a:extLst>
              </a:blip>
              <a:stretch>
                <a:fillRect r="-20" b="-65629"/>
              </a:stretch>
            </a:blipFill>
          </p:spPr>
          <p:txBody>
            <a:bodyPr/>
            <a:lstStyle/>
            <a:p>
              <a:endParaRPr lang="en-US"/>
            </a:p>
          </p:txBody>
        </p:sp>
        <p:sp>
          <p:nvSpPr>
            <p:cNvPr id="10" name="Freeform 10"/>
            <p:cNvSpPr/>
            <p:nvPr/>
          </p:nvSpPr>
          <p:spPr>
            <a:xfrm flipV="1">
              <a:off x="960221" y="217748"/>
              <a:ext cx="384890" cy="152341"/>
            </a:xfrm>
            <a:custGeom>
              <a:avLst/>
              <a:gdLst/>
              <a:ahLst/>
              <a:cxnLst/>
              <a:rect l="l" t="t" r="r" b="b"/>
              <a:pathLst>
                <a:path w="384890" h="152341">
                  <a:moveTo>
                    <a:pt x="0" y="152340"/>
                  </a:moveTo>
                  <a:lnTo>
                    <a:pt x="384890" y="152340"/>
                  </a:lnTo>
                  <a:lnTo>
                    <a:pt x="384890" y="0"/>
                  </a:lnTo>
                  <a:lnTo>
                    <a:pt x="0" y="0"/>
                  </a:lnTo>
                  <a:lnTo>
                    <a:pt x="0" y="152340"/>
                  </a:lnTo>
                  <a:close/>
                </a:path>
              </a:pathLst>
            </a:custGeom>
            <a:blipFill>
              <a:blip>
                <a:extLst>
                  <a:ext uri="{96DAC541-7B7A-43D3-8B79-37D633B846F1}">
                    <asvg:svgBlip xmlns:asvg="http://schemas.microsoft.com/office/drawing/2016/SVG/main" r:embed="rId4"/>
                  </a:ext>
                </a:extLst>
              </a:blip>
              <a:stretch>
                <a:fillRect r="-38616" b="-112039"/>
              </a:stretch>
            </a:blipFill>
          </p:spPr>
          <p:txBody>
            <a:bodyPr/>
            <a:lstStyle/>
            <a:p>
              <a:endParaRPr lang="en-US"/>
            </a:p>
          </p:txBody>
        </p:sp>
        <p:sp>
          <p:nvSpPr>
            <p:cNvPr id="11" name="Freeform 11"/>
            <p:cNvSpPr/>
            <p:nvPr/>
          </p:nvSpPr>
          <p:spPr>
            <a:xfrm>
              <a:off x="1923654" y="0"/>
              <a:ext cx="404626" cy="404626"/>
            </a:xfrm>
            <a:custGeom>
              <a:avLst/>
              <a:gdLst/>
              <a:ahLst/>
              <a:cxnLst/>
              <a:rect l="l" t="t" r="r" b="b"/>
              <a:pathLst>
                <a:path w="404626" h="404626">
                  <a:moveTo>
                    <a:pt x="0" y="0"/>
                  </a:moveTo>
                  <a:lnTo>
                    <a:pt x="404626" y="0"/>
                  </a:lnTo>
                  <a:lnTo>
                    <a:pt x="404626" y="404626"/>
                  </a:lnTo>
                  <a:lnTo>
                    <a:pt x="0" y="40462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2" name="Freeform 12"/>
            <p:cNvSpPr/>
            <p:nvPr/>
          </p:nvSpPr>
          <p:spPr>
            <a:xfrm>
              <a:off x="2741791" y="67400"/>
              <a:ext cx="463568" cy="269826"/>
            </a:xfrm>
            <a:custGeom>
              <a:avLst/>
              <a:gdLst/>
              <a:ahLst/>
              <a:cxnLst/>
              <a:rect l="l" t="t" r="r" b="b"/>
              <a:pathLst>
                <a:path w="463568" h="269826">
                  <a:moveTo>
                    <a:pt x="0" y="0"/>
                  </a:moveTo>
                  <a:lnTo>
                    <a:pt x="463567" y="0"/>
                  </a:lnTo>
                  <a:lnTo>
                    <a:pt x="463567" y="269826"/>
                  </a:lnTo>
                  <a:lnTo>
                    <a:pt x="0" y="26982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3" name="TextBox 13"/>
            <p:cNvSpPr txBox="1"/>
            <p:nvPr/>
          </p:nvSpPr>
          <p:spPr>
            <a:xfrm>
              <a:off x="0" y="456221"/>
              <a:ext cx="790685" cy="148940"/>
            </a:xfrm>
            <a:prstGeom prst="rect">
              <a:avLst/>
            </a:prstGeom>
          </p:spPr>
          <p:txBody>
            <a:bodyPr lIns="0" tIns="0" rIns="0" bIns="0" rtlCol="0" anchor="t">
              <a:spAutoFit/>
            </a:bodyPr>
            <a:lstStyle/>
            <a:p>
              <a:pPr algn="ctr">
                <a:lnSpc>
                  <a:spcPts val="795"/>
                </a:lnSpc>
              </a:pPr>
              <a:r>
                <a:rPr lang="en-US" sz="795" b="1">
                  <a:solidFill>
                    <a:srgbClr val="000000"/>
                  </a:solidFill>
                  <a:latin typeface="Poppins Semi-Bold"/>
                  <a:ea typeface="Poppins Semi-Bold"/>
                  <a:cs typeface="Poppins Semi-Bold"/>
                  <a:sym typeface="Poppins Semi-Bold"/>
                </a:rPr>
                <a:t>20%</a:t>
              </a:r>
            </a:p>
          </p:txBody>
        </p:sp>
        <p:sp>
          <p:nvSpPr>
            <p:cNvPr id="14" name="TextBox 14"/>
            <p:cNvSpPr txBox="1"/>
            <p:nvPr/>
          </p:nvSpPr>
          <p:spPr>
            <a:xfrm>
              <a:off x="843023" y="456221"/>
              <a:ext cx="790503" cy="148940"/>
            </a:xfrm>
            <a:prstGeom prst="rect">
              <a:avLst/>
            </a:prstGeom>
          </p:spPr>
          <p:txBody>
            <a:bodyPr lIns="0" tIns="0" rIns="0" bIns="0" rtlCol="0" anchor="t">
              <a:spAutoFit/>
            </a:bodyPr>
            <a:lstStyle/>
            <a:p>
              <a:pPr algn="ctr">
                <a:lnSpc>
                  <a:spcPts val="795"/>
                </a:lnSpc>
              </a:pPr>
              <a:r>
                <a:rPr lang="en-US" sz="795" b="1">
                  <a:solidFill>
                    <a:srgbClr val="000000"/>
                  </a:solidFill>
                  <a:latin typeface="Poppins Semi-Bold"/>
                  <a:ea typeface="Poppins Semi-Bold"/>
                  <a:cs typeface="Poppins Semi-Bold"/>
                  <a:sym typeface="Poppins Semi-Bold"/>
                </a:rPr>
                <a:t>15 KM/H</a:t>
              </a:r>
            </a:p>
          </p:txBody>
        </p:sp>
        <p:sp>
          <p:nvSpPr>
            <p:cNvPr id="15" name="TextBox 15"/>
            <p:cNvSpPr txBox="1"/>
            <p:nvPr/>
          </p:nvSpPr>
          <p:spPr>
            <a:xfrm>
              <a:off x="1730716" y="456221"/>
              <a:ext cx="790503" cy="148940"/>
            </a:xfrm>
            <a:prstGeom prst="rect">
              <a:avLst/>
            </a:prstGeom>
          </p:spPr>
          <p:txBody>
            <a:bodyPr lIns="0" tIns="0" rIns="0" bIns="0" rtlCol="0" anchor="t">
              <a:spAutoFit/>
            </a:bodyPr>
            <a:lstStyle/>
            <a:p>
              <a:pPr algn="ctr">
                <a:lnSpc>
                  <a:spcPts val="795"/>
                </a:lnSpc>
              </a:pPr>
              <a:r>
                <a:rPr lang="en-US" sz="795" b="1">
                  <a:solidFill>
                    <a:srgbClr val="000000"/>
                  </a:solidFill>
                  <a:latin typeface="Poppins Semi-Bold"/>
                  <a:ea typeface="Poppins Semi-Bold"/>
                  <a:cs typeface="Poppins Semi-Bold"/>
                  <a:sym typeface="Poppins Semi-Bold"/>
                </a:rPr>
                <a:t>WEST</a:t>
              </a:r>
            </a:p>
          </p:txBody>
        </p:sp>
        <p:sp>
          <p:nvSpPr>
            <p:cNvPr id="16" name="TextBox 16"/>
            <p:cNvSpPr txBox="1"/>
            <p:nvPr/>
          </p:nvSpPr>
          <p:spPr>
            <a:xfrm>
              <a:off x="2598116" y="456221"/>
              <a:ext cx="790503" cy="148940"/>
            </a:xfrm>
            <a:prstGeom prst="rect">
              <a:avLst/>
            </a:prstGeom>
          </p:spPr>
          <p:txBody>
            <a:bodyPr lIns="0" tIns="0" rIns="0" bIns="0" rtlCol="0" anchor="t">
              <a:spAutoFit/>
            </a:bodyPr>
            <a:lstStyle/>
            <a:p>
              <a:pPr algn="ctr">
                <a:lnSpc>
                  <a:spcPts val="795"/>
                </a:lnSpc>
              </a:pPr>
              <a:r>
                <a:rPr lang="en-US" sz="795" b="1">
                  <a:solidFill>
                    <a:srgbClr val="000000"/>
                  </a:solidFill>
                  <a:latin typeface="Poppins Semi-Bold"/>
                  <a:ea typeface="Poppins Semi-Bold"/>
                  <a:cs typeface="Poppins Semi-Bold"/>
                  <a:sym typeface="Poppins Semi-Bold"/>
                </a:rPr>
                <a:t>1023.0 MB</a:t>
              </a:r>
            </a:p>
          </p:txBody>
        </p:sp>
      </p:grpSp>
      <p:sp>
        <p:nvSpPr>
          <p:cNvPr id="17" name="Freeform 17"/>
          <p:cNvSpPr/>
          <p:nvPr/>
        </p:nvSpPr>
        <p:spPr>
          <a:xfrm>
            <a:off x="158703" y="9258300"/>
            <a:ext cx="925554" cy="925554"/>
          </a:xfrm>
          <a:custGeom>
            <a:avLst/>
            <a:gdLst/>
            <a:ahLst/>
            <a:cxnLst/>
            <a:rect l="l" t="t" r="r" b="b"/>
            <a:pathLst>
              <a:path w="925554" h="925554">
                <a:moveTo>
                  <a:pt x="0" y="0"/>
                </a:moveTo>
                <a:lnTo>
                  <a:pt x="925553" y="0"/>
                </a:lnTo>
                <a:lnTo>
                  <a:pt x="925553" y="925554"/>
                </a:lnTo>
                <a:lnTo>
                  <a:pt x="0" y="925554"/>
                </a:lnTo>
                <a:lnTo>
                  <a:pt x="0" y="0"/>
                </a:lnTo>
                <a:close/>
              </a:path>
            </a:pathLst>
          </a:custGeom>
          <a:blipFill>
            <a:blip r:embed="rId7"/>
            <a:stretch>
              <a:fillRect/>
            </a:stretch>
          </a:blipFill>
        </p:spPr>
        <p:txBody>
          <a:bodyPr/>
          <a:lstStyle/>
          <a:p>
            <a:endParaRPr lang="en-US"/>
          </a:p>
        </p:txBody>
      </p:sp>
      <p:sp>
        <p:nvSpPr>
          <p:cNvPr id="18" name="TextBox 18"/>
          <p:cNvSpPr txBox="1"/>
          <p:nvPr/>
        </p:nvSpPr>
        <p:spPr>
          <a:xfrm>
            <a:off x="16332141" y="8825357"/>
            <a:ext cx="1426581" cy="545687"/>
          </a:xfrm>
          <a:prstGeom prst="rect">
            <a:avLst/>
          </a:prstGeom>
        </p:spPr>
        <p:txBody>
          <a:bodyPr lIns="0" tIns="0" rIns="0" bIns="0" rtlCol="0" anchor="t">
            <a:spAutoFit/>
          </a:bodyPr>
          <a:lstStyle/>
          <a:p>
            <a:pPr algn="ctr">
              <a:lnSpc>
                <a:spcPts val="3713"/>
              </a:lnSpc>
            </a:pPr>
            <a:r>
              <a:rPr lang="en-US" sz="3713">
                <a:solidFill>
                  <a:srgbClr val="000000"/>
                </a:solidFill>
                <a:latin typeface="Poppins"/>
                <a:ea typeface="Poppins"/>
                <a:cs typeface="Poppins"/>
                <a:sym typeface="Poppins"/>
              </a:rPr>
              <a:t>30°C</a:t>
            </a:r>
          </a:p>
        </p:txBody>
      </p:sp>
      <p:sp>
        <p:nvSpPr>
          <p:cNvPr id="19" name="TextBox 19"/>
          <p:cNvSpPr txBox="1"/>
          <p:nvPr/>
        </p:nvSpPr>
        <p:spPr>
          <a:xfrm>
            <a:off x="15235590" y="9542651"/>
            <a:ext cx="3619683" cy="128396"/>
          </a:xfrm>
          <a:prstGeom prst="rect">
            <a:avLst/>
          </a:prstGeom>
        </p:spPr>
        <p:txBody>
          <a:bodyPr lIns="0" tIns="0" rIns="0" bIns="0" rtlCol="0" anchor="t">
            <a:spAutoFit/>
          </a:bodyPr>
          <a:lstStyle/>
          <a:p>
            <a:pPr algn="ctr">
              <a:lnSpc>
                <a:spcPts val="909"/>
              </a:lnSpc>
            </a:pPr>
            <a:r>
              <a:rPr lang="en-US" sz="909" spc="454">
                <a:solidFill>
                  <a:srgbClr val="584344"/>
                </a:solidFill>
                <a:latin typeface="Poppins Light"/>
                <a:ea typeface="Poppins Light"/>
                <a:cs typeface="Poppins Light"/>
                <a:sym typeface="Poppins Light"/>
              </a:rPr>
              <a:t>MAX. 31°C - MIN.15°C</a:t>
            </a:r>
          </a:p>
        </p:txBody>
      </p:sp>
      <p:sp>
        <p:nvSpPr>
          <p:cNvPr id="20" name="TextBox 20"/>
          <p:cNvSpPr txBox="1"/>
          <p:nvPr/>
        </p:nvSpPr>
        <p:spPr>
          <a:xfrm>
            <a:off x="2419897" y="495737"/>
            <a:ext cx="7383170" cy="987425"/>
          </a:xfrm>
          <a:prstGeom prst="rect">
            <a:avLst/>
          </a:prstGeom>
        </p:spPr>
        <p:txBody>
          <a:bodyPr lIns="0" tIns="0" rIns="0" bIns="0" rtlCol="0" anchor="t">
            <a:spAutoFit/>
          </a:bodyPr>
          <a:lstStyle/>
          <a:p>
            <a:pPr algn="l">
              <a:lnSpc>
                <a:spcPts val="6999"/>
              </a:lnSpc>
            </a:pPr>
            <a:r>
              <a:rPr lang="en-US" sz="6999" b="1">
                <a:solidFill>
                  <a:srgbClr val="161C58"/>
                </a:solidFill>
                <a:latin typeface="Poppins Ultra-Bold"/>
                <a:ea typeface="Poppins Ultra-Bold"/>
                <a:cs typeface="Poppins Ultra-Bold"/>
                <a:sym typeface="Poppins Ultra-Bold"/>
              </a:rPr>
              <a:t>PROBLEM</a:t>
            </a:r>
          </a:p>
        </p:txBody>
      </p:sp>
      <p:sp>
        <p:nvSpPr>
          <p:cNvPr id="21" name="TextBox 21"/>
          <p:cNvSpPr txBox="1"/>
          <p:nvPr/>
        </p:nvSpPr>
        <p:spPr>
          <a:xfrm>
            <a:off x="0" y="1452869"/>
            <a:ext cx="9283240" cy="4361650"/>
          </a:xfrm>
          <a:prstGeom prst="rect">
            <a:avLst/>
          </a:prstGeom>
        </p:spPr>
        <p:txBody>
          <a:bodyPr lIns="0" tIns="0" rIns="0" bIns="0" rtlCol="0" anchor="t">
            <a:spAutoFit/>
          </a:bodyPr>
          <a:lstStyle/>
          <a:p>
            <a:pPr marL="589417" lvl="1" indent="-294709" algn="just">
              <a:lnSpc>
                <a:spcPts val="3822"/>
              </a:lnSpc>
              <a:buFont typeface="Arial"/>
              <a:buChar char="•"/>
            </a:pPr>
            <a:r>
              <a:rPr lang="en-US" sz="2730" b="1">
                <a:solidFill>
                  <a:srgbClr val="000000"/>
                </a:solidFill>
                <a:latin typeface="Lato Bold"/>
                <a:ea typeface="Lato Bold"/>
                <a:cs typeface="Lato Bold"/>
                <a:sym typeface="Lato Bold"/>
              </a:rPr>
              <a:t>Global weather models provide regional-scale forecasts (Ex: GFS and ECMWF)</a:t>
            </a:r>
          </a:p>
          <a:p>
            <a:pPr marL="589417" lvl="1" indent="-294709" algn="just">
              <a:lnSpc>
                <a:spcPts val="3822"/>
              </a:lnSpc>
              <a:buFont typeface="Arial"/>
              <a:buChar char="•"/>
            </a:pPr>
            <a:r>
              <a:rPr lang="en-US" sz="2730" b="1">
                <a:solidFill>
                  <a:srgbClr val="000000"/>
                </a:solidFill>
                <a:latin typeface="Lato Bold"/>
                <a:ea typeface="Lato Bold"/>
                <a:cs typeface="Lato Bold"/>
                <a:sym typeface="Lato Bold"/>
              </a:rPr>
              <a:t>Airport weather conditions can change rapidly within a small area</a:t>
            </a:r>
          </a:p>
          <a:p>
            <a:pPr marL="589417" lvl="1" indent="-294709" algn="just">
              <a:lnSpc>
                <a:spcPts val="3822"/>
              </a:lnSpc>
              <a:buFont typeface="Arial"/>
              <a:buChar char="•"/>
            </a:pPr>
            <a:r>
              <a:rPr lang="en-US" sz="2730" b="1">
                <a:solidFill>
                  <a:srgbClr val="000000"/>
                </a:solidFill>
                <a:latin typeface="Lato Bold"/>
                <a:ea typeface="Lato Bold"/>
                <a:cs typeface="Lato Bold"/>
                <a:sym typeface="Lato Bold"/>
              </a:rPr>
              <a:t>Monsoon-related variations are difficult to capture at airport level</a:t>
            </a:r>
          </a:p>
          <a:p>
            <a:pPr marL="589417" lvl="1" indent="-294709" algn="just">
              <a:lnSpc>
                <a:spcPts val="3822"/>
              </a:lnSpc>
              <a:buFont typeface="Arial"/>
              <a:buChar char="•"/>
            </a:pPr>
            <a:r>
              <a:rPr lang="en-US" sz="2730" b="1">
                <a:solidFill>
                  <a:srgbClr val="000000"/>
                </a:solidFill>
                <a:latin typeface="Lato Bold"/>
                <a:ea typeface="Lato Bold"/>
                <a:cs typeface="Lato Bold"/>
                <a:sym typeface="Lato Bold"/>
              </a:rPr>
              <a:t>Existing forecasts may not accurately represent hyper-local conditions at VCBI</a:t>
            </a:r>
          </a:p>
          <a:p>
            <a:pPr algn="l">
              <a:lnSpc>
                <a:spcPts val="3822"/>
              </a:lnSpc>
              <a:spcBef>
                <a:spcPct val="0"/>
              </a:spcBef>
            </a:pPr>
            <a:endParaRPr lang="en-US" sz="2730" b="1">
              <a:solidFill>
                <a:srgbClr val="000000"/>
              </a:solidFill>
              <a:latin typeface="Lato Bold"/>
              <a:ea typeface="Lato Bold"/>
              <a:cs typeface="Lato Bold"/>
              <a:sym typeface="Lato Bold"/>
            </a:endParaRPr>
          </a:p>
        </p:txBody>
      </p:sp>
      <p:sp>
        <p:nvSpPr>
          <p:cNvPr id="22" name="TextBox 22"/>
          <p:cNvSpPr txBox="1"/>
          <p:nvPr/>
        </p:nvSpPr>
        <p:spPr>
          <a:xfrm>
            <a:off x="1084257" y="9258300"/>
            <a:ext cx="3484299" cy="868251"/>
          </a:xfrm>
          <a:prstGeom prst="rect">
            <a:avLst/>
          </a:prstGeom>
        </p:spPr>
        <p:txBody>
          <a:bodyPr wrap="square" lIns="0" tIns="0" rIns="0" bIns="0" rtlCol="0" anchor="t">
            <a:spAutoFit/>
          </a:bodyPr>
          <a:lstStyle/>
          <a:p>
            <a:pPr algn="l">
              <a:lnSpc>
                <a:spcPts val="3500"/>
              </a:lnSpc>
            </a:pPr>
            <a:r>
              <a:rPr lang="en-US" sz="2500" b="1" dirty="0">
                <a:solidFill>
                  <a:srgbClr val="1800AD"/>
                </a:solidFill>
                <a:latin typeface="Canva Sans Bold"/>
                <a:ea typeface="Canva Sans Bold"/>
                <a:cs typeface="Canva Sans Bold"/>
                <a:sym typeface="Canva Sans Bold"/>
              </a:rPr>
              <a:t>SLIIT</a:t>
            </a:r>
          </a:p>
          <a:p>
            <a:pPr algn="l">
              <a:lnSpc>
                <a:spcPts val="3500"/>
              </a:lnSpc>
            </a:pPr>
            <a:r>
              <a:rPr lang="en-US" sz="2500" b="1" dirty="0">
                <a:solidFill>
                  <a:srgbClr val="1800AD"/>
                </a:solidFill>
                <a:latin typeface="Canva Sans Bold"/>
                <a:ea typeface="Canva Sans Bold"/>
                <a:cs typeface="Canva Sans Bold"/>
                <a:sym typeface="Canva Sans Bold"/>
              </a:rPr>
              <a:t>Faculty of Computing</a:t>
            </a:r>
          </a:p>
        </p:txBody>
      </p:sp>
      <p:sp>
        <p:nvSpPr>
          <p:cNvPr id="23" name="TextBox 23"/>
          <p:cNvSpPr txBox="1"/>
          <p:nvPr/>
        </p:nvSpPr>
        <p:spPr>
          <a:xfrm>
            <a:off x="5383418" y="9576317"/>
            <a:ext cx="2397323" cy="580390"/>
          </a:xfrm>
          <a:prstGeom prst="rect">
            <a:avLst/>
          </a:prstGeom>
        </p:spPr>
        <p:txBody>
          <a:bodyPr lIns="0" tIns="0" rIns="0" bIns="0" rtlCol="0" anchor="t">
            <a:spAutoFit/>
          </a:bodyPr>
          <a:lstStyle/>
          <a:p>
            <a:pPr algn="ctr">
              <a:lnSpc>
                <a:spcPts val="4759"/>
              </a:lnSpc>
            </a:pPr>
            <a:r>
              <a:rPr lang="en-US" sz="3399" b="1">
                <a:solidFill>
                  <a:srgbClr val="1800AD"/>
                </a:solidFill>
                <a:latin typeface="Canva Sans Bold"/>
                <a:ea typeface="Canva Sans Bold"/>
                <a:cs typeface="Canva Sans Bold"/>
                <a:sym typeface="Canva Sans Bold"/>
              </a:rPr>
              <a:t> R26-IT-132 </a:t>
            </a:r>
          </a:p>
        </p:txBody>
      </p:sp>
      <p:sp>
        <p:nvSpPr>
          <p:cNvPr id="24" name="TextBox 24"/>
          <p:cNvSpPr txBox="1"/>
          <p:nvPr/>
        </p:nvSpPr>
        <p:spPr>
          <a:xfrm>
            <a:off x="10904830" y="4464643"/>
            <a:ext cx="7383170" cy="987425"/>
          </a:xfrm>
          <a:prstGeom prst="rect">
            <a:avLst/>
          </a:prstGeom>
        </p:spPr>
        <p:txBody>
          <a:bodyPr lIns="0" tIns="0" rIns="0" bIns="0" rtlCol="0" anchor="t">
            <a:spAutoFit/>
          </a:bodyPr>
          <a:lstStyle/>
          <a:p>
            <a:pPr algn="l">
              <a:lnSpc>
                <a:spcPts val="6999"/>
              </a:lnSpc>
            </a:pPr>
            <a:r>
              <a:rPr lang="en-US" sz="6999" b="1">
                <a:solidFill>
                  <a:srgbClr val="FEA917"/>
                </a:solidFill>
                <a:latin typeface="Poppins Ultra-Bold"/>
                <a:ea typeface="Poppins Ultra-Bold"/>
                <a:cs typeface="Poppins Ultra-Bold"/>
                <a:sym typeface="Poppins Ultra-Bold"/>
              </a:rPr>
              <a:t>STAKEHOLDERS</a:t>
            </a:r>
          </a:p>
        </p:txBody>
      </p:sp>
      <p:sp>
        <p:nvSpPr>
          <p:cNvPr id="25" name="TextBox 25"/>
          <p:cNvSpPr txBox="1"/>
          <p:nvPr/>
        </p:nvSpPr>
        <p:spPr>
          <a:xfrm>
            <a:off x="8673039" y="5471479"/>
            <a:ext cx="9283240" cy="4361650"/>
          </a:xfrm>
          <a:prstGeom prst="rect">
            <a:avLst/>
          </a:prstGeom>
        </p:spPr>
        <p:txBody>
          <a:bodyPr lIns="0" tIns="0" rIns="0" bIns="0" rtlCol="0" anchor="t">
            <a:spAutoFit/>
          </a:bodyPr>
          <a:lstStyle/>
          <a:p>
            <a:pPr marL="589417" lvl="1" indent="-294709" algn="just">
              <a:lnSpc>
                <a:spcPts val="3822"/>
              </a:lnSpc>
              <a:buFont typeface="Arial"/>
              <a:buChar char="•"/>
            </a:pPr>
            <a:r>
              <a:rPr lang="en-US" sz="2730" b="1">
                <a:solidFill>
                  <a:srgbClr val="000000"/>
                </a:solidFill>
                <a:latin typeface="Lato Bold"/>
                <a:ea typeface="Lato Bold"/>
                <a:cs typeface="Lato Bold"/>
                <a:sym typeface="Lato Bold"/>
              </a:rPr>
              <a:t>Pilots – weather information for flight decisions</a:t>
            </a:r>
          </a:p>
          <a:p>
            <a:pPr marL="589417" lvl="1" indent="-294709" algn="just">
              <a:lnSpc>
                <a:spcPts val="3822"/>
              </a:lnSpc>
              <a:buFont typeface="Arial"/>
              <a:buChar char="•"/>
            </a:pPr>
            <a:r>
              <a:rPr lang="en-US" sz="2730" b="1">
                <a:solidFill>
                  <a:srgbClr val="000000"/>
                </a:solidFill>
                <a:latin typeface="Lato Bold"/>
                <a:ea typeface="Lato Bold"/>
                <a:cs typeface="Lato Bold"/>
                <a:sym typeface="Lato Bold"/>
              </a:rPr>
              <a:t>Air Traffic Controllers (ATC) – operational and safety decisions</a:t>
            </a:r>
          </a:p>
          <a:p>
            <a:pPr marL="589417" lvl="1" indent="-294709" algn="just">
              <a:lnSpc>
                <a:spcPts val="3822"/>
              </a:lnSpc>
              <a:buFont typeface="Arial"/>
              <a:buChar char="•"/>
            </a:pPr>
            <a:r>
              <a:rPr lang="en-US" sz="2730" b="1">
                <a:solidFill>
                  <a:srgbClr val="000000"/>
                </a:solidFill>
                <a:latin typeface="Lato Bold"/>
                <a:ea typeface="Lato Bold"/>
                <a:cs typeface="Lato Bold"/>
                <a:sym typeface="Lato Bold"/>
              </a:rPr>
              <a:t>Airport Meteorological Officers – monitoring and forecasting</a:t>
            </a:r>
          </a:p>
          <a:p>
            <a:pPr marL="589417" lvl="1" indent="-294709" algn="just">
              <a:lnSpc>
                <a:spcPts val="3822"/>
              </a:lnSpc>
              <a:buFont typeface="Arial"/>
              <a:buChar char="•"/>
            </a:pPr>
            <a:r>
              <a:rPr lang="en-US" sz="2730" b="1">
                <a:solidFill>
                  <a:srgbClr val="000000"/>
                </a:solidFill>
                <a:latin typeface="Lato Bold"/>
                <a:ea typeface="Lato Bold"/>
                <a:cs typeface="Lato Bold"/>
                <a:sym typeface="Lato Bold"/>
              </a:rPr>
              <a:t>Airport Operations – operational planning</a:t>
            </a:r>
          </a:p>
          <a:p>
            <a:pPr marL="589417" lvl="1" indent="-294709" algn="just">
              <a:lnSpc>
                <a:spcPts val="3822"/>
              </a:lnSpc>
              <a:buFont typeface="Arial"/>
              <a:buChar char="•"/>
            </a:pPr>
            <a:r>
              <a:rPr lang="en-US" sz="2730" b="1">
                <a:solidFill>
                  <a:srgbClr val="000000"/>
                </a:solidFill>
                <a:latin typeface="Lato Bold"/>
                <a:ea typeface="Lato Bold"/>
                <a:cs typeface="Lato Bold"/>
                <a:sym typeface="Lato Bold"/>
              </a:rPr>
              <a:t>Civil Aviation Authorities – aviation safety and weather standards</a:t>
            </a:r>
          </a:p>
          <a:p>
            <a:pPr algn="l">
              <a:lnSpc>
                <a:spcPts val="3822"/>
              </a:lnSpc>
              <a:spcBef>
                <a:spcPct val="0"/>
              </a:spcBef>
            </a:pPr>
            <a:endParaRPr lang="en-US" sz="2730" b="1">
              <a:solidFill>
                <a:srgbClr val="000000"/>
              </a:solidFill>
              <a:latin typeface="Lato Bold"/>
              <a:ea typeface="Lato Bold"/>
              <a:cs typeface="Lato Bold"/>
              <a:sym typeface="Lato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87278" y="9258300"/>
            <a:ext cx="925554" cy="925554"/>
          </a:xfrm>
          <a:custGeom>
            <a:avLst/>
            <a:gdLst/>
            <a:ahLst/>
            <a:cxnLst/>
            <a:rect l="l" t="t" r="r" b="b"/>
            <a:pathLst>
              <a:path w="925554" h="925554">
                <a:moveTo>
                  <a:pt x="0" y="0"/>
                </a:moveTo>
                <a:lnTo>
                  <a:pt x="925553" y="0"/>
                </a:lnTo>
                <a:lnTo>
                  <a:pt x="925553" y="925554"/>
                </a:lnTo>
                <a:lnTo>
                  <a:pt x="0" y="925554"/>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392257" y="542395"/>
            <a:ext cx="15566522" cy="1039285"/>
          </a:xfrm>
          <a:prstGeom prst="rect">
            <a:avLst/>
          </a:prstGeom>
        </p:spPr>
        <p:txBody>
          <a:bodyPr lIns="0" tIns="0" rIns="0" bIns="0" rtlCol="0" anchor="t">
            <a:spAutoFit/>
          </a:bodyPr>
          <a:lstStyle/>
          <a:p>
            <a:pPr algn="ctr">
              <a:lnSpc>
                <a:spcPts val="3972"/>
              </a:lnSpc>
            </a:pPr>
            <a:r>
              <a:rPr lang="en-US" sz="3972" b="1" i="1">
                <a:solidFill>
                  <a:srgbClr val="FF3131"/>
                </a:solidFill>
                <a:latin typeface="Lora Bold Italics"/>
                <a:ea typeface="Lora Bold Italics"/>
                <a:cs typeface="Lora Bold Italics"/>
                <a:sym typeface="Lora Bold Italics"/>
              </a:rPr>
              <a:t>TEMPERATURE -PRESSURE COUPLED PREDICTION MODEL </a:t>
            </a:r>
          </a:p>
          <a:p>
            <a:pPr algn="ctr">
              <a:lnSpc>
                <a:spcPts val="3972"/>
              </a:lnSpc>
            </a:pPr>
            <a:endParaRPr lang="en-US" sz="3972" b="1" i="1">
              <a:solidFill>
                <a:srgbClr val="FF3131"/>
              </a:solidFill>
              <a:latin typeface="Lora Bold Italics"/>
              <a:ea typeface="Lora Bold Italics"/>
              <a:cs typeface="Lora Bold Italics"/>
              <a:sym typeface="Lora Bold Italics"/>
            </a:endParaRPr>
          </a:p>
        </p:txBody>
      </p:sp>
      <p:sp>
        <p:nvSpPr>
          <p:cNvPr id="4" name="TextBox 4"/>
          <p:cNvSpPr txBox="1"/>
          <p:nvPr/>
        </p:nvSpPr>
        <p:spPr>
          <a:xfrm>
            <a:off x="1112831" y="9313904"/>
            <a:ext cx="3992569" cy="869949"/>
          </a:xfrm>
          <a:prstGeom prst="rect">
            <a:avLst/>
          </a:prstGeom>
        </p:spPr>
        <p:txBody>
          <a:bodyPr wrap="square" lIns="0" tIns="0" rIns="0" bIns="0" rtlCol="0" anchor="t">
            <a:spAutoFit/>
          </a:bodyPr>
          <a:lstStyle/>
          <a:p>
            <a:pPr algn="l">
              <a:lnSpc>
                <a:spcPts val="3500"/>
              </a:lnSpc>
            </a:pPr>
            <a:r>
              <a:rPr lang="en-US" sz="2500" b="1" dirty="0">
                <a:solidFill>
                  <a:srgbClr val="1800AD"/>
                </a:solidFill>
                <a:latin typeface="Canva Sans Bold"/>
                <a:ea typeface="Canva Sans Bold"/>
                <a:cs typeface="Canva Sans Bold"/>
                <a:sym typeface="Canva Sans Bold"/>
              </a:rPr>
              <a:t>SLIIT</a:t>
            </a:r>
          </a:p>
          <a:p>
            <a:pPr algn="l">
              <a:lnSpc>
                <a:spcPts val="3500"/>
              </a:lnSpc>
            </a:pPr>
            <a:r>
              <a:rPr lang="en-US" sz="2500" b="1" dirty="0">
                <a:solidFill>
                  <a:srgbClr val="1800AD"/>
                </a:solidFill>
                <a:latin typeface="Canva Sans Bold"/>
                <a:ea typeface="Canva Sans Bold"/>
                <a:cs typeface="Canva Sans Bold"/>
                <a:sym typeface="Canva Sans Bold"/>
              </a:rPr>
              <a:t>Faculty of Computing</a:t>
            </a:r>
          </a:p>
        </p:txBody>
      </p:sp>
      <p:sp>
        <p:nvSpPr>
          <p:cNvPr id="5" name="TextBox 5"/>
          <p:cNvSpPr txBox="1"/>
          <p:nvPr/>
        </p:nvSpPr>
        <p:spPr>
          <a:xfrm>
            <a:off x="5763914" y="9649733"/>
            <a:ext cx="2770486" cy="581231"/>
          </a:xfrm>
          <a:prstGeom prst="rect">
            <a:avLst/>
          </a:prstGeom>
        </p:spPr>
        <p:txBody>
          <a:bodyPr wrap="square" lIns="0" tIns="0" rIns="0" bIns="0" rtlCol="0" anchor="t">
            <a:spAutoFit/>
          </a:bodyPr>
          <a:lstStyle/>
          <a:p>
            <a:pPr algn="ctr">
              <a:lnSpc>
                <a:spcPts val="4713"/>
              </a:lnSpc>
            </a:pPr>
            <a:r>
              <a:rPr lang="en-US" sz="3366" b="1" dirty="0">
                <a:solidFill>
                  <a:srgbClr val="FF3131"/>
                </a:solidFill>
                <a:latin typeface="Canva Sans Bold"/>
                <a:ea typeface="Canva Sans Bold"/>
                <a:cs typeface="Canva Sans Bold"/>
                <a:sym typeface="Canva Sans Bold"/>
              </a:rPr>
              <a:t>IT22113986</a:t>
            </a:r>
          </a:p>
        </p:txBody>
      </p:sp>
      <p:sp>
        <p:nvSpPr>
          <p:cNvPr id="6" name="TextBox 6"/>
          <p:cNvSpPr txBox="1"/>
          <p:nvPr/>
        </p:nvSpPr>
        <p:spPr>
          <a:xfrm>
            <a:off x="9144000" y="9630989"/>
            <a:ext cx="4167193" cy="581231"/>
          </a:xfrm>
          <a:prstGeom prst="rect">
            <a:avLst/>
          </a:prstGeom>
        </p:spPr>
        <p:txBody>
          <a:bodyPr wrap="square" lIns="0" tIns="0" rIns="0" bIns="0" rtlCol="0" anchor="t">
            <a:spAutoFit/>
          </a:bodyPr>
          <a:lstStyle/>
          <a:p>
            <a:pPr algn="ctr">
              <a:lnSpc>
                <a:spcPts val="4713"/>
              </a:lnSpc>
            </a:pPr>
            <a:r>
              <a:rPr lang="en-US" sz="3366" b="1" dirty="0">
                <a:solidFill>
                  <a:srgbClr val="FF3131"/>
                </a:solidFill>
                <a:latin typeface="Canva Sans Bold"/>
                <a:ea typeface="Canva Sans Bold"/>
                <a:cs typeface="Canva Sans Bold"/>
                <a:sym typeface="Canva Sans Bold"/>
              </a:rPr>
              <a:t>Sankadeepa W.D.I</a:t>
            </a:r>
          </a:p>
        </p:txBody>
      </p:sp>
      <p:sp>
        <p:nvSpPr>
          <p:cNvPr id="7" name="TextBox 7"/>
          <p:cNvSpPr txBox="1"/>
          <p:nvPr/>
        </p:nvSpPr>
        <p:spPr>
          <a:xfrm>
            <a:off x="14325600" y="9666953"/>
            <a:ext cx="2092042" cy="509305"/>
          </a:xfrm>
          <a:prstGeom prst="rect">
            <a:avLst/>
          </a:prstGeom>
        </p:spPr>
        <p:txBody>
          <a:bodyPr lIns="0" tIns="0" rIns="0" bIns="0" rtlCol="0" anchor="t">
            <a:spAutoFit/>
          </a:bodyPr>
          <a:lstStyle/>
          <a:p>
            <a:pPr algn="ctr">
              <a:lnSpc>
                <a:spcPts val="4153"/>
              </a:lnSpc>
            </a:pPr>
            <a:r>
              <a:rPr lang="en-US" sz="2966" b="1" dirty="0">
                <a:solidFill>
                  <a:srgbClr val="1800AD"/>
                </a:solidFill>
                <a:latin typeface="Canva Sans Bold"/>
                <a:ea typeface="Canva Sans Bold"/>
                <a:cs typeface="Canva Sans Bold"/>
                <a:sym typeface="Canva Sans Bold"/>
              </a:rPr>
              <a:t> R26-IT-132 </a:t>
            </a:r>
          </a:p>
        </p:txBody>
      </p:sp>
      <p:sp>
        <p:nvSpPr>
          <p:cNvPr id="8" name="TextBox 8"/>
          <p:cNvSpPr txBox="1"/>
          <p:nvPr/>
        </p:nvSpPr>
        <p:spPr>
          <a:xfrm>
            <a:off x="1392257" y="1619780"/>
            <a:ext cx="6750997" cy="679350"/>
          </a:xfrm>
          <a:prstGeom prst="rect">
            <a:avLst/>
          </a:prstGeom>
        </p:spPr>
        <p:txBody>
          <a:bodyPr lIns="0" tIns="0" rIns="0" bIns="0" rtlCol="0" anchor="t">
            <a:spAutoFit/>
          </a:bodyPr>
          <a:lstStyle/>
          <a:p>
            <a:pPr algn="l">
              <a:lnSpc>
                <a:spcPts val="4754"/>
              </a:lnSpc>
            </a:pPr>
            <a:r>
              <a:rPr lang="en-US" sz="4754" b="1">
                <a:solidFill>
                  <a:srgbClr val="00255C"/>
                </a:solidFill>
                <a:latin typeface="Poppins Ultra-Bold"/>
                <a:ea typeface="Poppins Ultra-Bold"/>
                <a:cs typeface="Poppins Ultra-Bold"/>
                <a:sym typeface="Poppins Ultra-Bold"/>
              </a:rPr>
              <a:t>RESEARCH GAP</a:t>
            </a:r>
          </a:p>
        </p:txBody>
      </p:sp>
      <p:sp>
        <p:nvSpPr>
          <p:cNvPr id="9" name="TextBox 9"/>
          <p:cNvSpPr txBox="1"/>
          <p:nvPr/>
        </p:nvSpPr>
        <p:spPr>
          <a:xfrm>
            <a:off x="296538" y="2456197"/>
            <a:ext cx="7846717" cy="1970067"/>
          </a:xfrm>
          <a:prstGeom prst="rect">
            <a:avLst/>
          </a:prstGeom>
        </p:spPr>
        <p:txBody>
          <a:bodyPr lIns="0" tIns="0" rIns="0" bIns="0" rtlCol="0" anchor="t">
            <a:spAutoFit/>
          </a:bodyPr>
          <a:lstStyle/>
          <a:p>
            <a:pPr algn="just">
              <a:lnSpc>
                <a:spcPts val="3904"/>
              </a:lnSpc>
              <a:spcBef>
                <a:spcPct val="0"/>
              </a:spcBef>
            </a:pPr>
            <a:r>
              <a:rPr lang="en-US" sz="2789" b="1">
                <a:solidFill>
                  <a:srgbClr val="000000"/>
                </a:solidFill>
                <a:latin typeface="Lato Bold"/>
                <a:ea typeface="Lato Bold"/>
                <a:cs typeface="Lato Bold"/>
                <a:sym typeface="Lato Bold"/>
              </a:rPr>
              <a:t>identified is that global weather models like GFS, ECMWF do not provide the hyper-local accuracy required for VCBI, and they lack automated adaptability to changing local patterns.</a:t>
            </a:r>
          </a:p>
        </p:txBody>
      </p:sp>
      <p:sp>
        <p:nvSpPr>
          <p:cNvPr id="10" name="TextBox 10"/>
          <p:cNvSpPr txBox="1"/>
          <p:nvPr/>
        </p:nvSpPr>
        <p:spPr>
          <a:xfrm>
            <a:off x="1538104" y="4845364"/>
            <a:ext cx="6750997" cy="679350"/>
          </a:xfrm>
          <a:prstGeom prst="rect">
            <a:avLst/>
          </a:prstGeom>
        </p:spPr>
        <p:txBody>
          <a:bodyPr lIns="0" tIns="0" rIns="0" bIns="0" rtlCol="0" anchor="t">
            <a:spAutoFit/>
          </a:bodyPr>
          <a:lstStyle/>
          <a:p>
            <a:pPr algn="l">
              <a:lnSpc>
                <a:spcPts val="4754"/>
              </a:lnSpc>
            </a:pPr>
            <a:r>
              <a:rPr lang="en-US" sz="4754" b="1">
                <a:solidFill>
                  <a:srgbClr val="00255C"/>
                </a:solidFill>
                <a:latin typeface="Poppins Ultra-Bold"/>
                <a:ea typeface="Poppins Ultra-Bold"/>
                <a:cs typeface="Poppins Ultra-Bold"/>
                <a:sym typeface="Poppins Ultra-Bold"/>
              </a:rPr>
              <a:t>OBJECTIVE</a:t>
            </a:r>
          </a:p>
        </p:txBody>
      </p:sp>
      <p:sp>
        <p:nvSpPr>
          <p:cNvPr id="11" name="TextBox 11"/>
          <p:cNvSpPr txBox="1"/>
          <p:nvPr/>
        </p:nvSpPr>
        <p:spPr>
          <a:xfrm>
            <a:off x="7682" y="5670975"/>
            <a:ext cx="8840242" cy="3506370"/>
          </a:xfrm>
          <a:prstGeom prst="rect">
            <a:avLst/>
          </a:prstGeom>
        </p:spPr>
        <p:txBody>
          <a:bodyPr lIns="0" tIns="0" rIns="0" bIns="0" rtlCol="0" anchor="t">
            <a:spAutoFit/>
          </a:bodyPr>
          <a:lstStyle/>
          <a:p>
            <a:pPr marL="537132" lvl="1" indent="-268566" algn="just">
              <a:lnSpc>
                <a:spcPts val="3483"/>
              </a:lnSpc>
              <a:buFont typeface="Arial"/>
              <a:buChar char="•"/>
            </a:pPr>
            <a:r>
              <a:rPr lang="en-US" sz="2487" b="1" dirty="0">
                <a:solidFill>
                  <a:srgbClr val="000000"/>
                </a:solidFill>
                <a:latin typeface="Lato Bold"/>
                <a:ea typeface="Lato Bold"/>
                <a:cs typeface="Lato Bold"/>
                <a:sym typeface="Lato Bold"/>
              </a:rPr>
              <a:t>Forecast Temperature, Pressure at </a:t>
            </a:r>
            <a:r>
              <a:rPr lang="en-US" sz="2487" b="1" dirty="0" err="1">
                <a:solidFill>
                  <a:srgbClr val="000000"/>
                </a:solidFill>
                <a:latin typeface="Lato Bold"/>
                <a:ea typeface="Lato Bold"/>
                <a:cs typeface="Lato Bold"/>
                <a:sym typeface="Lato Bold"/>
              </a:rPr>
              <a:t>vcbi</a:t>
            </a:r>
            <a:endParaRPr lang="en-US" sz="2487" b="1" dirty="0">
              <a:solidFill>
                <a:srgbClr val="000000"/>
              </a:solidFill>
              <a:latin typeface="Lato Bold"/>
              <a:ea typeface="Lato Bold"/>
              <a:cs typeface="Lato Bold"/>
              <a:sym typeface="Lato Bold"/>
            </a:endParaRPr>
          </a:p>
          <a:p>
            <a:pPr marL="537132" lvl="1" indent="-268566" algn="just">
              <a:lnSpc>
                <a:spcPts val="3483"/>
              </a:lnSpc>
              <a:buFont typeface="Arial"/>
              <a:buChar char="•"/>
            </a:pPr>
            <a:r>
              <a:rPr lang="en-US" sz="2487" b="1" dirty="0">
                <a:solidFill>
                  <a:srgbClr val="000000"/>
                </a:solidFill>
                <a:latin typeface="Lato Bold"/>
                <a:ea typeface="Lato Bold"/>
                <a:cs typeface="Lato Bold"/>
                <a:sym typeface="Lato Bold"/>
              </a:rPr>
              <a:t>Predict weather conditions for the next 3 hours</a:t>
            </a:r>
          </a:p>
          <a:p>
            <a:pPr marL="537132" lvl="1" indent="-268566" algn="just">
              <a:lnSpc>
                <a:spcPts val="3483"/>
              </a:lnSpc>
              <a:buFont typeface="Arial"/>
              <a:buChar char="•"/>
            </a:pPr>
            <a:r>
              <a:rPr lang="en-US" sz="2487" b="1" dirty="0">
                <a:solidFill>
                  <a:srgbClr val="000000"/>
                </a:solidFill>
                <a:latin typeface="Lato Bold"/>
                <a:ea typeface="Lato Bold"/>
                <a:cs typeface="Lato Bold"/>
                <a:sym typeface="Lato Bold"/>
              </a:rPr>
              <a:t>Model the coupled relationship between the weather parameters</a:t>
            </a:r>
          </a:p>
          <a:p>
            <a:pPr marL="537132" lvl="1" indent="-268566" algn="just">
              <a:lnSpc>
                <a:spcPts val="3483"/>
              </a:lnSpc>
              <a:buFont typeface="Arial"/>
              <a:buChar char="•"/>
            </a:pPr>
            <a:r>
              <a:rPr lang="en-US" sz="2487" b="1" dirty="0">
                <a:solidFill>
                  <a:srgbClr val="000000"/>
                </a:solidFill>
                <a:latin typeface="Lato Bold"/>
                <a:ea typeface="Lato Bold"/>
                <a:cs typeface="Lato Bold"/>
                <a:sym typeface="Lato Bold"/>
              </a:rPr>
              <a:t>Calculate Density Altitude</a:t>
            </a:r>
          </a:p>
          <a:p>
            <a:pPr marL="537132" lvl="1" indent="-268566" algn="just">
              <a:lnSpc>
                <a:spcPts val="3483"/>
              </a:lnSpc>
              <a:spcBef>
                <a:spcPct val="0"/>
              </a:spcBef>
              <a:buFont typeface="Arial"/>
              <a:buChar char="•"/>
            </a:pPr>
            <a:r>
              <a:rPr lang="en-US" sz="2487" b="1" dirty="0">
                <a:solidFill>
                  <a:srgbClr val="000000"/>
                </a:solidFill>
                <a:latin typeface="Lato Bold"/>
                <a:ea typeface="Lato Bold"/>
                <a:cs typeface="Lato Bold"/>
                <a:sym typeface="Lato Bold"/>
              </a:rPr>
              <a:t>Improve hyper-local aviation weather assessment at Bandaranaike International Airport</a:t>
            </a:r>
          </a:p>
          <a:p>
            <a:pPr algn="just">
              <a:lnSpc>
                <a:spcPts val="3483"/>
              </a:lnSpc>
              <a:spcBef>
                <a:spcPct val="0"/>
              </a:spcBef>
            </a:pPr>
            <a:endParaRPr lang="en-US" sz="2487" b="1" dirty="0">
              <a:solidFill>
                <a:srgbClr val="000000"/>
              </a:solidFill>
              <a:latin typeface="Lato Bold"/>
              <a:ea typeface="Lato Bold"/>
              <a:cs typeface="Lato Bold"/>
              <a:sym typeface="Lato Bold"/>
            </a:endParaRPr>
          </a:p>
        </p:txBody>
      </p:sp>
      <p:sp>
        <p:nvSpPr>
          <p:cNvPr id="12" name="TextBox 12"/>
          <p:cNvSpPr txBox="1"/>
          <p:nvPr/>
        </p:nvSpPr>
        <p:spPr>
          <a:xfrm>
            <a:off x="10870462" y="3143455"/>
            <a:ext cx="6750997" cy="1282809"/>
          </a:xfrm>
          <a:prstGeom prst="rect">
            <a:avLst/>
          </a:prstGeom>
        </p:spPr>
        <p:txBody>
          <a:bodyPr lIns="0" tIns="0" rIns="0" bIns="0" rtlCol="0" anchor="t">
            <a:spAutoFit/>
          </a:bodyPr>
          <a:lstStyle/>
          <a:p>
            <a:pPr algn="l">
              <a:lnSpc>
                <a:spcPts val="4754"/>
              </a:lnSpc>
            </a:pPr>
            <a:r>
              <a:rPr lang="en-US" sz="4754" b="1">
                <a:solidFill>
                  <a:srgbClr val="FEA917"/>
                </a:solidFill>
                <a:latin typeface="Poppins Ultra-Bold"/>
                <a:ea typeface="Poppins Ultra-Bold"/>
                <a:cs typeface="Poppins Ultra-Bold"/>
                <a:sym typeface="Poppins Ultra-Bold"/>
              </a:rPr>
              <a:t>SOLUTION OVERVIEW</a:t>
            </a:r>
          </a:p>
          <a:p>
            <a:pPr algn="l">
              <a:lnSpc>
                <a:spcPts val="4754"/>
              </a:lnSpc>
            </a:pPr>
            <a:endParaRPr lang="en-US" sz="4754" b="1">
              <a:solidFill>
                <a:srgbClr val="FEA917"/>
              </a:solidFill>
              <a:latin typeface="Poppins Ultra-Bold"/>
              <a:ea typeface="Poppins Ultra-Bold"/>
              <a:cs typeface="Poppins Ultra-Bold"/>
              <a:sym typeface="Poppins Ultra-Bold"/>
            </a:endParaRPr>
          </a:p>
        </p:txBody>
      </p:sp>
      <p:sp>
        <p:nvSpPr>
          <p:cNvPr id="13" name="TextBox 13"/>
          <p:cNvSpPr txBox="1"/>
          <p:nvPr/>
        </p:nvSpPr>
        <p:spPr>
          <a:xfrm>
            <a:off x="9242034" y="3407893"/>
            <a:ext cx="8919250" cy="3958073"/>
          </a:xfrm>
          <a:prstGeom prst="rect">
            <a:avLst/>
          </a:prstGeom>
        </p:spPr>
        <p:txBody>
          <a:bodyPr lIns="0" tIns="0" rIns="0" bIns="0" rtlCol="0" anchor="t">
            <a:spAutoFit/>
          </a:bodyPr>
          <a:lstStyle/>
          <a:p>
            <a:pPr algn="just">
              <a:lnSpc>
                <a:spcPts val="3913"/>
              </a:lnSpc>
            </a:pPr>
            <a:endParaRPr/>
          </a:p>
          <a:p>
            <a:pPr marL="603517" lvl="1" indent="-301759" algn="l">
              <a:lnSpc>
                <a:spcPts val="3913"/>
              </a:lnSpc>
              <a:buFont typeface="Arial"/>
              <a:buChar char="•"/>
            </a:pPr>
            <a:r>
              <a:rPr lang="en-US" sz="2795" b="1">
                <a:solidFill>
                  <a:srgbClr val="000000"/>
                </a:solidFill>
                <a:latin typeface="Lato Bold"/>
                <a:ea typeface="Lato Bold"/>
                <a:cs typeface="Lato Bold"/>
                <a:sym typeface="Lato Bold"/>
              </a:rPr>
              <a:t>Predict Temperature and Pressure at VCBI.</a:t>
            </a:r>
          </a:p>
          <a:p>
            <a:pPr marL="603517" lvl="1" indent="-301759" algn="l">
              <a:lnSpc>
                <a:spcPts val="3913"/>
              </a:lnSpc>
              <a:buFont typeface="Arial"/>
              <a:buChar char="•"/>
            </a:pPr>
            <a:r>
              <a:rPr lang="en-US" sz="2795" b="1">
                <a:solidFill>
                  <a:srgbClr val="000000"/>
                </a:solidFill>
                <a:latin typeface="Lato Bold"/>
                <a:ea typeface="Lato Bold"/>
                <a:cs typeface="Lato Bold"/>
                <a:sym typeface="Lato Bold"/>
              </a:rPr>
              <a:t>Generate short-term T+3 hour predictions.</a:t>
            </a:r>
          </a:p>
          <a:p>
            <a:pPr marL="603517" lvl="1" indent="-301759" algn="l">
              <a:lnSpc>
                <a:spcPts val="3913"/>
              </a:lnSpc>
              <a:buFont typeface="Arial"/>
              <a:buChar char="•"/>
            </a:pPr>
            <a:r>
              <a:rPr lang="en-US" sz="2795" b="1">
                <a:solidFill>
                  <a:srgbClr val="000000"/>
                </a:solidFill>
                <a:latin typeface="Lato Bold"/>
                <a:ea typeface="Lato Bold"/>
                <a:cs typeface="Lato Bold"/>
                <a:sym typeface="Lato Bold"/>
              </a:rPr>
              <a:t>Use a Hybrid LSTM + Random Forest Architecture.</a:t>
            </a:r>
          </a:p>
          <a:p>
            <a:pPr marL="603517" lvl="1" indent="-301759" algn="l">
              <a:lnSpc>
                <a:spcPts val="3913"/>
              </a:lnSpc>
              <a:buFont typeface="Arial"/>
              <a:buChar char="•"/>
            </a:pPr>
            <a:r>
              <a:rPr lang="en-US" sz="2795" b="1">
                <a:solidFill>
                  <a:srgbClr val="000000"/>
                </a:solidFill>
                <a:latin typeface="Lato Bold"/>
                <a:ea typeface="Lato Bold"/>
                <a:cs typeface="Lato Bold"/>
                <a:sym typeface="Lato Bold"/>
              </a:rPr>
              <a:t>Calculate Pressure Altitude and Density Altitude, and classify conditions as Normal, Elevated, or High</a:t>
            </a:r>
          </a:p>
          <a:p>
            <a:pPr marL="603517" lvl="1" indent="-301759" algn="l">
              <a:lnSpc>
                <a:spcPts val="3913"/>
              </a:lnSpc>
              <a:buFont typeface="Arial"/>
              <a:buChar char="•"/>
            </a:pPr>
            <a:r>
              <a:rPr lang="en-US" sz="2795" b="1">
                <a:solidFill>
                  <a:srgbClr val="000000"/>
                </a:solidFill>
                <a:latin typeface="Lato Bold"/>
                <a:ea typeface="Lato Bold"/>
                <a:cs typeface="Lato Bold"/>
                <a:sym typeface="Lato Bold"/>
              </a:rPr>
              <a:t>Support forecasters with human-readable aviation weather information.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87278" y="9258300"/>
            <a:ext cx="925554" cy="925554"/>
          </a:xfrm>
          <a:custGeom>
            <a:avLst/>
            <a:gdLst/>
            <a:ahLst/>
            <a:cxnLst/>
            <a:rect l="l" t="t" r="r" b="b"/>
            <a:pathLst>
              <a:path w="925554" h="925554">
                <a:moveTo>
                  <a:pt x="0" y="0"/>
                </a:moveTo>
                <a:lnTo>
                  <a:pt x="925553" y="0"/>
                </a:lnTo>
                <a:lnTo>
                  <a:pt x="925553" y="925554"/>
                </a:lnTo>
                <a:lnTo>
                  <a:pt x="0" y="925554"/>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112831" y="9313904"/>
            <a:ext cx="3382969" cy="869949"/>
          </a:xfrm>
          <a:prstGeom prst="rect">
            <a:avLst/>
          </a:prstGeom>
        </p:spPr>
        <p:txBody>
          <a:bodyPr wrap="square" lIns="0" tIns="0" rIns="0" bIns="0" rtlCol="0" anchor="t">
            <a:spAutoFit/>
          </a:bodyPr>
          <a:lstStyle/>
          <a:p>
            <a:pPr algn="l">
              <a:lnSpc>
                <a:spcPts val="3500"/>
              </a:lnSpc>
            </a:pPr>
            <a:r>
              <a:rPr lang="en-US" sz="2500" b="1" dirty="0">
                <a:solidFill>
                  <a:srgbClr val="1800AD"/>
                </a:solidFill>
                <a:latin typeface="Canva Sans Bold"/>
                <a:ea typeface="Canva Sans Bold"/>
                <a:cs typeface="Canva Sans Bold"/>
                <a:sym typeface="Canva Sans Bold"/>
              </a:rPr>
              <a:t>SLIIT</a:t>
            </a:r>
          </a:p>
          <a:p>
            <a:pPr algn="ctr">
              <a:lnSpc>
                <a:spcPts val="3500"/>
              </a:lnSpc>
            </a:pPr>
            <a:r>
              <a:rPr lang="en-US" sz="2500" b="1" dirty="0">
                <a:solidFill>
                  <a:srgbClr val="1800AD"/>
                </a:solidFill>
                <a:latin typeface="Canva Sans Bold"/>
                <a:ea typeface="Canva Sans Bold"/>
                <a:cs typeface="Canva Sans Bold"/>
                <a:sym typeface="Canva Sans Bold"/>
              </a:rPr>
              <a:t>Faculty of Computing</a:t>
            </a:r>
          </a:p>
        </p:txBody>
      </p:sp>
      <p:sp>
        <p:nvSpPr>
          <p:cNvPr id="4" name="TextBox 4"/>
          <p:cNvSpPr txBox="1"/>
          <p:nvPr/>
        </p:nvSpPr>
        <p:spPr>
          <a:xfrm>
            <a:off x="5759329" y="9649733"/>
            <a:ext cx="2529771" cy="581231"/>
          </a:xfrm>
          <a:prstGeom prst="rect">
            <a:avLst/>
          </a:prstGeom>
        </p:spPr>
        <p:txBody>
          <a:bodyPr wrap="square" lIns="0" tIns="0" rIns="0" bIns="0" rtlCol="0" anchor="t">
            <a:spAutoFit/>
          </a:bodyPr>
          <a:lstStyle/>
          <a:p>
            <a:pPr algn="ctr">
              <a:lnSpc>
                <a:spcPts val="4713"/>
              </a:lnSpc>
            </a:pPr>
            <a:r>
              <a:rPr lang="en-US" sz="3366" b="1" dirty="0">
                <a:solidFill>
                  <a:srgbClr val="FF3131"/>
                </a:solidFill>
                <a:latin typeface="Canva Sans Bold"/>
                <a:ea typeface="Canva Sans Bold"/>
                <a:cs typeface="Canva Sans Bold"/>
                <a:sym typeface="Canva Sans Bold"/>
              </a:rPr>
              <a:t>IT22619976</a:t>
            </a:r>
          </a:p>
        </p:txBody>
      </p:sp>
      <p:sp>
        <p:nvSpPr>
          <p:cNvPr id="5" name="TextBox 5"/>
          <p:cNvSpPr txBox="1"/>
          <p:nvPr/>
        </p:nvSpPr>
        <p:spPr>
          <a:xfrm>
            <a:off x="8938792" y="9623295"/>
            <a:ext cx="3863340" cy="581231"/>
          </a:xfrm>
          <a:prstGeom prst="rect">
            <a:avLst/>
          </a:prstGeom>
        </p:spPr>
        <p:txBody>
          <a:bodyPr lIns="0" tIns="0" rIns="0" bIns="0" rtlCol="0" anchor="t">
            <a:spAutoFit/>
          </a:bodyPr>
          <a:lstStyle/>
          <a:p>
            <a:pPr algn="ctr">
              <a:lnSpc>
                <a:spcPts val="4713"/>
              </a:lnSpc>
            </a:pPr>
            <a:r>
              <a:rPr lang="en-US" sz="3366" b="1" dirty="0" err="1">
                <a:solidFill>
                  <a:srgbClr val="FF3131"/>
                </a:solidFill>
                <a:latin typeface="Canva Sans Bold"/>
                <a:ea typeface="Canva Sans Bold"/>
                <a:cs typeface="Canva Sans Bold"/>
                <a:sym typeface="Canva Sans Bold"/>
              </a:rPr>
              <a:t>Ransinghe</a:t>
            </a:r>
            <a:r>
              <a:rPr lang="en-US" sz="3366" b="1" dirty="0">
                <a:solidFill>
                  <a:srgbClr val="FF3131"/>
                </a:solidFill>
                <a:latin typeface="Canva Sans Bold"/>
                <a:ea typeface="Canva Sans Bold"/>
                <a:cs typeface="Canva Sans Bold"/>
                <a:sym typeface="Canva Sans Bold"/>
              </a:rPr>
              <a:t> R.A.A.D</a:t>
            </a:r>
          </a:p>
        </p:txBody>
      </p:sp>
      <p:sp>
        <p:nvSpPr>
          <p:cNvPr id="6" name="TextBox 6"/>
          <p:cNvSpPr txBox="1"/>
          <p:nvPr/>
        </p:nvSpPr>
        <p:spPr>
          <a:xfrm>
            <a:off x="13701659" y="9668783"/>
            <a:ext cx="2092042" cy="509305"/>
          </a:xfrm>
          <a:prstGeom prst="rect">
            <a:avLst/>
          </a:prstGeom>
        </p:spPr>
        <p:txBody>
          <a:bodyPr lIns="0" tIns="0" rIns="0" bIns="0" rtlCol="0" anchor="t">
            <a:spAutoFit/>
          </a:bodyPr>
          <a:lstStyle/>
          <a:p>
            <a:pPr algn="ctr">
              <a:lnSpc>
                <a:spcPts val="4153"/>
              </a:lnSpc>
            </a:pPr>
            <a:r>
              <a:rPr lang="en-US" sz="2966" b="1" dirty="0">
                <a:solidFill>
                  <a:srgbClr val="1800AD"/>
                </a:solidFill>
                <a:latin typeface="Canva Sans Bold"/>
                <a:ea typeface="Canva Sans Bold"/>
                <a:cs typeface="Canva Sans Bold"/>
                <a:sym typeface="Canva Sans Bold"/>
              </a:rPr>
              <a:t> R26-IT-132 </a:t>
            </a:r>
          </a:p>
        </p:txBody>
      </p:sp>
      <p:sp>
        <p:nvSpPr>
          <p:cNvPr id="7" name="TextBox 7"/>
          <p:cNvSpPr txBox="1"/>
          <p:nvPr/>
        </p:nvSpPr>
        <p:spPr>
          <a:xfrm>
            <a:off x="1392257" y="1619780"/>
            <a:ext cx="6750997" cy="679350"/>
          </a:xfrm>
          <a:prstGeom prst="rect">
            <a:avLst/>
          </a:prstGeom>
        </p:spPr>
        <p:txBody>
          <a:bodyPr lIns="0" tIns="0" rIns="0" bIns="0" rtlCol="0" anchor="t">
            <a:spAutoFit/>
          </a:bodyPr>
          <a:lstStyle/>
          <a:p>
            <a:pPr algn="l">
              <a:lnSpc>
                <a:spcPts val="4754"/>
              </a:lnSpc>
            </a:pPr>
            <a:r>
              <a:rPr lang="en-US" sz="4754" b="1">
                <a:solidFill>
                  <a:srgbClr val="00255C"/>
                </a:solidFill>
                <a:latin typeface="Poppins Ultra-Bold"/>
                <a:ea typeface="Poppins Ultra-Bold"/>
                <a:cs typeface="Poppins Ultra-Bold"/>
                <a:sym typeface="Poppins Ultra-Bold"/>
              </a:rPr>
              <a:t>RESEARCH GAP</a:t>
            </a:r>
          </a:p>
        </p:txBody>
      </p:sp>
      <p:sp>
        <p:nvSpPr>
          <p:cNvPr id="8" name="TextBox 8"/>
          <p:cNvSpPr txBox="1"/>
          <p:nvPr/>
        </p:nvSpPr>
        <p:spPr>
          <a:xfrm>
            <a:off x="309341" y="2456197"/>
            <a:ext cx="7846717" cy="1970067"/>
          </a:xfrm>
          <a:prstGeom prst="rect">
            <a:avLst/>
          </a:prstGeom>
        </p:spPr>
        <p:txBody>
          <a:bodyPr lIns="0" tIns="0" rIns="0" bIns="0" rtlCol="0" anchor="t">
            <a:spAutoFit/>
          </a:bodyPr>
          <a:lstStyle/>
          <a:p>
            <a:pPr algn="just">
              <a:lnSpc>
                <a:spcPts val="3904"/>
              </a:lnSpc>
              <a:spcBef>
                <a:spcPct val="0"/>
              </a:spcBef>
            </a:pPr>
            <a:r>
              <a:rPr lang="en-US" sz="2789" b="1">
                <a:solidFill>
                  <a:srgbClr val="000000"/>
                </a:solidFill>
                <a:latin typeface="Lato Bold"/>
                <a:ea typeface="Lato Bold"/>
                <a:cs typeface="Lato Bold"/>
                <a:sym typeface="Lato Bold"/>
              </a:rPr>
              <a:t>identified is that global weather models like GFS, ECMWF do not provide the hyper-local accuracy required for VCBI, and they lack automated adaptability to changing local patterns.</a:t>
            </a:r>
          </a:p>
        </p:txBody>
      </p:sp>
      <p:sp>
        <p:nvSpPr>
          <p:cNvPr id="9" name="TextBox 9"/>
          <p:cNvSpPr txBox="1"/>
          <p:nvPr/>
        </p:nvSpPr>
        <p:spPr>
          <a:xfrm>
            <a:off x="1538104" y="4845364"/>
            <a:ext cx="6750997" cy="679350"/>
          </a:xfrm>
          <a:prstGeom prst="rect">
            <a:avLst/>
          </a:prstGeom>
        </p:spPr>
        <p:txBody>
          <a:bodyPr lIns="0" tIns="0" rIns="0" bIns="0" rtlCol="0" anchor="t">
            <a:spAutoFit/>
          </a:bodyPr>
          <a:lstStyle/>
          <a:p>
            <a:pPr algn="l">
              <a:lnSpc>
                <a:spcPts val="4754"/>
              </a:lnSpc>
            </a:pPr>
            <a:r>
              <a:rPr lang="en-US" sz="4754" b="1">
                <a:solidFill>
                  <a:srgbClr val="00255C"/>
                </a:solidFill>
                <a:latin typeface="Poppins Ultra-Bold"/>
                <a:ea typeface="Poppins Ultra-Bold"/>
                <a:cs typeface="Poppins Ultra-Bold"/>
                <a:sym typeface="Poppins Ultra-Bold"/>
              </a:rPr>
              <a:t>OBJECTIVE</a:t>
            </a:r>
          </a:p>
        </p:txBody>
      </p:sp>
      <p:sp>
        <p:nvSpPr>
          <p:cNvPr id="10" name="TextBox 10"/>
          <p:cNvSpPr txBox="1"/>
          <p:nvPr/>
        </p:nvSpPr>
        <p:spPr>
          <a:xfrm>
            <a:off x="124670" y="5696164"/>
            <a:ext cx="9286172" cy="3340364"/>
          </a:xfrm>
          <a:prstGeom prst="rect">
            <a:avLst/>
          </a:prstGeom>
        </p:spPr>
        <p:txBody>
          <a:bodyPr lIns="0" tIns="0" rIns="0" bIns="0" rtlCol="0" anchor="t">
            <a:spAutoFit/>
          </a:bodyPr>
          <a:lstStyle/>
          <a:p>
            <a:pPr marL="510520" lvl="1" indent="-255260" algn="just">
              <a:lnSpc>
                <a:spcPts val="3310"/>
              </a:lnSpc>
              <a:buFont typeface="Arial"/>
              <a:buChar char="•"/>
            </a:pPr>
            <a:r>
              <a:rPr lang="en-US" sz="2364" b="1">
                <a:solidFill>
                  <a:srgbClr val="000000"/>
                </a:solidFill>
                <a:latin typeface="Lato Bold"/>
                <a:ea typeface="Lato Bold"/>
                <a:cs typeface="Lato Bold"/>
                <a:sym typeface="Lato Bold"/>
              </a:rPr>
              <a:t>Predict Wind Speed and Wind Direction at VCBI.</a:t>
            </a:r>
          </a:p>
          <a:p>
            <a:pPr marL="510520" lvl="1" indent="-255260" algn="just">
              <a:lnSpc>
                <a:spcPts val="3310"/>
              </a:lnSpc>
              <a:buFont typeface="Arial"/>
              <a:buChar char="•"/>
            </a:pPr>
            <a:r>
              <a:rPr lang="en-US" sz="2364" b="1">
                <a:solidFill>
                  <a:srgbClr val="000000"/>
                </a:solidFill>
                <a:latin typeface="Lato Bold"/>
                <a:ea typeface="Lato Bold"/>
                <a:cs typeface="Lato Bold"/>
                <a:sym typeface="Lato Bold"/>
              </a:rPr>
              <a:t>Generate 1-hour and 3-hour short-term predictions.</a:t>
            </a:r>
          </a:p>
          <a:p>
            <a:pPr marL="510520" lvl="1" indent="-255260" algn="l">
              <a:lnSpc>
                <a:spcPts val="3310"/>
              </a:lnSpc>
              <a:buFont typeface="Arial"/>
              <a:buChar char="•"/>
            </a:pPr>
            <a:r>
              <a:rPr lang="en-US" sz="2364" b="1">
                <a:solidFill>
                  <a:srgbClr val="000000"/>
                </a:solidFill>
                <a:latin typeface="Lato Bold"/>
                <a:ea typeface="Lato Bold"/>
                <a:cs typeface="Lato Bold"/>
                <a:sym typeface="Lato Bold"/>
              </a:rPr>
              <a:t>Capture non-linear relationships between meteorological parameters.</a:t>
            </a:r>
          </a:p>
          <a:p>
            <a:pPr marL="510520" lvl="1" indent="-255260" algn="just">
              <a:lnSpc>
                <a:spcPts val="3310"/>
              </a:lnSpc>
              <a:buFont typeface="Arial"/>
              <a:buChar char="•"/>
            </a:pPr>
            <a:r>
              <a:rPr lang="en-US" sz="2364" b="1">
                <a:solidFill>
                  <a:srgbClr val="000000"/>
                </a:solidFill>
                <a:latin typeface="Lato Bold"/>
                <a:ea typeface="Lato Bold"/>
                <a:cs typeface="Lato Bold"/>
                <a:sym typeface="Lato Bold"/>
              </a:rPr>
              <a:t>Provide runway-oriented headwind and crosswind information.</a:t>
            </a:r>
          </a:p>
          <a:p>
            <a:pPr marL="510520" lvl="1" indent="-255260" algn="just">
              <a:lnSpc>
                <a:spcPts val="3310"/>
              </a:lnSpc>
              <a:spcBef>
                <a:spcPct val="0"/>
              </a:spcBef>
              <a:buFont typeface="Arial"/>
              <a:buChar char="•"/>
            </a:pPr>
            <a:r>
              <a:rPr lang="en-US" sz="2364" b="1">
                <a:solidFill>
                  <a:srgbClr val="000000"/>
                </a:solidFill>
                <a:latin typeface="Lato Bold"/>
                <a:ea typeface="Lato Bold"/>
                <a:cs typeface="Lato Bold"/>
                <a:sym typeface="Lato Bold"/>
              </a:rPr>
              <a:t>Support forecasters with human-readable aviation weather information.</a:t>
            </a:r>
          </a:p>
          <a:p>
            <a:pPr algn="just">
              <a:lnSpc>
                <a:spcPts val="3310"/>
              </a:lnSpc>
              <a:spcBef>
                <a:spcPct val="0"/>
              </a:spcBef>
            </a:pPr>
            <a:endParaRPr lang="en-US" sz="2364" b="1">
              <a:solidFill>
                <a:srgbClr val="000000"/>
              </a:solidFill>
              <a:latin typeface="Lato Bold"/>
              <a:ea typeface="Lato Bold"/>
              <a:cs typeface="Lato Bold"/>
              <a:sym typeface="Lato Bold"/>
            </a:endParaRPr>
          </a:p>
        </p:txBody>
      </p:sp>
      <p:sp>
        <p:nvSpPr>
          <p:cNvPr id="11" name="TextBox 11"/>
          <p:cNvSpPr txBox="1"/>
          <p:nvPr/>
        </p:nvSpPr>
        <p:spPr>
          <a:xfrm>
            <a:off x="10508303" y="3143455"/>
            <a:ext cx="6750997" cy="1282809"/>
          </a:xfrm>
          <a:prstGeom prst="rect">
            <a:avLst/>
          </a:prstGeom>
        </p:spPr>
        <p:txBody>
          <a:bodyPr lIns="0" tIns="0" rIns="0" bIns="0" rtlCol="0" anchor="t">
            <a:spAutoFit/>
          </a:bodyPr>
          <a:lstStyle/>
          <a:p>
            <a:pPr algn="l">
              <a:lnSpc>
                <a:spcPts val="4754"/>
              </a:lnSpc>
            </a:pPr>
            <a:r>
              <a:rPr lang="en-US" sz="4754" b="1">
                <a:solidFill>
                  <a:srgbClr val="FEA917"/>
                </a:solidFill>
                <a:latin typeface="Poppins Ultra-Bold"/>
                <a:ea typeface="Poppins Ultra-Bold"/>
                <a:cs typeface="Poppins Ultra-Bold"/>
                <a:sym typeface="Poppins Ultra-Bold"/>
              </a:rPr>
              <a:t>SOLUTION OVERVIEW</a:t>
            </a:r>
          </a:p>
          <a:p>
            <a:pPr algn="l">
              <a:lnSpc>
                <a:spcPts val="4754"/>
              </a:lnSpc>
            </a:pPr>
            <a:endParaRPr lang="en-US" sz="4754" b="1">
              <a:solidFill>
                <a:srgbClr val="FEA917"/>
              </a:solidFill>
              <a:latin typeface="Poppins Ultra-Bold"/>
              <a:ea typeface="Poppins Ultra-Bold"/>
              <a:cs typeface="Poppins Ultra-Bold"/>
              <a:sym typeface="Poppins Ultra-Bold"/>
            </a:endParaRPr>
          </a:p>
        </p:txBody>
      </p:sp>
      <p:sp>
        <p:nvSpPr>
          <p:cNvPr id="12" name="TextBox 12"/>
          <p:cNvSpPr txBox="1"/>
          <p:nvPr/>
        </p:nvSpPr>
        <p:spPr>
          <a:xfrm>
            <a:off x="9495089" y="3974485"/>
            <a:ext cx="8811961" cy="5226902"/>
          </a:xfrm>
          <a:prstGeom prst="rect">
            <a:avLst/>
          </a:prstGeom>
        </p:spPr>
        <p:txBody>
          <a:bodyPr lIns="0" tIns="0" rIns="0" bIns="0" rtlCol="0" anchor="t">
            <a:spAutoFit/>
          </a:bodyPr>
          <a:lstStyle/>
          <a:p>
            <a:pPr marL="484449" lvl="1" indent="-242224" algn="just">
              <a:lnSpc>
                <a:spcPts val="2580"/>
              </a:lnSpc>
              <a:buFont typeface="Arial"/>
              <a:buChar char="•"/>
            </a:pPr>
            <a:r>
              <a:rPr lang="en-US" sz="2243" b="1">
                <a:solidFill>
                  <a:srgbClr val="000000"/>
                </a:solidFill>
                <a:latin typeface="Lato Bold"/>
                <a:ea typeface="Lato Bold"/>
                <a:cs typeface="Lato Bold"/>
                <a:sym typeface="Lato Bold"/>
              </a:rPr>
              <a:t>Predict Wind Speed and Wind Direction at VCBI.</a:t>
            </a:r>
          </a:p>
          <a:p>
            <a:pPr algn="just">
              <a:lnSpc>
                <a:spcPts val="2580"/>
              </a:lnSpc>
            </a:pPr>
            <a:endParaRPr lang="en-US" sz="2243" b="1">
              <a:solidFill>
                <a:srgbClr val="000000"/>
              </a:solidFill>
              <a:latin typeface="Lato Bold"/>
              <a:ea typeface="Lato Bold"/>
              <a:cs typeface="Lato Bold"/>
              <a:sym typeface="Lato Bold"/>
            </a:endParaRPr>
          </a:p>
          <a:p>
            <a:pPr marL="484449" lvl="1" indent="-242224" algn="l">
              <a:lnSpc>
                <a:spcPts val="2580"/>
              </a:lnSpc>
              <a:buFont typeface="Arial"/>
              <a:buChar char="•"/>
            </a:pPr>
            <a:r>
              <a:rPr lang="en-US" sz="2243" b="1">
                <a:solidFill>
                  <a:srgbClr val="000000"/>
                </a:solidFill>
                <a:latin typeface="Lato Bold"/>
                <a:ea typeface="Lato Bold"/>
                <a:cs typeface="Lato Bold"/>
                <a:sym typeface="Lato Bold"/>
              </a:rPr>
              <a:t>For aviation operations,wind prdiction model is usable if its prediction error is less than 2.5 knots.</a:t>
            </a:r>
          </a:p>
          <a:p>
            <a:pPr algn="l">
              <a:lnSpc>
                <a:spcPts val="2580"/>
              </a:lnSpc>
            </a:pPr>
            <a:endParaRPr lang="en-US" sz="2243" b="1">
              <a:solidFill>
                <a:srgbClr val="000000"/>
              </a:solidFill>
              <a:latin typeface="Lato Bold"/>
              <a:ea typeface="Lato Bold"/>
              <a:cs typeface="Lato Bold"/>
              <a:sym typeface="Lato Bold"/>
            </a:endParaRPr>
          </a:p>
          <a:p>
            <a:pPr marL="462859" lvl="1" indent="-231430" algn="just">
              <a:lnSpc>
                <a:spcPts val="2465"/>
              </a:lnSpc>
              <a:buFont typeface="Arial"/>
              <a:buChar char="•"/>
            </a:pPr>
            <a:r>
              <a:rPr lang="en-US" sz="2143" b="1">
                <a:solidFill>
                  <a:srgbClr val="000000"/>
                </a:solidFill>
                <a:latin typeface="Lato Bold"/>
                <a:ea typeface="Lato Bold"/>
                <a:cs typeface="Lato Bold"/>
                <a:sym typeface="Lato Bold"/>
              </a:rPr>
              <a:t>Generate 1-hour and 3-hour short-term predictions use XGBOOST and TFT (Temporal Fusion Transformer) coupled prediction</a:t>
            </a:r>
          </a:p>
          <a:p>
            <a:pPr algn="just">
              <a:lnSpc>
                <a:spcPts val="2465"/>
              </a:lnSpc>
            </a:pPr>
            <a:endParaRPr lang="en-US" sz="2143" b="1">
              <a:solidFill>
                <a:srgbClr val="000000"/>
              </a:solidFill>
              <a:latin typeface="Lato Bold"/>
              <a:ea typeface="Lato Bold"/>
              <a:cs typeface="Lato Bold"/>
              <a:sym typeface="Lato Bold"/>
            </a:endParaRPr>
          </a:p>
          <a:p>
            <a:pPr marL="484449" lvl="1" indent="-242224" algn="just">
              <a:lnSpc>
                <a:spcPts val="2580"/>
              </a:lnSpc>
              <a:buFont typeface="Arial"/>
              <a:buChar char="•"/>
            </a:pPr>
            <a:r>
              <a:rPr lang="en-US" sz="2243" b="1">
                <a:solidFill>
                  <a:srgbClr val="000000"/>
                </a:solidFill>
                <a:latin typeface="Lato Bold"/>
                <a:ea typeface="Lato Bold"/>
                <a:cs typeface="Lato Bold"/>
                <a:sym typeface="Lato Bold"/>
              </a:rPr>
              <a:t>Continues learning Automated MLOps retraining using newly collected weather data</a:t>
            </a:r>
          </a:p>
          <a:p>
            <a:pPr algn="just">
              <a:lnSpc>
                <a:spcPts val="2580"/>
              </a:lnSpc>
            </a:pPr>
            <a:endParaRPr lang="en-US" sz="2243" b="1">
              <a:solidFill>
                <a:srgbClr val="000000"/>
              </a:solidFill>
              <a:latin typeface="Lato Bold"/>
              <a:ea typeface="Lato Bold"/>
              <a:cs typeface="Lato Bold"/>
              <a:sym typeface="Lato Bold"/>
            </a:endParaRPr>
          </a:p>
          <a:p>
            <a:pPr marL="484449" lvl="1" indent="-242224" algn="just">
              <a:lnSpc>
                <a:spcPts val="2580"/>
              </a:lnSpc>
              <a:buFont typeface="Arial"/>
              <a:buChar char="•"/>
            </a:pPr>
            <a:r>
              <a:rPr lang="en-US" sz="2243" b="1">
                <a:solidFill>
                  <a:srgbClr val="000000"/>
                </a:solidFill>
                <a:latin typeface="Lato Bold"/>
                <a:ea typeface="Lato Bold"/>
                <a:cs typeface="Lato Bold"/>
                <a:sym typeface="Lato Bold"/>
              </a:rPr>
              <a:t>Capture non-linear relationships between meteorological parameters.</a:t>
            </a:r>
          </a:p>
          <a:p>
            <a:pPr marL="484449" lvl="1" indent="-242224" algn="just">
              <a:lnSpc>
                <a:spcPts val="2580"/>
              </a:lnSpc>
              <a:buFont typeface="Arial"/>
              <a:buChar char="•"/>
            </a:pPr>
            <a:r>
              <a:rPr lang="en-US" sz="2243" b="1">
                <a:solidFill>
                  <a:srgbClr val="000000"/>
                </a:solidFill>
                <a:latin typeface="Lato Bold"/>
                <a:ea typeface="Lato Bold"/>
                <a:cs typeface="Lato Bold"/>
                <a:sym typeface="Lato Bold"/>
              </a:rPr>
              <a:t>Provide runway-oriented headwind and crosswind information.</a:t>
            </a:r>
          </a:p>
          <a:p>
            <a:pPr algn="just">
              <a:lnSpc>
                <a:spcPts val="3141"/>
              </a:lnSpc>
              <a:spcBef>
                <a:spcPct val="0"/>
              </a:spcBef>
            </a:pPr>
            <a:endParaRPr lang="en-US" sz="2243" b="1">
              <a:solidFill>
                <a:srgbClr val="000000"/>
              </a:solidFill>
              <a:latin typeface="Lato Bold"/>
              <a:ea typeface="Lato Bold"/>
              <a:cs typeface="Lato Bold"/>
              <a:sym typeface="Lato Bold"/>
            </a:endParaRPr>
          </a:p>
          <a:p>
            <a:pPr algn="just">
              <a:lnSpc>
                <a:spcPts val="3141"/>
              </a:lnSpc>
              <a:spcBef>
                <a:spcPct val="0"/>
              </a:spcBef>
            </a:pPr>
            <a:endParaRPr lang="en-US" sz="2243" b="1">
              <a:solidFill>
                <a:srgbClr val="000000"/>
              </a:solidFill>
              <a:latin typeface="Lato Bold"/>
              <a:ea typeface="Lato Bold"/>
              <a:cs typeface="Lato Bold"/>
              <a:sym typeface="Lato Bold"/>
            </a:endParaRPr>
          </a:p>
        </p:txBody>
      </p:sp>
      <p:sp>
        <p:nvSpPr>
          <p:cNvPr id="13" name="TextBox 13"/>
          <p:cNvSpPr txBox="1"/>
          <p:nvPr/>
        </p:nvSpPr>
        <p:spPr>
          <a:xfrm>
            <a:off x="9144000" y="4899025"/>
            <a:ext cx="0" cy="431799"/>
          </a:xfrm>
          <a:prstGeom prst="rect">
            <a:avLst/>
          </a:prstGeom>
        </p:spPr>
        <p:txBody>
          <a:bodyPr lIns="0" tIns="0" rIns="0" bIns="0" rtlCol="0" anchor="t">
            <a:spAutoFit/>
          </a:bodyPr>
          <a:lstStyle/>
          <a:p>
            <a:pPr algn="ctr">
              <a:lnSpc>
                <a:spcPts val="3500"/>
              </a:lnSpc>
              <a:spcBef>
                <a:spcPct val="0"/>
              </a:spcBef>
            </a:pPr>
            <a:endParaRPr/>
          </a:p>
        </p:txBody>
      </p:sp>
      <p:sp>
        <p:nvSpPr>
          <p:cNvPr id="14" name="TextBox 14"/>
          <p:cNvSpPr txBox="1"/>
          <p:nvPr/>
        </p:nvSpPr>
        <p:spPr>
          <a:xfrm>
            <a:off x="2997230" y="241099"/>
            <a:ext cx="12769296" cy="1410331"/>
          </a:xfrm>
          <a:prstGeom prst="rect">
            <a:avLst/>
          </a:prstGeom>
        </p:spPr>
        <p:txBody>
          <a:bodyPr lIns="0" tIns="0" rIns="0" bIns="0" rtlCol="0" anchor="t">
            <a:spAutoFit/>
          </a:bodyPr>
          <a:lstStyle/>
          <a:p>
            <a:pPr algn="l">
              <a:lnSpc>
                <a:spcPts val="5074"/>
              </a:lnSpc>
            </a:pPr>
            <a:r>
              <a:rPr lang="en-US" sz="5074" b="1">
                <a:solidFill>
                  <a:srgbClr val="FF3131"/>
                </a:solidFill>
                <a:latin typeface="Poppins Bold"/>
                <a:ea typeface="Poppins Bold"/>
                <a:cs typeface="Poppins Bold"/>
                <a:sym typeface="Poppins Bold"/>
              </a:rPr>
              <a:t>Wind Pattern Prediction Model </a:t>
            </a:r>
          </a:p>
          <a:p>
            <a:pPr algn="l">
              <a:lnSpc>
                <a:spcPts val="5474"/>
              </a:lnSpc>
            </a:pPr>
            <a:endParaRPr lang="en-US" sz="5074" b="1">
              <a:solidFill>
                <a:srgbClr val="FF3131"/>
              </a:solidFill>
              <a:latin typeface="Poppins Bold"/>
              <a:ea typeface="Poppins Bold"/>
              <a:cs typeface="Poppins Bold"/>
              <a:sym typeface="Poppins Bold"/>
            </a:endParaRPr>
          </a:p>
        </p:txBody>
      </p:sp>
      <p:sp>
        <p:nvSpPr>
          <p:cNvPr id="15" name="TextBox 15"/>
          <p:cNvSpPr txBox="1"/>
          <p:nvPr/>
        </p:nvSpPr>
        <p:spPr>
          <a:xfrm>
            <a:off x="12018131" y="742950"/>
            <a:ext cx="3975259" cy="514350"/>
          </a:xfrm>
          <a:prstGeom prst="rect">
            <a:avLst/>
          </a:prstGeom>
        </p:spPr>
        <p:txBody>
          <a:bodyPr lIns="0" tIns="0" rIns="0" bIns="0" rtlCol="0" anchor="t">
            <a:spAutoFit/>
          </a:bodyPr>
          <a:lstStyle/>
          <a:p>
            <a:pPr algn="ctr">
              <a:lnSpc>
                <a:spcPts val="4200"/>
              </a:lnSpc>
              <a:spcBef>
                <a:spcPct val="0"/>
              </a:spcBef>
            </a:pPr>
            <a:r>
              <a:rPr lang="en-US" sz="3000" b="1">
                <a:solidFill>
                  <a:srgbClr val="FF3131"/>
                </a:solidFill>
                <a:latin typeface="Canva Sans Bold"/>
                <a:ea typeface="Canva Sans Bold"/>
                <a:cs typeface="Canva Sans Bold"/>
                <a:sym typeface="Canva Sans Bold"/>
              </a:rPr>
              <a:t>(speed and direction)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87278" y="9258300"/>
            <a:ext cx="925554" cy="925554"/>
          </a:xfrm>
          <a:custGeom>
            <a:avLst/>
            <a:gdLst/>
            <a:ahLst/>
            <a:cxnLst/>
            <a:rect l="l" t="t" r="r" b="b"/>
            <a:pathLst>
              <a:path w="925554" h="925554">
                <a:moveTo>
                  <a:pt x="0" y="0"/>
                </a:moveTo>
                <a:lnTo>
                  <a:pt x="925553" y="0"/>
                </a:lnTo>
                <a:lnTo>
                  <a:pt x="925553" y="925554"/>
                </a:lnTo>
                <a:lnTo>
                  <a:pt x="0" y="925554"/>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692778" y="542395"/>
            <a:ext cx="15566522" cy="539787"/>
          </a:xfrm>
          <a:prstGeom prst="rect">
            <a:avLst/>
          </a:prstGeom>
        </p:spPr>
        <p:txBody>
          <a:bodyPr lIns="0" tIns="0" rIns="0" bIns="0" rtlCol="0" anchor="t">
            <a:spAutoFit/>
          </a:bodyPr>
          <a:lstStyle/>
          <a:p>
            <a:pPr algn="ctr">
              <a:lnSpc>
                <a:spcPts val="3972"/>
              </a:lnSpc>
            </a:pPr>
            <a:r>
              <a:rPr lang="en-US" sz="3972" b="1" i="1">
                <a:solidFill>
                  <a:srgbClr val="FF3131"/>
                </a:solidFill>
                <a:latin typeface="Lora Bold Italics"/>
                <a:ea typeface="Lora Bold Italics"/>
                <a:cs typeface="Lora Bold Italics"/>
                <a:sym typeface="Lora Bold Italics"/>
              </a:rPr>
              <a:t>CLOUD AND VISIBILITY PREDICTION MODEL </a:t>
            </a:r>
          </a:p>
        </p:txBody>
      </p:sp>
      <p:sp>
        <p:nvSpPr>
          <p:cNvPr id="4" name="TextBox 4"/>
          <p:cNvSpPr txBox="1"/>
          <p:nvPr/>
        </p:nvSpPr>
        <p:spPr>
          <a:xfrm>
            <a:off x="1112831" y="9313904"/>
            <a:ext cx="3382969" cy="868251"/>
          </a:xfrm>
          <a:prstGeom prst="rect">
            <a:avLst/>
          </a:prstGeom>
        </p:spPr>
        <p:txBody>
          <a:bodyPr wrap="square" lIns="0" tIns="0" rIns="0" bIns="0" rtlCol="0" anchor="t">
            <a:spAutoFit/>
          </a:bodyPr>
          <a:lstStyle/>
          <a:p>
            <a:pPr algn="l">
              <a:lnSpc>
                <a:spcPts val="3500"/>
              </a:lnSpc>
            </a:pPr>
            <a:r>
              <a:rPr lang="en-US" sz="2500" b="1" dirty="0">
                <a:solidFill>
                  <a:srgbClr val="1800AD"/>
                </a:solidFill>
                <a:latin typeface="Canva Sans Bold"/>
                <a:ea typeface="Canva Sans Bold"/>
                <a:cs typeface="Canva Sans Bold"/>
                <a:sym typeface="Canva Sans Bold"/>
              </a:rPr>
              <a:t>SLIIT</a:t>
            </a:r>
          </a:p>
          <a:p>
            <a:pPr algn="ctr">
              <a:lnSpc>
                <a:spcPts val="3500"/>
              </a:lnSpc>
            </a:pPr>
            <a:r>
              <a:rPr lang="en-US" sz="2500" b="1" dirty="0">
                <a:solidFill>
                  <a:srgbClr val="1800AD"/>
                </a:solidFill>
                <a:latin typeface="Canva Sans Bold"/>
                <a:ea typeface="Canva Sans Bold"/>
                <a:cs typeface="Canva Sans Bold"/>
                <a:sym typeface="Canva Sans Bold"/>
              </a:rPr>
              <a:t>Faculty of Computing</a:t>
            </a:r>
          </a:p>
        </p:txBody>
      </p:sp>
      <p:sp>
        <p:nvSpPr>
          <p:cNvPr id="5" name="TextBox 5"/>
          <p:cNvSpPr txBox="1"/>
          <p:nvPr/>
        </p:nvSpPr>
        <p:spPr>
          <a:xfrm>
            <a:off x="5759256" y="9649733"/>
            <a:ext cx="2546544" cy="581231"/>
          </a:xfrm>
          <a:prstGeom prst="rect">
            <a:avLst/>
          </a:prstGeom>
        </p:spPr>
        <p:txBody>
          <a:bodyPr wrap="square" lIns="0" tIns="0" rIns="0" bIns="0" rtlCol="0" anchor="t">
            <a:spAutoFit/>
          </a:bodyPr>
          <a:lstStyle/>
          <a:p>
            <a:pPr algn="ctr">
              <a:lnSpc>
                <a:spcPts val="4713"/>
              </a:lnSpc>
            </a:pPr>
            <a:r>
              <a:rPr lang="en-US" sz="3366" b="1" dirty="0">
                <a:solidFill>
                  <a:srgbClr val="FF3131"/>
                </a:solidFill>
                <a:latin typeface="Canva Sans Bold"/>
                <a:ea typeface="Canva Sans Bold"/>
                <a:cs typeface="Canva Sans Bold"/>
                <a:sym typeface="Canva Sans Bold"/>
              </a:rPr>
              <a:t>IT22619976</a:t>
            </a:r>
          </a:p>
        </p:txBody>
      </p:sp>
      <p:sp>
        <p:nvSpPr>
          <p:cNvPr id="6" name="TextBox 6"/>
          <p:cNvSpPr txBox="1"/>
          <p:nvPr/>
        </p:nvSpPr>
        <p:spPr>
          <a:xfrm>
            <a:off x="8658226" y="9629917"/>
            <a:ext cx="4691007" cy="581231"/>
          </a:xfrm>
          <a:prstGeom prst="rect">
            <a:avLst/>
          </a:prstGeom>
        </p:spPr>
        <p:txBody>
          <a:bodyPr wrap="square" lIns="0" tIns="0" rIns="0" bIns="0" rtlCol="0" anchor="t">
            <a:spAutoFit/>
          </a:bodyPr>
          <a:lstStyle/>
          <a:p>
            <a:pPr algn="ctr">
              <a:lnSpc>
                <a:spcPts val="4713"/>
              </a:lnSpc>
            </a:pPr>
            <a:r>
              <a:rPr lang="en-US" sz="3366" b="1" dirty="0" err="1">
                <a:solidFill>
                  <a:srgbClr val="FF3131"/>
                </a:solidFill>
                <a:latin typeface="Canva Sans Bold"/>
                <a:ea typeface="Canva Sans Bold"/>
                <a:cs typeface="Canva Sans Bold"/>
                <a:sym typeface="Canva Sans Bold"/>
              </a:rPr>
              <a:t>Jayawardhana</a:t>
            </a:r>
            <a:r>
              <a:rPr lang="en-US" sz="3366" b="1" dirty="0">
                <a:solidFill>
                  <a:srgbClr val="FF3131"/>
                </a:solidFill>
                <a:latin typeface="Canva Sans Bold"/>
                <a:ea typeface="Canva Sans Bold"/>
                <a:cs typeface="Canva Sans Bold"/>
                <a:sym typeface="Canva Sans Bold"/>
              </a:rPr>
              <a:t> H.M.S.I</a:t>
            </a:r>
          </a:p>
        </p:txBody>
      </p:sp>
      <p:sp>
        <p:nvSpPr>
          <p:cNvPr id="7" name="TextBox 7"/>
          <p:cNvSpPr txBox="1"/>
          <p:nvPr/>
        </p:nvSpPr>
        <p:spPr>
          <a:xfrm>
            <a:off x="13868400" y="9665879"/>
            <a:ext cx="2092042" cy="509305"/>
          </a:xfrm>
          <a:prstGeom prst="rect">
            <a:avLst/>
          </a:prstGeom>
        </p:spPr>
        <p:txBody>
          <a:bodyPr lIns="0" tIns="0" rIns="0" bIns="0" rtlCol="0" anchor="t">
            <a:spAutoFit/>
          </a:bodyPr>
          <a:lstStyle/>
          <a:p>
            <a:pPr algn="ctr">
              <a:lnSpc>
                <a:spcPts val="4153"/>
              </a:lnSpc>
            </a:pPr>
            <a:r>
              <a:rPr lang="en-US" sz="2966" b="1" dirty="0">
                <a:solidFill>
                  <a:srgbClr val="1800AD"/>
                </a:solidFill>
                <a:latin typeface="Canva Sans Bold"/>
                <a:ea typeface="Canva Sans Bold"/>
                <a:cs typeface="Canva Sans Bold"/>
                <a:sym typeface="Canva Sans Bold"/>
              </a:rPr>
              <a:t> R26-IT-132 </a:t>
            </a:r>
          </a:p>
        </p:txBody>
      </p:sp>
      <p:sp>
        <p:nvSpPr>
          <p:cNvPr id="8" name="TextBox 8"/>
          <p:cNvSpPr txBox="1"/>
          <p:nvPr/>
        </p:nvSpPr>
        <p:spPr>
          <a:xfrm>
            <a:off x="1112831" y="1318051"/>
            <a:ext cx="6750997" cy="679350"/>
          </a:xfrm>
          <a:prstGeom prst="rect">
            <a:avLst/>
          </a:prstGeom>
        </p:spPr>
        <p:txBody>
          <a:bodyPr lIns="0" tIns="0" rIns="0" bIns="0" rtlCol="0" anchor="t">
            <a:spAutoFit/>
          </a:bodyPr>
          <a:lstStyle/>
          <a:p>
            <a:pPr algn="l">
              <a:lnSpc>
                <a:spcPts val="4754"/>
              </a:lnSpc>
            </a:pPr>
            <a:r>
              <a:rPr lang="en-US" sz="4754" b="1">
                <a:solidFill>
                  <a:srgbClr val="00255C"/>
                </a:solidFill>
                <a:latin typeface="Poppins Ultra-Bold"/>
                <a:ea typeface="Poppins Ultra-Bold"/>
                <a:cs typeface="Poppins Ultra-Bold"/>
                <a:sym typeface="Poppins Ultra-Bold"/>
              </a:rPr>
              <a:t>RESEARCH GAP</a:t>
            </a:r>
          </a:p>
        </p:txBody>
      </p:sp>
      <p:sp>
        <p:nvSpPr>
          <p:cNvPr id="9" name="TextBox 9"/>
          <p:cNvSpPr txBox="1"/>
          <p:nvPr/>
        </p:nvSpPr>
        <p:spPr>
          <a:xfrm>
            <a:off x="187278" y="2077838"/>
            <a:ext cx="7846717" cy="2967355"/>
          </a:xfrm>
          <a:prstGeom prst="rect">
            <a:avLst/>
          </a:prstGeom>
        </p:spPr>
        <p:txBody>
          <a:bodyPr lIns="0" tIns="0" rIns="0" bIns="0" rtlCol="0" anchor="t">
            <a:spAutoFit/>
          </a:bodyPr>
          <a:lstStyle/>
          <a:p>
            <a:pPr marL="604519" lvl="1" indent="-302260" algn="just">
              <a:lnSpc>
                <a:spcPts val="3919"/>
              </a:lnSpc>
              <a:spcBef>
                <a:spcPct val="0"/>
              </a:spcBef>
              <a:buFont typeface="Arial"/>
              <a:buChar char="•"/>
            </a:pPr>
            <a:r>
              <a:rPr lang="en-US" sz="2799" b="1">
                <a:solidFill>
                  <a:srgbClr val="000000"/>
                </a:solidFill>
                <a:latin typeface="Lato Bold"/>
                <a:ea typeface="Lato Bold"/>
                <a:cs typeface="Lato Bold"/>
                <a:sym typeface="Lato Bold"/>
              </a:rPr>
              <a:t>dentified is that global weather models like GFS, ECMWF do not provide the hyper-local accuracy required for VCBI, and they lack automated adaptability to changing local patterns.</a:t>
            </a:r>
          </a:p>
          <a:p>
            <a:pPr algn="just">
              <a:lnSpc>
                <a:spcPts val="3919"/>
              </a:lnSpc>
              <a:spcBef>
                <a:spcPct val="0"/>
              </a:spcBef>
            </a:pPr>
            <a:endParaRPr lang="en-US" sz="2799" b="1">
              <a:solidFill>
                <a:srgbClr val="000000"/>
              </a:solidFill>
              <a:latin typeface="Lato Bold"/>
              <a:ea typeface="Lato Bold"/>
              <a:cs typeface="Lato Bold"/>
              <a:sym typeface="Lato Bold"/>
            </a:endParaRPr>
          </a:p>
        </p:txBody>
      </p:sp>
      <p:sp>
        <p:nvSpPr>
          <p:cNvPr id="10" name="TextBox 10"/>
          <p:cNvSpPr txBox="1"/>
          <p:nvPr/>
        </p:nvSpPr>
        <p:spPr>
          <a:xfrm>
            <a:off x="735137" y="5230406"/>
            <a:ext cx="6750997" cy="679350"/>
          </a:xfrm>
          <a:prstGeom prst="rect">
            <a:avLst/>
          </a:prstGeom>
        </p:spPr>
        <p:txBody>
          <a:bodyPr lIns="0" tIns="0" rIns="0" bIns="0" rtlCol="0" anchor="t">
            <a:spAutoFit/>
          </a:bodyPr>
          <a:lstStyle/>
          <a:p>
            <a:pPr algn="l">
              <a:lnSpc>
                <a:spcPts val="4754"/>
              </a:lnSpc>
            </a:pPr>
            <a:r>
              <a:rPr lang="en-US" sz="4754" b="1">
                <a:solidFill>
                  <a:srgbClr val="00255C"/>
                </a:solidFill>
                <a:latin typeface="Poppins Ultra-Bold"/>
                <a:ea typeface="Poppins Ultra-Bold"/>
                <a:cs typeface="Poppins Ultra-Bold"/>
                <a:sym typeface="Poppins Ultra-Bold"/>
              </a:rPr>
              <a:t>OBJECTIVE</a:t>
            </a:r>
          </a:p>
        </p:txBody>
      </p:sp>
      <p:sp>
        <p:nvSpPr>
          <p:cNvPr id="11" name="TextBox 11"/>
          <p:cNvSpPr txBox="1"/>
          <p:nvPr/>
        </p:nvSpPr>
        <p:spPr>
          <a:xfrm>
            <a:off x="0" y="6057727"/>
            <a:ext cx="8903397" cy="3462655"/>
          </a:xfrm>
          <a:prstGeom prst="rect">
            <a:avLst/>
          </a:prstGeom>
        </p:spPr>
        <p:txBody>
          <a:bodyPr lIns="0" tIns="0" rIns="0" bIns="0" rtlCol="0" anchor="t">
            <a:spAutoFit/>
          </a:bodyPr>
          <a:lstStyle/>
          <a:p>
            <a:pPr marL="604519" lvl="1" indent="-302260" algn="just">
              <a:lnSpc>
                <a:spcPts val="3919"/>
              </a:lnSpc>
              <a:buFont typeface="Arial"/>
              <a:buChar char="•"/>
            </a:pPr>
            <a:r>
              <a:rPr lang="en-US" sz="2799" b="1">
                <a:solidFill>
                  <a:srgbClr val="000000"/>
                </a:solidFill>
                <a:latin typeface="Lato Bold"/>
                <a:ea typeface="Lato Bold"/>
                <a:cs typeface="Lato Bold"/>
                <a:sym typeface="Lato Bold"/>
              </a:rPr>
              <a:t>Predict Cloud Status and Visibility</a:t>
            </a:r>
          </a:p>
          <a:p>
            <a:pPr marL="604519" lvl="1" indent="-302260" algn="just">
              <a:lnSpc>
                <a:spcPts val="3919"/>
              </a:lnSpc>
              <a:buFont typeface="Arial"/>
              <a:buChar char="•"/>
            </a:pPr>
            <a:r>
              <a:rPr lang="en-US" sz="2799" b="1">
                <a:solidFill>
                  <a:srgbClr val="000000"/>
                </a:solidFill>
                <a:latin typeface="Lato Bold"/>
                <a:ea typeface="Lato Bold"/>
                <a:cs typeface="Lato Bold"/>
                <a:sym typeface="Lato Bold"/>
              </a:rPr>
              <a:t>Generate short-term airport-level predictions</a:t>
            </a:r>
          </a:p>
          <a:p>
            <a:pPr marL="604519" lvl="1" indent="-302260" algn="just">
              <a:lnSpc>
                <a:spcPts val="3919"/>
              </a:lnSpc>
              <a:buFont typeface="Arial"/>
              <a:buChar char="•"/>
            </a:pPr>
            <a:r>
              <a:rPr lang="en-US" sz="2799" b="1">
                <a:solidFill>
                  <a:srgbClr val="000000"/>
                </a:solidFill>
                <a:latin typeface="Lato Bold"/>
                <a:ea typeface="Lato Bold"/>
                <a:cs typeface="Lato Bold"/>
                <a:sym typeface="Lato Bold"/>
              </a:rPr>
              <a:t>Capture non-linear relationships between meteorological parameters</a:t>
            </a:r>
          </a:p>
          <a:p>
            <a:pPr marL="604519" lvl="1" indent="-302260" algn="just">
              <a:lnSpc>
                <a:spcPts val="3919"/>
              </a:lnSpc>
              <a:spcBef>
                <a:spcPct val="0"/>
              </a:spcBef>
              <a:buFont typeface="Arial"/>
              <a:buChar char="•"/>
            </a:pPr>
            <a:r>
              <a:rPr lang="en-US" sz="2799" b="1">
                <a:solidFill>
                  <a:srgbClr val="000000"/>
                </a:solidFill>
                <a:latin typeface="Lato Bold"/>
                <a:ea typeface="Lato Bold"/>
                <a:cs typeface="Lato Bold"/>
                <a:sym typeface="Lato Bold"/>
              </a:rPr>
              <a:t>Provide human-readable aviation weather information</a:t>
            </a:r>
          </a:p>
          <a:p>
            <a:pPr algn="just">
              <a:lnSpc>
                <a:spcPts val="3919"/>
              </a:lnSpc>
              <a:spcBef>
                <a:spcPct val="0"/>
              </a:spcBef>
            </a:pPr>
            <a:endParaRPr lang="en-US" sz="2799" b="1">
              <a:solidFill>
                <a:srgbClr val="000000"/>
              </a:solidFill>
              <a:latin typeface="Lato Bold"/>
              <a:ea typeface="Lato Bold"/>
              <a:cs typeface="Lato Bold"/>
              <a:sym typeface="Lato Bold"/>
            </a:endParaRPr>
          </a:p>
        </p:txBody>
      </p:sp>
      <p:sp>
        <p:nvSpPr>
          <p:cNvPr id="12" name="TextBox 12"/>
          <p:cNvSpPr txBox="1"/>
          <p:nvPr/>
        </p:nvSpPr>
        <p:spPr>
          <a:xfrm>
            <a:off x="10750281" y="1676776"/>
            <a:ext cx="6750997" cy="1282809"/>
          </a:xfrm>
          <a:prstGeom prst="rect">
            <a:avLst/>
          </a:prstGeom>
        </p:spPr>
        <p:txBody>
          <a:bodyPr lIns="0" tIns="0" rIns="0" bIns="0" rtlCol="0" anchor="t">
            <a:spAutoFit/>
          </a:bodyPr>
          <a:lstStyle/>
          <a:p>
            <a:pPr algn="l">
              <a:lnSpc>
                <a:spcPts val="4754"/>
              </a:lnSpc>
            </a:pPr>
            <a:r>
              <a:rPr lang="en-US" sz="4754" b="1">
                <a:solidFill>
                  <a:srgbClr val="FEA917"/>
                </a:solidFill>
                <a:latin typeface="Poppins Ultra-Bold"/>
                <a:ea typeface="Poppins Ultra-Bold"/>
                <a:cs typeface="Poppins Ultra-Bold"/>
                <a:sym typeface="Poppins Ultra-Bold"/>
              </a:rPr>
              <a:t>SOLUTION OVERVIEW</a:t>
            </a:r>
          </a:p>
          <a:p>
            <a:pPr algn="l">
              <a:lnSpc>
                <a:spcPts val="4754"/>
              </a:lnSpc>
            </a:pPr>
            <a:endParaRPr lang="en-US" sz="4754" b="1">
              <a:solidFill>
                <a:srgbClr val="FEA917"/>
              </a:solidFill>
              <a:latin typeface="Poppins Ultra-Bold"/>
              <a:ea typeface="Poppins Ultra-Bold"/>
              <a:cs typeface="Poppins Ultra-Bold"/>
              <a:sym typeface="Poppins Ultra-Bold"/>
            </a:endParaRPr>
          </a:p>
        </p:txBody>
      </p:sp>
      <p:sp>
        <p:nvSpPr>
          <p:cNvPr id="13" name="TextBox 13"/>
          <p:cNvSpPr txBox="1"/>
          <p:nvPr/>
        </p:nvSpPr>
        <p:spPr>
          <a:xfrm>
            <a:off x="8911079" y="2950059"/>
            <a:ext cx="8727800" cy="5939273"/>
          </a:xfrm>
          <a:prstGeom prst="rect">
            <a:avLst/>
          </a:prstGeom>
        </p:spPr>
        <p:txBody>
          <a:bodyPr lIns="0" tIns="0" rIns="0" bIns="0" rtlCol="0" anchor="t">
            <a:spAutoFit/>
          </a:bodyPr>
          <a:lstStyle/>
          <a:p>
            <a:pPr marL="603517" lvl="1" indent="-301759" algn="just">
              <a:lnSpc>
                <a:spcPts val="3913"/>
              </a:lnSpc>
              <a:buFont typeface="Arial"/>
              <a:buChar char="•"/>
            </a:pPr>
            <a:r>
              <a:rPr lang="en-US" sz="2795" b="1">
                <a:solidFill>
                  <a:srgbClr val="000000"/>
                </a:solidFill>
                <a:latin typeface="Lato Bold"/>
                <a:ea typeface="Lato Bold"/>
                <a:cs typeface="Lato Bold"/>
                <a:sym typeface="Lato Bold"/>
              </a:rPr>
              <a:t>Evaluated Decision Tree, Random Forest, and XGBoost</a:t>
            </a:r>
          </a:p>
          <a:p>
            <a:pPr marL="603517" lvl="1" indent="-301759" algn="just">
              <a:lnSpc>
                <a:spcPts val="3913"/>
              </a:lnSpc>
              <a:buFont typeface="Arial"/>
              <a:buChar char="•"/>
            </a:pPr>
            <a:r>
              <a:rPr lang="en-US" sz="2795" b="1">
                <a:solidFill>
                  <a:srgbClr val="000000"/>
                </a:solidFill>
                <a:latin typeface="Lato Bold"/>
                <a:ea typeface="Lato Bold"/>
                <a:cs typeface="Lato Bold"/>
                <a:sym typeface="Lato Bold"/>
              </a:rPr>
              <a:t>XGBoost selected as the final model</a:t>
            </a:r>
          </a:p>
          <a:p>
            <a:pPr marL="603517" lvl="1" indent="-301759" algn="just">
              <a:lnSpc>
                <a:spcPts val="3913"/>
              </a:lnSpc>
              <a:buFont typeface="Arial"/>
              <a:buChar char="•"/>
            </a:pPr>
            <a:r>
              <a:rPr lang="en-US" sz="2795" b="1">
                <a:solidFill>
                  <a:srgbClr val="000000"/>
                </a:solidFill>
                <a:latin typeface="Lato Bold"/>
                <a:ea typeface="Lato Bold"/>
                <a:cs typeface="Lato Bold"/>
                <a:sym typeface="Lato Bold"/>
              </a:rPr>
              <a:t>Separate models for Cloud Status and Visibility</a:t>
            </a:r>
          </a:p>
          <a:p>
            <a:pPr marL="603517" lvl="1" indent="-301759" algn="just">
              <a:lnSpc>
                <a:spcPts val="3913"/>
              </a:lnSpc>
              <a:buFont typeface="Arial"/>
              <a:buChar char="•"/>
            </a:pPr>
            <a:r>
              <a:rPr lang="en-US" sz="2795" b="1">
                <a:solidFill>
                  <a:srgbClr val="000000"/>
                </a:solidFill>
                <a:latin typeface="Lato Bold"/>
                <a:ea typeface="Lato Bold"/>
                <a:cs typeface="Lato Bold"/>
                <a:sym typeface="Lato Bold"/>
              </a:rPr>
              <a:t>Uses METAR observations and engineered meteorological features</a:t>
            </a:r>
          </a:p>
          <a:p>
            <a:pPr marL="603517" lvl="1" indent="-301759" algn="just">
              <a:lnSpc>
                <a:spcPts val="3913"/>
              </a:lnSpc>
              <a:buFont typeface="Arial"/>
              <a:buChar char="•"/>
            </a:pPr>
            <a:r>
              <a:rPr lang="en-US" sz="2795" b="1">
                <a:solidFill>
                  <a:srgbClr val="000000"/>
                </a:solidFill>
                <a:latin typeface="Lato Bold"/>
                <a:ea typeface="Lato Bold"/>
                <a:cs typeface="Lato Bold"/>
                <a:sym typeface="Lato Bold"/>
              </a:rPr>
              <a:t>Real-time prediction through Flask API</a:t>
            </a:r>
          </a:p>
          <a:p>
            <a:pPr marL="603517" lvl="1" indent="-301759" algn="just">
              <a:lnSpc>
                <a:spcPts val="3913"/>
              </a:lnSpc>
              <a:buFont typeface="Arial"/>
              <a:buChar char="•"/>
            </a:pPr>
            <a:r>
              <a:rPr lang="en-US" sz="2795" b="1">
                <a:solidFill>
                  <a:srgbClr val="000000"/>
                </a:solidFill>
                <a:latin typeface="Lato Bold"/>
                <a:ea typeface="Lato Bold"/>
                <a:cs typeface="Lato Bold"/>
                <a:sym typeface="Lato Bold"/>
              </a:rPr>
              <a:t>Automated MLOps retraining using newly collected weather data</a:t>
            </a:r>
          </a:p>
          <a:p>
            <a:pPr marL="603517" lvl="1" indent="-301759" algn="just">
              <a:lnSpc>
                <a:spcPts val="3913"/>
              </a:lnSpc>
              <a:buFont typeface="Arial"/>
              <a:buChar char="•"/>
            </a:pPr>
            <a:r>
              <a:rPr lang="en-US" sz="2795" b="1">
                <a:solidFill>
                  <a:srgbClr val="000000"/>
                </a:solidFill>
                <a:latin typeface="Lato Bold"/>
                <a:ea typeface="Lato Bold"/>
                <a:cs typeface="Lato Bold"/>
                <a:sym typeface="Lato Bold"/>
              </a:rPr>
              <a:t>Provides predictions in a human-readable aviation format (Cloud - FEW, SCT,BKN)</a:t>
            </a:r>
          </a:p>
          <a:p>
            <a:pPr algn="just">
              <a:lnSpc>
                <a:spcPts val="3913"/>
              </a:lnSpc>
              <a:spcBef>
                <a:spcPct val="0"/>
              </a:spcBef>
            </a:pPr>
            <a:endParaRPr lang="en-US" sz="2795" b="1">
              <a:solidFill>
                <a:srgbClr val="000000"/>
              </a:solidFill>
              <a:latin typeface="Lato Bold"/>
              <a:ea typeface="Lato Bold"/>
              <a:cs typeface="Lato Bold"/>
              <a:sym typeface="Lato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87278" y="9258300"/>
            <a:ext cx="925554" cy="925554"/>
          </a:xfrm>
          <a:custGeom>
            <a:avLst/>
            <a:gdLst/>
            <a:ahLst/>
            <a:cxnLst/>
            <a:rect l="l" t="t" r="r" b="b"/>
            <a:pathLst>
              <a:path w="925554" h="925554">
                <a:moveTo>
                  <a:pt x="0" y="0"/>
                </a:moveTo>
                <a:lnTo>
                  <a:pt x="925553" y="0"/>
                </a:lnTo>
                <a:lnTo>
                  <a:pt x="925553" y="925554"/>
                </a:lnTo>
                <a:lnTo>
                  <a:pt x="0" y="925554"/>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1692778" y="542395"/>
            <a:ext cx="15566522" cy="539787"/>
          </a:xfrm>
          <a:prstGeom prst="rect">
            <a:avLst/>
          </a:prstGeom>
        </p:spPr>
        <p:txBody>
          <a:bodyPr lIns="0" tIns="0" rIns="0" bIns="0" rtlCol="0" anchor="t">
            <a:spAutoFit/>
          </a:bodyPr>
          <a:lstStyle/>
          <a:p>
            <a:pPr algn="ctr">
              <a:lnSpc>
                <a:spcPts val="3972"/>
              </a:lnSpc>
            </a:pPr>
            <a:r>
              <a:rPr lang="en-US" sz="3972" b="1" i="1">
                <a:solidFill>
                  <a:srgbClr val="FF3131"/>
                </a:solidFill>
                <a:latin typeface="Lora Bold Italics"/>
                <a:ea typeface="Lora Bold Italics"/>
                <a:cs typeface="Lora Bold Italics"/>
                <a:sym typeface="Lora Bold Italics"/>
              </a:rPr>
              <a:t> QNH, DEWPOINT AND RH PREDICTION MODEL </a:t>
            </a:r>
          </a:p>
        </p:txBody>
      </p:sp>
      <p:sp>
        <p:nvSpPr>
          <p:cNvPr id="4" name="TextBox 4"/>
          <p:cNvSpPr txBox="1"/>
          <p:nvPr/>
        </p:nvSpPr>
        <p:spPr>
          <a:xfrm>
            <a:off x="1112831" y="9313904"/>
            <a:ext cx="3382969" cy="869949"/>
          </a:xfrm>
          <a:prstGeom prst="rect">
            <a:avLst/>
          </a:prstGeom>
        </p:spPr>
        <p:txBody>
          <a:bodyPr wrap="square" lIns="0" tIns="0" rIns="0" bIns="0" rtlCol="0" anchor="t">
            <a:spAutoFit/>
          </a:bodyPr>
          <a:lstStyle/>
          <a:p>
            <a:pPr algn="l">
              <a:lnSpc>
                <a:spcPts val="3500"/>
              </a:lnSpc>
            </a:pPr>
            <a:r>
              <a:rPr lang="en-US" sz="2500" b="1" dirty="0">
                <a:solidFill>
                  <a:srgbClr val="1800AD"/>
                </a:solidFill>
                <a:latin typeface="Canva Sans Bold"/>
                <a:ea typeface="Canva Sans Bold"/>
                <a:cs typeface="Canva Sans Bold"/>
                <a:sym typeface="Canva Sans Bold"/>
              </a:rPr>
              <a:t>SLIIT</a:t>
            </a:r>
          </a:p>
          <a:p>
            <a:pPr algn="ctr">
              <a:lnSpc>
                <a:spcPts val="3500"/>
              </a:lnSpc>
            </a:pPr>
            <a:r>
              <a:rPr lang="en-US" sz="2500" b="1" dirty="0">
                <a:solidFill>
                  <a:srgbClr val="1800AD"/>
                </a:solidFill>
                <a:latin typeface="Canva Sans Bold"/>
                <a:ea typeface="Canva Sans Bold"/>
                <a:cs typeface="Canva Sans Bold"/>
                <a:sym typeface="Canva Sans Bold"/>
              </a:rPr>
              <a:t>Faculty of Computing</a:t>
            </a:r>
          </a:p>
        </p:txBody>
      </p:sp>
      <p:sp>
        <p:nvSpPr>
          <p:cNvPr id="5" name="TextBox 5"/>
          <p:cNvSpPr txBox="1"/>
          <p:nvPr/>
        </p:nvSpPr>
        <p:spPr>
          <a:xfrm>
            <a:off x="5686464" y="9623295"/>
            <a:ext cx="2619336" cy="581231"/>
          </a:xfrm>
          <a:prstGeom prst="rect">
            <a:avLst/>
          </a:prstGeom>
        </p:spPr>
        <p:txBody>
          <a:bodyPr wrap="square" lIns="0" tIns="0" rIns="0" bIns="0" rtlCol="0" anchor="t">
            <a:spAutoFit/>
          </a:bodyPr>
          <a:lstStyle/>
          <a:p>
            <a:pPr algn="ctr">
              <a:lnSpc>
                <a:spcPts val="4713"/>
              </a:lnSpc>
            </a:pPr>
            <a:r>
              <a:rPr lang="en-US" sz="3366" b="1" dirty="0">
                <a:solidFill>
                  <a:srgbClr val="FF3131"/>
                </a:solidFill>
                <a:latin typeface="Canva Sans Bold"/>
                <a:ea typeface="Canva Sans Bold"/>
                <a:cs typeface="Canva Sans Bold"/>
                <a:sym typeface="Canva Sans Bold"/>
              </a:rPr>
              <a:t>IT22069504</a:t>
            </a:r>
          </a:p>
        </p:txBody>
      </p:sp>
      <p:sp>
        <p:nvSpPr>
          <p:cNvPr id="6" name="TextBox 6"/>
          <p:cNvSpPr txBox="1"/>
          <p:nvPr/>
        </p:nvSpPr>
        <p:spPr>
          <a:xfrm>
            <a:off x="8763000" y="9623295"/>
            <a:ext cx="4855670" cy="581231"/>
          </a:xfrm>
          <a:prstGeom prst="rect">
            <a:avLst/>
          </a:prstGeom>
        </p:spPr>
        <p:txBody>
          <a:bodyPr wrap="square" lIns="0" tIns="0" rIns="0" bIns="0" rtlCol="0" anchor="t">
            <a:spAutoFit/>
          </a:bodyPr>
          <a:lstStyle/>
          <a:p>
            <a:pPr algn="ctr">
              <a:lnSpc>
                <a:spcPts val="4713"/>
              </a:lnSpc>
            </a:pPr>
            <a:r>
              <a:rPr lang="en-US" sz="3366" b="1" dirty="0">
                <a:solidFill>
                  <a:srgbClr val="FF3131"/>
                </a:solidFill>
                <a:latin typeface="Canva Sans Bold"/>
                <a:ea typeface="Canva Sans Bold"/>
                <a:cs typeface="Canva Sans Bold"/>
                <a:sym typeface="Canva Sans Bold"/>
              </a:rPr>
              <a:t>JAYATHILAKA P.K.V.K.</a:t>
            </a:r>
          </a:p>
        </p:txBody>
      </p:sp>
      <p:sp>
        <p:nvSpPr>
          <p:cNvPr id="7" name="TextBox 7"/>
          <p:cNvSpPr txBox="1"/>
          <p:nvPr/>
        </p:nvSpPr>
        <p:spPr>
          <a:xfrm>
            <a:off x="14325600" y="9696643"/>
            <a:ext cx="2092042" cy="509305"/>
          </a:xfrm>
          <a:prstGeom prst="rect">
            <a:avLst/>
          </a:prstGeom>
        </p:spPr>
        <p:txBody>
          <a:bodyPr lIns="0" tIns="0" rIns="0" bIns="0" rtlCol="0" anchor="t">
            <a:spAutoFit/>
          </a:bodyPr>
          <a:lstStyle/>
          <a:p>
            <a:pPr algn="ctr">
              <a:lnSpc>
                <a:spcPts val="4153"/>
              </a:lnSpc>
            </a:pPr>
            <a:r>
              <a:rPr lang="en-US" sz="2966" b="1" dirty="0">
                <a:solidFill>
                  <a:srgbClr val="1800AD"/>
                </a:solidFill>
                <a:latin typeface="Canva Sans Bold"/>
                <a:ea typeface="Canva Sans Bold"/>
                <a:cs typeface="Canva Sans Bold"/>
                <a:sym typeface="Canva Sans Bold"/>
              </a:rPr>
              <a:t> R26-IT-132 </a:t>
            </a:r>
          </a:p>
        </p:txBody>
      </p:sp>
      <p:sp>
        <p:nvSpPr>
          <p:cNvPr id="8" name="TextBox 8"/>
          <p:cNvSpPr txBox="1"/>
          <p:nvPr/>
        </p:nvSpPr>
        <p:spPr>
          <a:xfrm>
            <a:off x="852617" y="1432719"/>
            <a:ext cx="4741426" cy="679350"/>
          </a:xfrm>
          <a:prstGeom prst="rect">
            <a:avLst/>
          </a:prstGeom>
        </p:spPr>
        <p:txBody>
          <a:bodyPr lIns="0" tIns="0" rIns="0" bIns="0" rtlCol="0" anchor="t">
            <a:spAutoFit/>
          </a:bodyPr>
          <a:lstStyle/>
          <a:p>
            <a:pPr algn="l">
              <a:lnSpc>
                <a:spcPts val="4754"/>
              </a:lnSpc>
            </a:pPr>
            <a:r>
              <a:rPr lang="en-US" sz="4754" b="1">
                <a:solidFill>
                  <a:srgbClr val="00255C"/>
                </a:solidFill>
                <a:latin typeface="Poppins Ultra-Bold"/>
                <a:ea typeface="Poppins Ultra-Bold"/>
                <a:cs typeface="Poppins Ultra-Bold"/>
                <a:sym typeface="Poppins Ultra-Bold"/>
              </a:rPr>
              <a:t>RESEARCH GAP</a:t>
            </a:r>
          </a:p>
        </p:txBody>
      </p:sp>
      <p:sp>
        <p:nvSpPr>
          <p:cNvPr id="9" name="TextBox 9"/>
          <p:cNvSpPr txBox="1"/>
          <p:nvPr/>
        </p:nvSpPr>
        <p:spPr>
          <a:xfrm>
            <a:off x="304757" y="2180712"/>
            <a:ext cx="7846717" cy="3191785"/>
          </a:xfrm>
          <a:prstGeom prst="rect">
            <a:avLst/>
          </a:prstGeom>
        </p:spPr>
        <p:txBody>
          <a:bodyPr lIns="0" tIns="0" rIns="0" bIns="0" rtlCol="0" anchor="t">
            <a:spAutoFit/>
          </a:bodyPr>
          <a:lstStyle/>
          <a:p>
            <a:pPr algn="just">
              <a:lnSpc>
                <a:spcPts val="3624"/>
              </a:lnSpc>
              <a:spcBef>
                <a:spcPct val="0"/>
              </a:spcBef>
            </a:pPr>
            <a:r>
              <a:rPr lang="en-US" sz="2589" dirty="0">
                <a:solidFill>
                  <a:srgbClr val="000000"/>
                </a:solidFill>
                <a:latin typeface="Lato"/>
                <a:ea typeface="Lato"/>
                <a:cs typeface="Lato"/>
                <a:sym typeface="Lato"/>
              </a:rPr>
              <a:t>Traditional numerical weather prediction models lack the hyper-local precision required for safe aviation operations, making them unreliable in the face of Sri Lanka’s highly volatile and rapidly shifting monsoon patterns, particularly when forecasting critical parameters like Atmospheric Pressure (QNH) and Dewpoint.</a:t>
            </a:r>
          </a:p>
        </p:txBody>
      </p:sp>
      <p:sp>
        <p:nvSpPr>
          <p:cNvPr id="10" name="TextBox 10"/>
          <p:cNvSpPr txBox="1"/>
          <p:nvPr/>
        </p:nvSpPr>
        <p:spPr>
          <a:xfrm>
            <a:off x="852617" y="5986091"/>
            <a:ext cx="6750997" cy="679350"/>
          </a:xfrm>
          <a:prstGeom prst="rect">
            <a:avLst/>
          </a:prstGeom>
        </p:spPr>
        <p:txBody>
          <a:bodyPr lIns="0" tIns="0" rIns="0" bIns="0" rtlCol="0" anchor="t">
            <a:spAutoFit/>
          </a:bodyPr>
          <a:lstStyle/>
          <a:p>
            <a:pPr algn="l">
              <a:lnSpc>
                <a:spcPts val="4754"/>
              </a:lnSpc>
            </a:pPr>
            <a:r>
              <a:rPr lang="en-US" sz="4754" b="1">
                <a:solidFill>
                  <a:srgbClr val="00255C"/>
                </a:solidFill>
                <a:latin typeface="Poppins Ultra-Bold"/>
                <a:ea typeface="Poppins Ultra-Bold"/>
                <a:cs typeface="Poppins Ultra-Bold"/>
                <a:sym typeface="Poppins Ultra-Bold"/>
              </a:rPr>
              <a:t>OBJECTIVE</a:t>
            </a:r>
          </a:p>
        </p:txBody>
      </p:sp>
      <p:sp>
        <p:nvSpPr>
          <p:cNvPr id="11" name="TextBox 11"/>
          <p:cNvSpPr txBox="1"/>
          <p:nvPr/>
        </p:nvSpPr>
        <p:spPr>
          <a:xfrm>
            <a:off x="304757" y="6742939"/>
            <a:ext cx="8903397" cy="1663964"/>
          </a:xfrm>
          <a:prstGeom prst="rect">
            <a:avLst/>
          </a:prstGeom>
        </p:spPr>
        <p:txBody>
          <a:bodyPr lIns="0" tIns="0" rIns="0" bIns="0" rtlCol="0" anchor="t">
            <a:spAutoFit/>
          </a:bodyPr>
          <a:lstStyle/>
          <a:p>
            <a:pPr marL="510520" lvl="1" indent="-255260" algn="just">
              <a:lnSpc>
                <a:spcPts val="3310"/>
              </a:lnSpc>
              <a:buFont typeface="Arial"/>
              <a:buChar char="•"/>
            </a:pPr>
            <a:r>
              <a:rPr lang="en-US" sz="2364" dirty="0">
                <a:solidFill>
                  <a:srgbClr val="000000"/>
                </a:solidFill>
                <a:latin typeface="Lato"/>
                <a:ea typeface="Lato"/>
                <a:cs typeface="Lato"/>
                <a:sym typeface="Lato"/>
              </a:rPr>
              <a:t>Forecast QNH and Dewpoint accurately</a:t>
            </a:r>
          </a:p>
          <a:p>
            <a:pPr marL="510520" lvl="1" indent="-255260" algn="just">
              <a:lnSpc>
                <a:spcPts val="3310"/>
              </a:lnSpc>
              <a:buFont typeface="Arial"/>
              <a:buChar char="•"/>
            </a:pPr>
            <a:r>
              <a:rPr lang="en-US" sz="2364" dirty="0">
                <a:solidFill>
                  <a:srgbClr val="000000"/>
                </a:solidFill>
                <a:latin typeface="Lato"/>
                <a:ea typeface="Lato"/>
                <a:cs typeface="Lato"/>
                <a:sym typeface="Lato"/>
              </a:rPr>
              <a:t>Predict weather conditions for the next 3 hours</a:t>
            </a:r>
          </a:p>
          <a:p>
            <a:pPr marL="510520" lvl="1" indent="-255260" algn="just">
              <a:lnSpc>
                <a:spcPts val="3310"/>
              </a:lnSpc>
              <a:spcBef>
                <a:spcPct val="0"/>
              </a:spcBef>
              <a:buFont typeface="Arial"/>
              <a:buChar char="•"/>
            </a:pPr>
            <a:r>
              <a:rPr lang="en-US" sz="2364" dirty="0">
                <a:solidFill>
                  <a:srgbClr val="000000"/>
                </a:solidFill>
                <a:latin typeface="Lato"/>
                <a:ea typeface="Lato"/>
                <a:cs typeface="Lato"/>
                <a:sym typeface="Lato"/>
              </a:rPr>
              <a:t>Calculate Relative Humidity from predicted weather parameters</a:t>
            </a:r>
          </a:p>
          <a:p>
            <a:pPr algn="just">
              <a:lnSpc>
                <a:spcPts val="3310"/>
              </a:lnSpc>
              <a:spcBef>
                <a:spcPct val="0"/>
              </a:spcBef>
            </a:pPr>
            <a:endParaRPr lang="en-US" sz="2364" dirty="0">
              <a:solidFill>
                <a:srgbClr val="000000"/>
              </a:solidFill>
              <a:latin typeface="Lato"/>
              <a:ea typeface="Lato"/>
              <a:cs typeface="Lato"/>
              <a:sym typeface="Lato"/>
            </a:endParaRPr>
          </a:p>
        </p:txBody>
      </p:sp>
      <p:sp>
        <p:nvSpPr>
          <p:cNvPr id="12" name="TextBox 12"/>
          <p:cNvSpPr txBox="1"/>
          <p:nvPr/>
        </p:nvSpPr>
        <p:spPr>
          <a:xfrm>
            <a:off x="10694148" y="2859391"/>
            <a:ext cx="6788080" cy="1280539"/>
          </a:xfrm>
          <a:prstGeom prst="rect">
            <a:avLst/>
          </a:prstGeom>
        </p:spPr>
        <p:txBody>
          <a:bodyPr lIns="0" tIns="0" rIns="0" bIns="0" rtlCol="0" anchor="t">
            <a:spAutoFit/>
          </a:bodyPr>
          <a:lstStyle/>
          <a:p>
            <a:pPr algn="l">
              <a:lnSpc>
                <a:spcPts val="4780"/>
              </a:lnSpc>
            </a:pPr>
            <a:r>
              <a:rPr lang="en-US" sz="4780" b="1">
                <a:solidFill>
                  <a:srgbClr val="FEA917"/>
                </a:solidFill>
                <a:latin typeface="Poppins Ultra-Bold"/>
                <a:ea typeface="Poppins Ultra-Bold"/>
                <a:cs typeface="Poppins Ultra-Bold"/>
                <a:sym typeface="Poppins Ultra-Bold"/>
              </a:rPr>
              <a:t>SOLUTION OVERVIEW</a:t>
            </a:r>
          </a:p>
          <a:p>
            <a:pPr algn="l">
              <a:lnSpc>
                <a:spcPts val="4780"/>
              </a:lnSpc>
            </a:pPr>
            <a:endParaRPr lang="en-US" sz="4780" b="1">
              <a:solidFill>
                <a:srgbClr val="FEA917"/>
              </a:solidFill>
              <a:latin typeface="Poppins Ultra-Bold"/>
              <a:ea typeface="Poppins Ultra-Bold"/>
              <a:cs typeface="Poppins Ultra-Bold"/>
              <a:sym typeface="Poppins Ultra-Bold"/>
            </a:endParaRPr>
          </a:p>
        </p:txBody>
      </p:sp>
      <p:sp>
        <p:nvSpPr>
          <p:cNvPr id="13" name="TextBox 13"/>
          <p:cNvSpPr txBox="1"/>
          <p:nvPr/>
        </p:nvSpPr>
        <p:spPr>
          <a:xfrm>
            <a:off x="9619580" y="3167421"/>
            <a:ext cx="8354105" cy="5703327"/>
          </a:xfrm>
          <a:prstGeom prst="rect">
            <a:avLst/>
          </a:prstGeom>
        </p:spPr>
        <p:txBody>
          <a:bodyPr lIns="0" tIns="0" rIns="0" bIns="0" rtlCol="0" anchor="t">
            <a:spAutoFit/>
          </a:bodyPr>
          <a:lstStyle/>
          <a:p>
            <a:pPr algn="just">
              <a:lnSpc>
                <a:spcPts val="3793"/>
              </a:lnSpc>
            </a:pPr>
            <a:endParaRPr/>
          </a:p>
          <a:p>
            <a:pPr marL="584993" lvl="1" indent="-292496" algn="just">
              <a:lnSpc>
                <a:spcPts val="3793"/>
              </a:lnSpc>
              <a:buFont typeface="Arial"/>
              <a:buChar char="•"/>
            </a:pPr>
            <a:r>
              <a:rPr lang="en-US" sz="2709">
                <a:solidFill>
                  <a:srgbClr val="000000"/>
                </a:solidFill>
                <a:latin typeface="Lato"/>
                <a:ea typeface="Lato"/>
                <a:cs typeface="Lato"/>
                <a:sym typeface="Lato"/>
              </a:rPr>
              <a:t>Use LightGBM for fast and accurate weather forecasting</a:t>
            </a:r>
          </a:p>
          <a:p>
            <a:pPr marL="584993" lvl="1" indent="-292496" algn="just">
              <a:lnSpc>
                <a:spcPts val="3793"/>
              </a:lnSpc>
              <a:buFont typeface="Arial"/>
              <a:buChar char="•"/>
            </a:pPr>
            <a:r>
              <a:rPr lang="en-US" sz="2709">
                <a:solidFill>
                  <a:srgbClr val="000000"/>
                </a:solidFill>
                <a:latin typeface="Lato"/>
                <a:ea typeface="Lato"/>
                <a:cs typeface="Lato"/>
                <a:sym typeface="Lato"/>
              </a:rPr>
              <a:t>Derive Relative Humidity using the August-Roche-Magnus formula</a:t>
            </a:r>
          </a:p>
          <a:p>
            <a:pPr marL="584993" lvl="1" indent="-292496" algn="just">
              <a:lnSpc>
                <a:spcPts val="3793"/>
              </a:lnSpc>
              <a:buFont typeface="Arial"/>
              <a:buChar char="•"/>
            </a:pPr>
            <a:r>
              <a:rPr lang="en-US" sz="2709">
                <a:solidFill>
                  <a:srgbClr val="000000"/>
                </a:solidFill>
                <a:latin typeface="Lato"/>
                <a:ea typeface="Lato"/>
                <a:cs typeface="Lato"/>
                <a:sym typeface="Lato"/>
              </a:rPr>
              <a:t>Apply advanced feature engineering for weather patterns</a:t>
            </a:r>
          </a:p>
          <a:p>
            <a:pPr marL="584993" lvl="1" indent="-292496" algn="just">
              <a:lnSpc>
                <a:spcPts val="3793"/>
              </a:lnSpc>
              <a:buFont typeface="Arial"/>
              <a:buChar char="•"/>
            </a:pPr>
            <a:r>
              <a:rPr lang="en-US" sz="2709">
                <a:solidFill>
                  <a:srgbClr val="000000"/>
                </a:solidFill>
                <a:latin typeface="Lato"/>
                <a:ea typeface="Lato"/>
                <a:cs typeface="Lato"/>
                <a:sym typeface="Lato"/>
              </a:rPr>
              <a:t>Use monthly automated MLOps retraining with live SQLite data</a:t>
            </a:r>
          </a:p>
          <a:p>
            <a:pPr marL="584993" lvl="1" indent="-292496" algn="just">
              <a:lnSpc>
                <a:spcPts val="3793"/>
              </a:lnSpc>
              <a:buFont typeface="Arial"/>
              <a:buChar char="•"/>
            </a:pPr>
            <a:r>
              <a:rPr lang="en-US" sz="2709">
                <a:solidFill>
                  <a:srgbClr val="000000"/>
                </a:solidFill>
                <a:latin typeface="Lato"/>
                <a:ea typeface="Lato"/>
                <a:cs typeface="Lato"/>
                <a:sym typeface="Lato"/>
              </a:rPr>
              <a:t>Verify prediction accuracy through real-time monitoring</a:t>
            </a:r>
          </a:p>
          <a:p>
            <a:pPr algn="just">
              <a:lnSpc>
                <a:spcPts val="3793"/>
              </a:lnSpc>
              <a:spcBef>
                <a:spcPct val="0"/>
              </a:spcBef>
            </a:pPr>
            <a:endParaRPr lang="en-US" sz="2709">
              <a:solidFill>
                <a:srgbClr val="000000"/>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29600" y="1084911"/>
            <a:ext cx="2001125" cy="434632"/>
            <a:chOff x="0" y="0"/>
            <a:chExt cx="527045" cy="114471"/>
          </a:xfrm>
        </p:grpSpPr>
        <p:sp>
          <p:nvSpPr>
            <p:cNvPr id="3" name="Freeform 3"/>
            <p:cNvSpPr/>
            <p:nvPr/>
          </p:nvSpPr>
          <p:spPr>
            <a:xfrm>
              <a:off x="0" y="0"/>
              <a:ext cx="527045" cy="114471"/>
            </a:xfrm>
            <a:custGeom>
              <a:avLst/>
              <a:gdLst/>
              <a:ahLst/>
              <a:cxnLst/>
              <a:rect l="l" t="t" r="r" b="b"/>
              <a:pathLst>
                <a:path w="527045" h="114471">
                  <a:moveTo>
                    <a:pt x="57236" y="0"/>
                  </a:moveTo>
                  <a:lnTo>
                    <a:pt x="469810" y="0"/>
                  </a:lnTo>
                  <a:cubicBezTo>
                    <a:pt x="484990" y="0"/>
                    <a:pt x="499548" y="6030"/>
                    <a:pt x="510281" y="16764"/>
                  </a:cubicBezTo>
                  <a:cubicBezTo>
                    <a:pt x="521015" y="27498"/>
                    <a:pt x="527045" y="42056"/>
                    <a:pt x="527045" y="57236"/>
                  </a:cubicBezTo>
                  <a:lnTo>
                    <a:pt x="527045" y="57236"/>
                  </a:lnTo>
                  <a:cubicBezTo>
                    <a:pt x="527045" y="72415"/>
                    <a:pt x="521015" y="86973"/>
                    <a:pt x="510281" y="97707"/>
                  </a:cubicBezTo>
                  <a:cubicBezTo>
                    <a:pt x="499548" y="108441"/>
                    <a:pt x="484990" y="114471"/>
                    <a:pt x="469810" y="114471"/>
                  </a:cubicBezTo>
                  <a:lnTo>
                    <a:pt x="57236" y="114471"/>
                  </a:lnTo>
                  <a:cubicBezTo>
                    <a:pt x="42056" y="114471"/>
                    <a:pt x="27498" y="108441"/>
                    <a:pt x="16764" y="97707"/>
                  </a:cubicBezTo>
                  <a:cubicBezTo>
                    <a:pt x="6030" y="86973"/>
                    <a:pt x="0" y="72415"/>
                    <a:pt x="0" y="57236"/>
                  </a:cubicBezTo>
                  <a:lnTo>
                    <a:pt x="0" y="57236"/>
                  </a:lnTo>
                  <a:cubicBezTo>
                    <a:pt x="0" y="42056"/>
                    <a:pt x="6030" y="27498"/>
                    <a:pt x="16764" y="16764"/>
                  </a:cubicBezTo>
                  <a:cubicBezTo>
                    <a:pt x="27498" y="6030"/>
                    <a:pt x="42056" y="0"/>
                    <a:pt x="57236" y="0"/>
                  </a:cubicBezTo>
                  <a:close/>
                </a:path>
              </a:pathLst>
            </a:custGeom>
            <a:solidFill>
              <a:srgbClr val="1B95F4"/>
            </a:solidFill>
          </p:spPr>
          <p:txBody>
            <a:bodyPr/>
            <a:lstStyle/>
            <a:p>
              <a:endParaRPr lang="en-US"/>
            </a:p>
          </p:txBody>
        </p:sp>
        <p:sp>
          <p:nvSpPr>
            <p:cNvPr id="4" name="TextBox 4"/>
            <p:cNvSpPr txBox="1"/>
            <p:nvPr/>
          </p:nvSpPr>
          <p:spPr>
            <a:xfrm>
              <a:off x="0" y="-38100"/>
              <a:ext cx="527045" cy="152571"/>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2541778" y="-232407"/>
            <a:ext cx="5746222" cy="4620850"/>
            <a:chOff x="0" y="0"/>
            <a:chExt cx="1338128" cy="1076061"/>
          </a:xfrm>
        </p:grpSpPr>
        <p:sp>
          <p:nvSpPr>
            <p:cNvPr id="6" name="Freeform 6"/>
            <p:cNvSpPr/>
            <p:nvPr/>
          </p:nvSpPr>
          <p:spPr>
            <a:xfrm>
              <a:off x="0" y="0"/>
              <a:ext cx="1338128" cy="1076061"/>
            </a:xfrm>
            <a:custGeom>
              <a:avLst/>
              <a:gdLst/>
              <a:ahLst/>
              <a:cxnLst/>
              <a:rect l="l" t="t" r="r" b="b"/>
              <a:pathLst>
                <a:path w="1338128" h="1076061">
                  <a:moveTo>
                    <a:pt x="101048" y="0"/>
                  </a:moveTo>
                  <a:lnTo>
                    <a:pt x="1237080" y="0"/>
                  </a:lnTo>
                  <a:cubicBezTo>
                    <a:pt x="1292887" y="0"/>
                    <a:pt x="1338128" y="45241"/>
                    <a:pt x="1338128" y="101048"/>
                  </a:cubicBezTo>
                  <a:lnTo>
                    <a:pt x="1338128" y="975013"/>
                  </a:lnTo>
                  <a:cubicBezTo>
                    <a:pt x="1338128" y="1030821"/>
                    <a:pt x="1292887" y="1076061"/>
                    <a:pt x="1237080" y="1076061"/>
                  </a:cubicBezTo>
                  <a:lnTo>
                    <a:pt x="101048" y="1076061"/>
                  </a:lnTo>
                  <a:cubicBezTo>
                    <a:pt x="45241" y="1076061"/>
                    <a:pt x="0" y="1030821"/>
                    <a:pt x="0" y="975013"/>
                  </a:cubicBezTo>
                  <a:lnTo>
                    <a:pt x="0" y="101048"/>
                  </a:lnTo>
                  <a:cubicBezTo>
                    <a:pt x="0" y="45241"/>
                    <a:pt x="45241" y="0"/>
                    <a:pt x="101048" y="0"/>
                  </a:cubicBezTo>
                  <a:close/>
                </a:path>
              </a:pathLst>
            </a:custGeom>
            <a:blipFill>
              <a:blip r:embed="rId2"/>
              <a:stretch>
                <a:fillRect t="-3338" b="-3338"/>
              </a:stretch>
            </a:blipFill>
          </p:spPr>
          <p:txBody>
            <a:bodyPr/>
            <a:lstStyle/>
            <a:p>
              <a:endParaRPr lang="en-US"/>
            </a:p>
          </p:txBody>
        </p:sp>
      </p:grpSp>
      <p:grpSp>
        <p:nvGrpSpPr>
          <p:cNvPr id="7" name="Group 7"/>
          <p:cNvGrpSpPr/>
          <p:nvPr/>
        </p:nvGrpSpPr>
        <p:grpSpPr>
          <a:xfrm>
            <a:off x="15672344" y="9833129"/>
            <a:ext cx="2541464" cy="453871"/>
            <a:chOff x="0" y="0"/>
            <a:chExt cx="3388618" cy="605161"/>
          </a:xfrm>
        </p:grpSpPr>
        <p:sp>
          <p:nvSpPr>
            <p:cNvPr id="8" name="Freeform 8"/>
            <p:cNvSpPr/>
            <p:nvPr/>
          </p:nvSpPr>
          <p:spPr>
            <a:xfrm>
              <a:off x="239010" y="0"/>
              <a:ext cx="312665" cy="404626"/>
            </a:xfrm>
            <a:custGeom>
              <a:avLst/>
              <a:gdLst/>
              <a:ahLst/>
              <a:cxnLst/>
              <a:rect l="l" t="t" r="r" b="b"/>
              <a:pathLst>
                <a:path w="312665" h="404626">
                  <a:moveTo>
                    <a:pt x="0" y="0"/>
                  </a:moveTo>
                  <a:lnTo>
                    <a:pt x="312665" y="0"/>
                  </a:lnTo>
                  <a:lnTo>
                    <a:pt x="312665" y="404626"/>
                  </a:lnTo>
                  <a:lnTo>
                    <a:pt x="0" y="40462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885959" y="42469"/>
              <a:ext cx="533414" cy="195028"/>
            </a:xfrm>
            <a:custGeom>
              <a:avLst/>
              <a:gdLst/>
              <a:ahLst/>
              <a:cxnLst/>
              <a:rect l="l" t="t" r="r" b="b"/>
              <a:pathLst>
                <a:path w="533414" h="195028">
                  <a:moveTo>
                    <a:pt x="0" y="0"/>
                  </a:moveTo>
                  <a:lnTo>
                    <a:pt x="533414" y="0"/>
                  </a:lnTo>
                  <a:lnTo>
                    <a:pt x="533414" y="195027"/>
                  </a:lnTo>
                  <a:lnTo>
                    <a:pt x="0" y="195027"/>
                  </a:lnTo>
                  <a:lnTo>
                    <a:pt x="0" y="0"/>
                  </a:lnTo>
                  <a:close/>
                </a:path>
              </a:pathLst>
            </a:custGeom>
            <a:blipFill>
              <a:blip>
                <a:extLst>
                  <a:ext uri="{96DAC541-7B7A-43D3-8B79-37D633B846F1}">
                    <asvg:svgBlip xmlns:asvg="http://schemas.microsoft.com/office/drawing/2016/SVG/main" r:embed="rId4"/>
                  </a:ext>
                </a:extLst>
              </a:blip>
              <a:stretch>
                <a:fillRect r="-20" b="-65629"/>
              </a:stretch>
            </a:blipFill>
          </p:spPr>
          <p:txBody>
            <a:bodyPr/>
            <a:lstStyle/>
            <a:p>
              <a:endParaRPr lang="en-US"/>
            </a:p>
          </p:txBody>
        </p:sp>
        <p:sp>
          <p:nvSpPr>
            <p:cNvPr id="10" name="Freeform 10"/>
            <p:cNvSpPr/>
            <p:nvPr/>
          </p:nvSpPr>
          <p:spPr>
            <a:xfrm flipV="1">
              <a:off x="960221" y="217748"/>
              <a:ext cx="384890" cy="152341"/>
            </a:xfrm>
            <a:custGeom>
              <a:avLst/>
              <a:gdLst/>
              <a:ahLst/>
              <a:cxnLst/>
              <a:rect l="l" t="t" r="r" b="b"/>
              <a:pathLst>
                <a:path w="384890" h="152341">
                  <a:moveTo>
                    <a:pt x="0" y="152340"/>
                  </a:moveTo>
                  <a:lnTo>
                    <a:pt x="384890" y="152340"/>
                  </a:lnTo>
                  <a:lnTo>
                    <a:pt x="384890" y="0"/>
                  </a:lnTo>
                  <a:lnTo>
                    <a:pt x="0" y="0"/>
                  </a:lnTo>
                  <a:lnTo>
                    <a:pt x="0" y="152340"/>
                  </a:lnTo>
                  <a:close/>
                </a:path>
              </a:pathLst>
            </a:custGeom>
            <a:blipFill>
              <a:blip>
                <a:extLst>
                  <a:ext uri="{96DAC541-7B7A-43D3-8B79-37D633B846F1}">
                    <asvg:svgBlip xmlns:asvg="http://schemas.microsoft.com/office/drawing/2016/SVG/main" r:embed="rId4"/>
                  </a:ext>
                </a:extLst>
              </a:blip>
              <a:stretch>
                <a:fillRect r="-38616" b="-112039"/>
              </a:stretch>
            </a:blipFill>
          </p:spPr>
          <p:txBody>
            <a:bodyPr/>
            <a:lstStyle/>
            <a:p>
              <a:endParaRPr lang="en-US"/>
            </a:p>
          </p:txBody>
        </p:sp>
        <p:sp>
          <p:nvSpPr>
            <p:cNvPr id="11" name="Freeform 11"/>
            <p:cNvSpPr/>
            <p:nvPr/>
          </p:nvSpPr>
          <p:spPr>
            <a:xfrm>
              <a:off x="1923654" y="0"/>
              <a:ext cx="404626" cy="404626"/>
            </a:xfrm>
            <a:custGeom>
              <a:avLst/>
              <a:gdLst/>
              <a:ahLst/>
              <a:cxnLst/>
              <a:rect l="l" t="t" r="r" b="b"/>
              <a:pathLst>
                <a:path w="404626" h="404626">
                  <a:moveTo>
                    <a:pt x="0" y="0"/>
                  </a:moveTo>
                  <a:lnTo>
                    <a:pt x="404626" y="0"/>
                  </a:lnTo>
                  <a:lnTo>
                    <a:pt x="404626" y="404626"/>
                  </a:lnTo>
                  <a:lnTo>
                    <a:pt x="0" y="40462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2" name="Freeform 12"/>
            <p:cNvSpPr/>
            <p:nvPr/>
          </p:nvSpPr>
          <p:spPr>
            <a:xfrm>
              <a:off x="2741791" y="67400"/>
              <a:ext cx="463568" cy="269826"/>
            </a:xfrm>
            <a:custGeom>
              <a:avLst/>
              <a:gdLst/>
              <a:ahLst/>
              <a:cxnLst/>
              <a:rect l="l" t="t" r="r" b="b"/>
              <a:pathLst>
                <a:path w="463568" h="269826">
                  <a:moveTo>
                    <a:pt x="0" y="0"/>
                  </a:moveTo>
                  <a:lnTo>
                    <a:pt x="463567" y="0"/>
                  </a:lnTo>
                  <a:lnTo>
                    <a:pt x="463567" y="269826"/>
                  </a:lnTo>
                  <a:lnTo>
                    <a:pt x="0" y="26982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3" name="TextBox 13"/>
            <p:cNvSpPr txBox="1"/>
            <p:nvPr/>
          </p:nvSpPr>
          <p:spPr>
            <a:xfrm>
              <a:off x="0" y="456221"/>
              <a:ext cx="790685" cy="148940"/>
            </a:xfrm>
            <a:prstGeom prst="rect">
              <a:avLst/>
            </a:prstGeom>
          </p:spPr>
          <p:txBody>
            <a:bodyPr lIns="0" tIns="0" rIns="0" bIns="0" rtlCol="0" anchor="t">
              <a:spAutoFit/>
            </a:bodyPr>
            <a:lstStyle/>
            <a:p>
              <a:pPr algn="ctr">
                <a:lnSpc>
                  <a:spcPts val="795"/>
                </a:lnSpc>
              </a:pPr>
              <a:r>
                <a:rPr lang="en-US" sz="795" b="1">
                  <a:solidFill>
                    <a:srgbClr val="000000"/>
                  </a:solidFill>
                  <a:latin typeface="Poppins Semi-Bold"/>
                  <a:ea typeface="Poppins Semi-Bold"/>
                  <a:cs typeface="Poppins Semi-Bold"/>
                  <a:sym typeface="Poppins Semi-Bold"/>
                </a:rPr>
                <a:t>20%</a:t>
              </a:r>
            </a:p>
          </p:txBody>
        </p:sp>
        <p:sp>
          <p:nvSpPr>
            <p:cNvPr id="14" name="TextBox 14"/>
            <p:cNvSpPr txBox="1"/>
            <p:nvPr/>
          </p:nvSpPr>
          <p:spPr>
            <a:xfrm>
              <a:off x="843023" y="456221"/>
              <a:ext cx="790503" cy="148940"/>
            </a:xfrm>
            <a:prstGeom prst="rect">
              <a:avLst/>
            </a:prstGeom>
          </p:spPr>
          <p:txBody>
            <a:bodyPr lIns="0" tIns="0" rIns="0" bIns="0" rtlCol="0" anchor="t">
              <a:spAutoFit/>
            </a:bodyPr>
            <a:lstStyle/>
            <a:p>
              <a:pPr algn="ctr">
                <a:lnSpc>
                  <a:spcPts val="795"/>
                </a:lnSpc>
              </a:pPr>
              <a:r>
                <a:rPr lang="en-US" sz="795" b="1">
                  <a:solidFill>
                    <a:srgbClr val="000000"/>
                  </a:solidFill>
                  <a:latin typeface="Poppins Semi-Bold"/>
                  <a:ea typeface="Poppins Semi-Bold"/>
                  <a:cs typeface="Poppins Semi-Bold"/>
                  <a:sym typeface="Poppins Semi-Bold"/>
                </a:rPr>
                <a:t>15 KM/H</a:t>
              </a:r>
            </a:p>
          </p:txBody>
        </p:sp>
        <p:sp>
          <p:nvSpPr>
            <p:cNvPr id="15" name="TextBox 15"/>
            <p:cNvSpPr txBox="1"/>
            <p:nvPr/>
          </p:nvSpPr>
          <p:spPr>
            <a:xfrm>
              <a:off x="1730716" y="456221"/>
              <a:ext cx="790503" cy="148940"/>
            </a:xfrm>
            <a:prstGeom prst="rect">
              <a:avLst/>
            </a:prstGeom>
          </p:spPr>
          <p:txBody>
            <a:bodyPr lIns="0" tIns="0" rIns="0" bIns="0" rtlCol="0" anchor="t">
              <a:spAutoFit/>
            </a:bodyPr>
            <a:lstStyle/>
            <a:p>
              <a:pPr algn="ctr">
                <a:lnSpc>
                  <a:spcPts val="795"/>
                </a:lnSpc>
              </a:pPr>
              <a:r>
                <a:rPr lang="en-US" sz="795" b="1">
                  <a:solidFill>
                    <a:srgbClr val="000000"/>
                  </a:solidFill>
                  <a:latin typeface="Poppins Semi-Bold"/>
                  <a:ea typeface="Poppins Semi-Bold"/>
                  <a:cs typeface="Poppins Semi-Bold"/>
                  <a:sym typeface="Poppins Semi-Bold"/>
                </a:rPr>
                <a:t>WEST</a:t>
              </a:r>
            </a:p>
          </p:txBody>
        </p:sp>
        <p:sp>
          <p:nvSpPr>
            <p:cNvPr id="16" name="TextBox 16"/>
            <p:cNvSpPr txBox="1"/>
            <p:nvPr/>
          </p:nvSpPr>
          <p:spPr>
            <a:xfrm>
              <a:off x="2598116" y="456221"/>
              <a:ext cx="790503" cy="148940"/>
            </a:xfrm>
            <a:prstGeom prst="rect">
              <a:avLst/>
            </a:prstGeom>
          </p:spPr>
          <p:txBody>
            <a:bodyPr lIns="0" tIns="0" rIns="0" bIns="0" rtlCol="0" anchor="t">
              <a:spAutoFit/>
            </a:bodyPr>
            <a:lstStyle/>
            <a:p>
              <a:pPr algn="ctr">
                <a:lnSpc>
                  <a:spcPts val="795"/>
                </a:lnSpc>
              </a:pPr>
              <a:r>
                <a:rPr lang="en-US" sz="795" b="1">
                  <a:solidFill>
                    <a:srgbClr val="000000"/>
                  </a:solidFill>
                  <a:latin typeface="Poppins Semi-Bold"/>
                  <a:ea typeface="Poppins Semi-Bold"/>
                  <a:cs typeface="Poppins Semi-Bold"/>
                  <a:sym typeface="Poppins Semi-Bold"/>
                </a:rPr>
                <a:t>1023.0 MB</a:t>
              </a:r>
            </a:p>
          </p:txBody>
        </p:sp>
      </p:grpSp>
      <p:sp>
        <p:nvSpPr>
          <p:cNvPr id="17" name="Freeform 17"/>
          <p:cNvSpPr/>
          <p:nvPr/>
        </p:nvSpPr>
        <p:spPr>
          <a:xfrm>
            <a:off x="158703" y="9258300"/>
            <a:ext cx="925554" cy="925554"/>
          </a:xfrm>
          <a:custGeom>
            <a:avLst/>
            <a:gdLst/>
            <a:ahLst/>
            <a:cxnLst/>
            <a:rect l="l" t="t" r="r" b="b"/>
            <a:pathLst>
              <a:path w="925554" h="925554">
                <a:moveTo>
                  <a:pt x="0" y="0"/>
                </a:moveTo>
                <a:lnTo>
                  <a:pt x="925553" y="0"/>
                </a:lnTo>
                <a:lnTo>
                  <a:pt x="925553" y="925554"/>
                </a:lnTo>
                <a:lnTo>
                  <a:pt x="0" y="925554"/>
                </a:lnTo>
                <a:lnTo>
                  <a:pt x="0" y="0"/>
                </a:lnTo>
                <a:close/>
              </a:path>
            </a:pathLst>
          </a:custGeom>
          <a:blipFill>
            <a:blip r:embed="rId7"/>
            <a:stretch>
              <a:fillRect/>
            </a:stretch>
          </a:blipFill>
        </p:spPr>
        <p:txBody>
          <a:bodyPr/>
          <a:lstStyle/>
          <a:p>
            <a:endParaRPr lang="en-US"/>
          </a:p>
        </p:txBody>
      </p:sp>
      <p:sp>
        <p:nvSpPr>
          <p:cNvPr id="18" name="TextBox 18"/>
          <p:cNvSpPr txBox="1"/>
          <p:nvPr/>
        </p:nvSpPr>
        <p:spPr>
          <a:xfrm>
            <a:off x="16332141" y="8825357"/>
            <a:ext cx="1426581" cy="545687"/>
          </a:xfrm>
          <a:prstGeom prst="rect">
            <a:avLst/>
          </a:prstGeom>
        </p:spPr>
        <p:txBody>
          <a:bodyPr lIns="0" tIns="0" rIns="0" bIns="0" rtlCol="0" anchor="t">
            <a:spAutoFit/>
          </a:bodyPr>
          <a:lstStyle/>
          <a:p>
            <a:pPr algn="ctr">
              <a:lnSpc>
                <a:spcPts val="3713"/>
              </a:lnSpc>
            </a:pPr>
            <a:r>
              <a:rPr lang="en-US" sz="3713">
                <a:solidFill>
                  <a:srgbClr val="000000"/>
                </a:solidFill>
                <a:latin typeface="Poppins"/>
                <a:ea typeface="Poppins"/>
                <a:cs typeface="Poppins"/>
                <a:sym typeface="Poppins"/>
              </a:rPr>
              <a:t>30°C</a:t>
            </a:r>
          </a:p>
        </p:txBody>
      </p:sp>
      <p:sp>
        <p:nvSpPr>
          <p:cNvPr id="19" name="TextBox 19"/>
          <p:cNvSpPr txBox="1"/>
          <p:nvPr/>
        </p:nvSpPr>
        <p:spPr>
          <a:xfrm>
            <a:off x="15235590" y="9542651"/>
            <a:ext cx="3619683" cy="128396"/>
          </a:xfrm>
          <a:prstGeom prst="rect">
            <a:avLst/>
          </a:prstGeom>
        </p:spPr>
        <p:txBody>
          <a:bodyPr lIns="0" tIns="0" rIns="0" bIns="0" rtlCol="0" anchor="t">
            <a:spAutoFit/>
          </a:bodyPr>
          <a:lstStyle/>
          <a:p>
            <a:pPr algn="ctr">
              <a:lnSpc>
                <a:spcPts val="909"/>
              </a:lnSpc>
            </a:pPr>
            <a:r>
              <a:rPr lang="en-US" sz="909" spc="454">
                <a:solidFill>
                  <a:srgbClr val="584344"/>
                </a:solidFill>
                <a:latin typeface="Poppins Light"/>
                <a:ea typeface="Poppins Light"/>
                <a:cs typeface="Poppins Light"/>
                <a:sym typeface="Poppins Light"/>
              </a:rPr>
              <a:t>MAX. 31°C - MIN.15°C</a:t>
            </a:r>
          </a:p>
        </p:txBody>
      </p:sp>
      <p:sp>
        <p:nvSpPr>
          <p:cNvPr id="20" name="TextBox 20"/>
          <p:cNvSpPr txBox="1"/>
          <p:nvPr/>
        </p:nvSpPr>
        <p:spPr>
          <a:xfrm>
            <a:off x="621479" y="527956"/>
            <a:ext cx="9181588" cy="2513673"/>
          </a:xfrm>
          <a:prstGeom prst="rect">
            <a:avLst/>
          </a:prstGeom>
        </p:spPr>
        <p:txBody>
          <a:bodyPr lIns="0" tIns="0" rIns="0" bIns="0" rtlCol="0" anchor="t">
            <a:spAutoFit/>
          </a:bodyPr>
          <a:lstStyle/>
          <a:p>
            <a:pPr algn="l">
              <a:lnSpc>
                <a:spcPts val="6347"/>
              </a:lnSpc>
            </a:pPr>
            <a:r>
              <a:rPr lang="en-US" sz="6347" b="1">
                <a:solidFill>
                  <a:srgbClr val="161C58"/>
                </a:solidFill>
                <a:latin typeface="Poppins Ultra-Bold"/>
                <a:ea typeface="Poppins Ultra-Bold"/>
                <a:cs typeface="Poppins Ultra-Bold"/>
                <a:sym typeface="Poppins Ultra-Bold"/>
              </a:rPr>
              <a:t>SYSTEM INTEGRATION</a:t>
            </a:r>
          </a:p>
          <a:p>
            <a:pPr algn="l">
              <a:lnSpc>
                <a:spcPts val="6347"/>
              </a:lnSpc>
            </a:pPr>
            <a:endParaRPr lang="en-US" sz="6347" b="1">
              <a:solidFill>
                <a:srgbClr val="161C58"/>
              </a:solidFill>
              <a:latin typeface="Poppins Ultra-Bold"/>
              <a:ea typeface="Poppins Ultra-Bold"/>
              <a:cs typeface="Poppins Ultra-Bold"/>
              <a:sym typeface="Poppins Ultra-Bold"/>
            </a:endParaRPr>
          </a:p>
          <a:p>
            <a:pPr algn="l">
              <a:lnSpc>
                <a:spcPts val="6347"/>
              </a:lnSpc>
            </a:pPr>
            <a:endParaRPr lang="en-US" sz="6347" b="1">
              <a:solidFill>
                <a:srgbClr val="161C58"/>
              </a:solidFill>
              <a:latin typeface="Poppins Ultra-Bold"/>
              <a:ea typeface="Poppins Ultra-Bold"/>
              <a:cs typeface="Poppins Ultra-Bold"/>
              <a:sym typeface="Poppins Ultra-Bold"/>
            </a:endParaRPr>
          </a:p>
        </p:txBody>
      </p:sp>
      <p:sp>
        <p:nvSpPr>
          <p:cNvPr id="21" name="TextBox 21"/>
          <p:cNvSpPr txBox="1"/>
          <p:nvPr/>
        </p:nvSpPr>
        <p:spPr>
          <a:xfrm>
            <a:off x="10155" y="1689543"/>
            <a:ext cx="8673039" cy="4283582"/>
          </a:xfrm>
          <a:prstGeom prst="rect">
            <a:avLst/>
          </a:prstGeom>
        </p:spPr>
        <p:txBody>
          <a:bodyPr lIns="0" tIns="0" rIns="0" bIns="0" rtlCol="0" anchor="t">
            <a:spAutoFit/>
          </a:bodyPr>
          <a:lstStyle/>
          <a:p>
            <a:pPr marL="589417" lvl="1" indent="-294708" algn="just">
              <a:lnSpc>
                <a:spcPts val="3822"/>
              </a:lnSpc>
              <a:buFont typeface="Arial"/>
              <a:buChar char="•"/>
            </a:pPr>
            <a:r>
              <a:rPr lang="en-US" sz="2730" b="1">
                <a:solidFill>
                  <a:srgbClr val="000000"/>
                </a:solidFill>
                <a:latin typeface="Lato Bold"/>
                <a:ea typeface="Lato Bold"/>
                <a:cs typeface="Lato Bold"/>
                <a:sym typeface="Lato Bold"/>
              </a:rPr>
              <a:t>Historical VCBI weather data → Preprocessing &amp; Feature Engineering</a:t>
            </a:r>
          </a:p>
          <a:p>
            <a:pPr marL="589417" lvl="1" indent="-294708" algn="just">
              <a:lnSpc>
                <a:spcPts val="3822"/>
              </a:lnSpc>
              <a:buFont typeface="Arial"/>
              <a:buChar char="•"/>
            </a:pPr>
            <a:r>
              <a:rPr lang="en-US" sz="2730" b="1">
                <a:solidFill>
                  <a:srgbClr val="000000"/>
                </a:solidFill>
                <a:latin typeface="Lato Bold"/>
                <a:ea typeface="Lato Bold"/>
                <a:cs typeface="Lato Bold"/>
                <a:sym typeface="Lato Bold"/>
              </a:rPr>
              <a:t>Monsoon-specific ML/DL components → 3 Hour Forecasting</a:t>
            </a:r>
          </a:p>
          <a:p>
            <a:pPr marL="589417" lvl="1" indent="-294708" algn="just">
              <a:lnSpc>
                <a:spcPts val="3822"/>
              </a:lnSpc>
              <a:buFont typeface="Arial"/>
              <a:buChar char="•"/>
            </a:pPr>
            <a:r>
              <a:rPr lang="en-US" sz="2730" b="1">
                <a:solidFill>
                  <a:srgbClr val="000000"/>
                </a:solidFill>
                <a:latin typeface="Lato Bold"/>
                <a:ea typeface="Lato Bold"/>
                <a:cs typeface="Lato Bold"/>
                <a:sym typeface="Lato Bold"/>
              </a:rPr>
              <a:t>Forecast outputs    →    METAR / TAF Verification</a:t>
            </a:r>
          </a:p>
          <a:p>
            <a:pPr marL="589417" lvl="1" indent="-294708" algn="just">
              <a:lnSpc>
                <a:spcPts val="3822"/>
              </a:lnSpc>
              <a:buFont typeface="Arial"/>
              <a:buChar char="•"/>
            </a:pPr>
            <a:r>
              <a:rPr lang="en-US" sz="2730" b="1">
                <a:solidFill>
                  <a:srgbClr val="000000"/>
                </a:solidFill>
                <a:latin typeface="Lato Bold"/>
                <a:ea typeface="Lato Bold"/>
                <a:cs typeface="Lato Bold"/>
                <a:sym typeface="Lato Bold"/>
              </a:rPr>
              <a:t>Verification results →   Error &amp; Reliability Analysis</a:t>
            </a:r>
          </a:p>
          <a:p>
            <a:pPr marL="589417" lvl="1" indent="-294708" algn="just">
              <a:lnSpc>
                <a:spcPts val="3822"/>
              </a:lnSpc>
              <a:buFont typeface="Arial"/>
              <a:buChar char="•"/>
            </a:pPr>
            <a:r>
              <a:rPr lang="en-US" sz="2730" b="1">
                <a:solidFill>
                  <a:srgbClr val="000000"/>
                </a:solidFill>
                <a:latin typeface="Lato Bold"/>
                <a:ea typeface="Lato Bold"/>
                <a:cs typeface="Lato Bold"/>
                <a:sym typeface="Lato Bold"/>
              </a:rPr>
              <a:t>Integrated outputs →   Pilot Weather Guidance /      </a:t>
            </a:r>
          </a:p>
          <a:p>
            <a:pPr algn="just">
              <a:lnSpc>
                <a:spcPts val="3822"/>
              </a:lnSpc>
            </a:pPr>
            <a:r>
              <a:rPr lang="en-US" sz="2730" b="1">
                <a:solidFill>
                  <a:srgbClr val="000000"/>
                </a:solidFill>
                <a:latin typeface="Lato Bold"/>
                <a:ea typeface="Lato Bold"/>
                <a:cs typeface="Lato Bold"/>
                <a:sym typeface="Lato Bold"/>
              </a:rPr>
              <a:t>                                                 Decision Support</a:t>
            </a:r>
          </a:p>
          <a:p>
            <a:pPr algn="l">
              <a:lnSpc>
                <a:spcPts val="3822"/>
              </a:lnSpc>
              <a:spcBef>
                <a:spcPct val="0"/>
              </a:spcBef>
            </a:pPr>
            <a:endParaRPr lang="en-US" sz="2730" b="1">
              <a:solidFill>
                <a:srgbClr val="000000"/>
              </a:solidFill>
              <a:latin typeface="Lato Bold"/>
              <a:ea typeface="Lato Bold"/>
              <a:cs typeface="Lato Bold"/>
              <a:sym typeface="Lato Bold"/>
            </a:endParaRPr>
          </a:p>
        </p:txBody>
      </p:sp>
      <p:sp>
        <p:nvSpPr>
          <p:cNvPr id="22" name="TextBox 22"/>
          <p:cNvSpPr txBox="1"/>
          <p:nvPr/>
        </p:nvSpPr>
        <p:spPr>
          <a:xfrm>
            <a:off x="1000125" y="9257527"/>
            <a:ext cx="3354309" cy="869949"/>
          </a:xfrm>
          <a:prstGeom prst="rect">
            <a:avLst/>
          </a:prstGeom>
        </p:spPr>
        <p:txBody>
          <a:bodyPr wrap="square" lIns="0" tIns="0" rIns="0" bIns="0" rtlCol="0" anchor="t">
            <a:spAutoFit/>
          </a:bodyPr>
          <a:lstStyle/>
          <a:p>
            <a:pPr algn="l">
              <a:lnSpc>
                <a:spcPts val="3500"/>
              </a:lnSpc>
            </a:pPr>
            <a:r>
              <a:rPr lang="en-US" sz="2500" b="1" dirty="0">
                <a:solidFill>
                  <a:srgbClr val="1800AD"/>
                </a:solidFill>
                <a:latin typeface="Canva Sans Bold"/>
                <a:ea typeface="Canva Sans Bold"/>
                <a:cs typeface="Canva Sans Bold"/>
                <a:sym typeface="Canva Sans Bold"/>
              </a:rPr>
              <a:t>SLIIT</a:t>
            </a:r>
          </a:p>
          <a:p>
            <a:pPr algn="ctr">
              <a:lnSpc>
                <a:spcPts val="3500"/>
              </a:lnSpc>
            </a:pPr>
            <a:r>
              <a:rPr lang="en-US" sz="2500" b="1" dirty="0">
                <a:solidFill>
                  <a:srgbClr val="1800AD"/>
                </a:solidFill>
                <a:latin typeface="Canva Sans Bold"/>
                <a:ea typeface="Canva Sans Bold"/>
                <a:cs typeface="Canva Sans Bold"/>
                <a:sym typeface="Canva Sans Bold"/>
              </a:rPr>
              <a:t>Faculty of Computing</a:t>
            </a:r>
          </a:p>
        </p:txBody>
      </p:sp>
      <p:sp>
        <p:nvSpPr>
          <p:cNvPr id="23" name="TextBox 23"/>
          <p:cNvSpPr txBox="1"/>
          <p:nvPr/>
        </p:nvSpPr>
        <p:spPr>
          <a:xfrm>
            <a:off x="5383418" y="9576317"/>
            <a:ext cx="2397323" cy="580390"/>
          </a:xfrm>
          <a:prstGeom prst="rect">
            <a:avLst/>
          </a:prstGeom>
        </p:spPr>
        <p:txBody>
          <a:bodyPr lIns="0" tIns="0" rIns="0" bIns="0" rtlCol="0" anchor="t">
            <a:spAutoFit/>
          </a:bodyPr>
          <a:lstStyle/>
          <a:p>
            <a:pPr algn="ctr">
              <a:lnSpc>
                <a:spcPts val="4759"/>
              </a:lnSpc>
            </a:pPr>
            <a:r>
              <a:rPr lang="en-US" sz="3399" b="1">
                <a:solidFill>
                  <a:srgbClr val="1800AD"/>
                </a:solidFill>
                <a:latin typeface="Canva Sans Bold"/>
                <a:ea typeface="Canva Sans Bold"/>
                <a:cs typeface="Canva Sans Bold"/>
                <a:sym typeface="Canva Sans Bold"/>
              </a:rPr>
              <a:t> R26-IT-132 </a:t>
            </a:r>
          </a:p>
        </p:txBody>
      </p:sp>
      <p:sp>
        <p:nvSpPr>
          <p:cNvPr id="24" name="TextBox 24"/>
          <p:cNvSpPr txBox="1"/>
          <p:nvPr/>
        </p:nvSpPr>
        <p:spPr>
          <a:xfrm>
            <a:off x="9144000" y="5010486"/>
            <a:ext cx="9144000" cy="904240"/>
          </a:xfrm>
          <a:prstGeom prst="rect">
            <a:avLst/>
          </a:prstGeom>
        </p:spPr>
        <p:txBody>
          <a:bodyPr lIns="0" tIns="0" rIns="0" bIns="0" rtlCol="0" anchor="t">
            <a:spAutoFit/>
          </a:bodyPr>
          <a:lstStyle/>
          <a:p>
            <a:pPr algn="l">
              <a:lnSpc>
                <a:spcPts val="6350"/>
              </a:lnSpc>
            </a:pPr>
            <a:r>
              <a:rPr lang="en-US" sz="6350" b="1">
                <a:solidFill>
                  <a:srgbClr val="FEA917"/>
                </a:solidFill>
                <a:latin typeface="Poppins Ultra-Bold"/>
                <a:ea typeface="Poppins Ultra-Bold"/>
                <a:cs typeface="Poppins Ultra-Bold"/>
                <a:sym typeface="Poppins Ultra-Bold"/>
              </a:rPr>
              <a:t>COMPLETION STATUS</a:t>
            </a:r>
          </a:p>
        </p:txBody>
      </p:sp>
      <p:sp>
        <p:nvSpPr>
          <p:cNvPr id="25" name="TextBox 25"/>
          <p:cNvSpPr txBox="1"/>
          <p:nvPr/>
        </p:nvSpPr>
        <p:spPr>
          <a:xfrm>
            <a:off x="8683194" y="5979399"/>
            <a:ext cx="9283240" cy="3391802"/>
          </a:xfrm>
          <a:prstGeom prst="rect">
            <a:avLst/>
          </a:prstGeom>
        </p:spPr>
        <p:txBody>
          <a:bodyPr lIns="0" tIns="0" rIns="0" bIns="0" rtlCol="0" anchor="t">
            <a:spAutoFit/>
          </a:bodyPr>
          <a:lstStyle/>
          <a:p>
            <a:pPr marL="589417" lvl="1" indent="-294709" algn="l">
              <a:lnSpc>
                <a:spcPts val="3822"/>
              </a:lnSpc>
              <a:buFont typeface="Arial"/>
              <a:buChar char="•"/>
            </a:pPr>
            <a:r>
              <a:rPr lang="en-US" sz="2730" b="1">
                <a:solidFill>
                  <a:srgbClr val="000000"/>
                </a:solidFill>
                <a:latin typeface="Lato Bold"/>
                <a:ea typeface="Lato Bold"/>
                <a:cs typeface="Lato Bold"/>
                <a:sym typeface="Lato Bold"/>
              </a:rPr>
              <a:t>Individual prediction components developed</a:t>
            </a:r>
          </a:p>
          <a:p>
            <a:pPr marL="589417" lvl="1" indent="-294709" algn="l">
              <a:lnSpc>
                <a:spcPts val="3822"/>
              </a:lnSpc>
              <a:buFont typeface="Arial"/>
              <a:buChar char="•"/>
            </a:pPr>
            <a:r>
              <a:rPr lang="en-US" sz="2730" b="1">
                <a:solidFill>
                  <a:srgbClr val="000000"/>
                </a:solidFill>
                <a:latin typeface="Lato Bold"/>
                <a:ea typeface="Lato Bold"/>
                <a:cs typeface="Lato Bold"/>
                <a:sym typeface="Lato Bold"/>
              </a:rPr>
              <a:t>Model outputs integrated into the common forecasting framework</a:t>
            </a:r>
          </a:p>
          <a:p>
            <a:pPr marL="589417" lvl="1" indent="-294709" algn="l">
              <a:lnSpc>
                <a:spcPts val="3822"/>
              </a:lnSpc>
              <a:buFont typeface="Arial"/>
              <a:buChar char="•"/>
            </a:pPr>
            <a:r>
              <a:rPr lang="en-US" sz="2730" b="1">
                <a:solidFill>
                  <a:srgbClr val="000000"/>
                </a:solidFill>
                <a:latin typeface="Lato Bold"/>
                <a:ea typeface="Lato Bold"/>
                <a:cs typeface="Lato Bold"/>
                <a:sym typeface="Lato Bold"/>
              </a:rPr>
              <a:t>Forecast verification workflow integrated</a:t>
            </a:r>
          </a:p>
          <a:p>
            <a:pPr marL="589417" lvl="1" indent="-294709" algn="l">
              <a:lnSpc>
                <a:spcPts val="3822"/>
              </a:lnSpc>
              <a:buFont typeface="Arial"/>
              <a:buChar char="•"/>
            </a:pPr>
            <a:r>
              <a:rPr lang="en-US" sz="2730" b="1">
                <a:solidFill>
                  <a:srgbClr val="000000"/>
                </a:solidFill>
                <a:latin typeface="Lato Bold"/>
                <a:ea typeface="Lato Bold"/>
                <a:cs typeface="Lato Bold"/>
                <a:sym typeface="Lato Bold"/>
              </a:rPr>
              <a:t>Overall system testing, validation and performance evaluation ongoing</a:t>
            </a:r>
          </a:p>
          <a:p>
            <a:pPr algn="l">
              <a:lnSpc>
                <a:spcPts val="3822"/>
              </a:lnSpc>
              <a:spcBef>
                <a:spcPct val="0"/>
              </a:spcBef>
            </a:pPr>
            <a:endParaRPr lang="en-US" sz="2730" b="1">
              <a:solidFill>
                <a:srgbClr val="000000"/>
              </a:solidFill>
              <a:latin typeface="Lato Bold"/>
              <a:ea typeface="Lato Bold"/>
              <a:cs typeface="Lato Bold"/>
              <a:sym typeface="Lato 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82368"/>
            <a:ext cx="7154856" cy="8806307"/>
            <a:chOff x="0" y="0"/>
            <a:chExt cx="1337124" cy="1645752"/>
          </a:xfrm>
        </p:grpSpPr>
        <p:sp>
          <p:nvSpPr>
            <p:cNvPr id="3" name="Freeform 3"/>
            <p:cNvSpPr/>
            <p:nvPr/>
          </p:nvSpPr>
          <p:spPr>
            <a:xfrm>
              <a:off x="0" y="0"/>
              <a:ext cx="1337124" cy="1645752"/>
            </a:xfrm>
            <a:custGeom>
              <a:avLst/>
              <a:gdLst/>
              <a:ahLst/>
              <a:cxnLst/>
              <a:rect l="l" t="t" r="r" b="b"/>
              <a:pathLst>
                <a:path w="1337124" h="1645752">
                  <a:moveTo>
                    <a:pt x="81154" y="0"/>
                  </a:moveTo>
                  <a:lnTo>
                    <a:pt x="1255970" y="0"/>
                  </a:lnTo>
                  <a:cubicBezTo>
                    <a:pt x="1277493" y="0"/>
                    <a:pt x="1298135" y="8550"/>
                    <a:pt x="1313354" y="23769"/>
                  </a:cubicBezTo>
                  <a:cubicBezTo>
                    <a:pt x="1328573" y="38989"/>
                    <a:pt x="1337124" y="59630"/>
                    <a:pt x="1337124" y="81154"/>
                  </a:cubicBezTo>
                  <a:lnTo>
                    <a:pt x="1337124" y="1564598"/>
                  </a:lnTo>
                  <a:cubicBezTo>
                    <a:pt x="1337124" y="1586122"/>
                    <a:pt x="1328573" y="1606764"/>
                    <a:pt x="1313354" y="1621983"/>
                  </a:cubicBezTo>
                  <a:cubicBezTo>
                    <a:pt x="1298135" y="1637202"/>
                    <a:pt x="1277493" y="1645752"/>
                    <a:pt x="1255970" y="1645752"/>
                  </a:cubicBezTo>
                  <a:lnTo>
                    <a:pt x="81154" y="1645752"/>
                  </a:lnTo>
                  <a:cubicBezTo>
                    <a:pt x="59630" y="1645752"/>
                    <a:pt x="38989" y="1637202"/>
                    <a:pt x="23769" y="1621983"/>
                  </a:cubicBezTo>
                  <a:cubicBezTo>
                    <a:pt x="8550" y="1606764"/>
                    <a:pt x="0" y="1586122"/>
                    <a:pt x="0" y="1564598"/>
                  </a:cubicBezTo>
                  <a:lnTo>
                    <a:pt x="0" y="81154"/>
                  </a:lnTo>
                  <a:cubicBezTo>
                    <a:pt x="0" y="59630"/>
                    <a:pt x="8550" y="38989"/>
                    <a:pt x="23769" y="23769"/>
                  </a:cubicBezTo>
                  <a:cubicBezTo>
                    <a:pt x="38989" y="8550"/>
                    <a:pt x="59630" y="0"/>
                    <a:pt x="81154" y="0"/>
                  </a:cubicBezTo>
                  <a:close/>
                </a:path>
              </a:pathLst>
            </a:custGeom>
            <a:blipFill>
              <a:blip r:embed="rId2"/>
              <a:stretch>
                <a:fillRect t="-22219" b="-22219"/>
              </a:stretch>
            </a:blipFill>
          </p:spPr>
          <p:txBody>
            <a:bodyPr/>
            <a:lstStyle/>
            <a:p>
              <a:endParaRPr lang="en-US"/>
            </a:p>
          </p:txBody>
        </p:sp>
      </p:grpSp>
      <p:grpSp>
        <p:nvGrpSpPr>
          <p:cNvPr id="4" name="Group 4"/>
          <p:cNvGrpSpPr/>
          <p:nvPr/>
        </p:nvGrpSpPr>
        <p:grpSpPr>
          <a:xfrm>
            <a:off x="15672344" y="9833129"/>
            <a:ext cx="2541464" cy="453871"/>
            <a:chOff x="0" y="0"/>
            <a:chExt cx="3388618" cy="605161"/>
          </a:xfrm>
        </p:grpSpPr>
        <p:sp>
          <p:nvSpPr>
            <p:cNvPr id="5" name="Freeform 5"/>
            <p:cNvSpPr/>
            <p:nvPr/>
          </p:nvSpPr>
          <p:spPr>
            <a:xfrm>
              <a:off x="239010" y="0"/>
              <a:ext cx="312665" cy="404626"/>
            </a:xfrm>
            <a:custGeom>
              <a:avLst/>
              <a:gdLst/>
              <a:ahLst/>
              <a:cxnLst/>
              <a:rect l="l" t="t" r="r" b="b"/>
              <a:pathLst>
                <a:path w="312665" h="404626">
                  <a:moveTo>
                    <a:pt x="0" y="0"/>
                  </a:moveTo>
                  <a:lnTo>
                    <a:pt x="312665" y="0"/>
                  </a:lnTo>
                  <a:lnTo>
                    <a:pt x="312665" y="404626"/>
                  </a:lnTo>
                  <a:lnTo>
                    <a:pt x="0" y="40462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885959" y="42469"/>
              <a:ext cx="533414" cy="195028"/>
            </a:xfrm>
            <a:custGeom>
              <a:avLst/>
              <a:gdLst/>
              <a:ahLst/>
              <a:cxnLst/>
              <a:rect l="l" t="t" r="r" b="b"/>
              <a:pathLst>
                <a:path w="533414" h="195028">
                  <a:moveTo>
                    <a:pt x="0" y="0"/>
                  </a:moveTo>
                  <a:lnTo>
                    <a:pt x="533414" y="0"/>
                  </a:lnTo>
                  <a:lnTo>
                    <a:pt x="533414" y="195027"/>
                  </a:lnTo>
                  <a:lnTo>
                    <a:pt x="0" y="195027"/>
                  </a:lnTo>
                  <a:lnTo>
                    <a:pt x="0" y="0"/>
                  </a:lnTo>
                  <a:close/>
                </a:path>
              </a:pathLst>
            </a:custGeom>
            <a:blipFill>
              <a:blip>
                <a:extLst>
                  <a:ext uri="{96DAC541-7B7A-43D3-8B79-37D633B846F1}">
                    <asvg:svgBlip xmlns:asvg="http://schemas.microsoft.com/office/drawing/2016/SVG/main" r:embed="rId4"/>
                  </a:ext>
                </a:extLst>
              </a:blip>
              <a:stretch>
                <a:fillRect r="-20" b="-65629"/>
              </a:stretch>
            </a:blipFill>
          </p:spPr>
          <p:txBody>
            <a:bodyPr/>
            <a:lstStyle/>
            <a:p>
              <a:endParaRPr lang="en-US"/>
            </a:p>
          </p:txBody>
        </p:sp>
        <p:sp>
          <p:nvSpPr>
            <p:cNvPr id="7" name="Freeform 7"/>
            <p:cNvSpPr/>
            <p:nvPr/>
          </p:nvSpPr>
          <p:spPr>
            <a:xfrm flipV="1">
              <a:off x="960221" y="217748"/>
              <a:ext cx="384890" cy="152341"/>
            </a:xfrm>
            <a:custGeom>
              <a:avLst/>
              <a:gdLst/>
              <a:ahLst/>
              <a:cxnLst/>
              <a:rect l="l" t="t" r="r" b="b"/>
              <a:pathLst>
                <a:path w="384890" h="152341">
                  <a:moveTo>
                    <a:pt x="0" y="152340"/>
                  </a:moveTo>
                  <a:lnTo>
                    <a:pt x="384890" y="152340"/>
                  </a:lnTo>
                  <a:lnTo>
                    <a:pt x="384890" y="0"/>
                  </a:lnTo>
                  <a:lnTo>
                    <a:pt x="0" y="0"/>
                  </a:lnTo>
                  <a:lnTo>
                    <a:pt x="0" y="152340"/>
                  </a:lnTo>
                  <a:close/>
                </a:path>
              </a:pathLst>
            </a:custGeom>
            <a:blipFill>
              <a:blip>
                <a:extLst>
                  <a:ext uri="{96DAC541-7B7A-43D3-8B79-37D633B846F1}">
                    <asvg:svgBlip xmlns:asvg="http://schemas.microsoft.com/office/drawing/2016/SVG/main" r:embed="rId4"/>
                  </a:ext>
                </a:extLst>
              </a:blip>
              <a:stretch>
                <a:fillRect r="-38616" b="-112039"/>
              </a:stretch>
            </a:blipFill>
          </p:spPr>
          <p:txBody>
            <a:bodyPr/>
            <a:lstStyle/>
            <a:p>
              <a:endParaRPr lang="en-US"/>
            </a:p>
          </p:txBody>
        </p:sp>
        <p:sp>
          <p:nvSpPr>
            <p:cNvPr id="8" name="Freeform 8"/>
            <p:cNvSpPr/>
            <p:nvPr/>
          </p:nvSpPr>
          <p:spPr>
            <a:xfrm>
              <a:off x="1923654" y="0"/>
              <a:ext cx="404626" cy="404626"/>
            </a:xfrm>
            <a:custGeom>
              <a:avLst/>
              <a:gdLst/>
              <a:ahLst/>
              <a:cxnLst/>
              <a:rect l="l" t="t" r="r" b="b"/>
              <a:pathLst>
                <a:path w="404626" h="404626">
                  <a:moveTo>
                    <a:pt x="0" y="0"/>
                  </a:moveTo>
                  <a:lnTo>
                    <a:pt x="404626" y="0"/>
                  </a:lnTo>
                  <a:lnTo>
                    <a:pt x="404626" y="404626"/>
                  </a:lnTo>
                  <a:lnTo>
                    <a:pt x="0" y="40462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Freeform 9"/>
            <p:cNvSpPr/>
            <p:nvPr/>
          </p:nvSpPr>
          <p:spPr>
            <a:xfrm>
              <a:off x="2741791" y="67400"/>
              <a:ext cx="463568" cy="269826"/>
            </a:xfrm>
            <a:custGeom>
              <a:avLst/>
              <a:gdLst/>
              <a:ahLst/>
              <a:cxnLst/>
              <a:rect l="l" t="t" r="r" b="b"/>
              <a:pathLst>
                <a:path w="463568" h="269826">
                  <a:moveTo>
                    <a:pt x="0" y="0"/>
                  </a:moveTo>
                  <a:lnTo>
                    <a:pt x="463567" y="0"/>
                  </a:lnTo>
                  <a:lnTo>
                    <a:pt x="463567" y="269826"/>
                  </a:lnTo>
                  <a:lnTo>
                    <a:pt x="0" y="26982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0" name="TextBox 10"/>
            <p:cNvSpPr txBox="1"/>
            <p:nvPr/>
          </p:nvSpPr>
          <p:spPr>
            <a:xfrm>
              <a:off x="0" y="456221"/>
              <a:ext cx="790685" cy="148940"/>
            </a:xfrm>
            <a:prstGeom prst="rect">
              <a:avLst/>
            </a:prstGeom>
          </p:spPr>
          <p:txBody>
            <a:bodyPr lIns="0" tIns="0" rIns="0" bIns="0" rtlCol="0" anchor="t">
              <a:spAutoFit/>
            </a:bodyPr>
            <a:lstStyle/>
            <a:p>
              <a:pPr algn="ctr">
                <a:lnSpc>
                  <a:spcPts val="795"/>
                </a:lnSpc>
              </a:pPr>
              <a:r>
                <a:rPr lang="en-US" sz="795" b="1">
                  <a:solidFill>
                    <a:srgbClr val="000000"/>
                  </a:solidFill>
                  <a:latin typeface="Poppins Semi-Bold"/>
                  <a:ea typeface="Poppins Semi-Bold"/>
                  <a:cs typeface="Poppins Semi-Bold"/>
                  <a:sym typeface="Poppins Semi-Bold"/>
                </a:rPr>
                <a:t>20%</a:t>
              </a:r>
            </a:p>
          </p:txBody>
        </p:sp>
        <p:sp>
          <p:nvSpPr>
            <p:cNvPr id="11" name="TextBox 11"/>
            <p:cNvSpPr txBox="1"/>
            <p:nvPr/>
          </p:nvSpPr>
          <p:spPr>
            <a:xfrm>
              <a:off x="843023" y="456221"/>
              <a:ext cx="790503" cy="148940"/>
            </a:xfrm>
            <a:prstGeom prst="rect">
              <a:avLst/>
            </a:prstGeom>
          </p:spPr>
          <p:txBody>
            <a:bodyPr lIns="0" tIns="0" rIns="0" bIns="0" rtlCol="0" anchor="t">
              <a:spAutoFit/>
            </a:bodyPr>
            <a:lstStyle/>
            <a:p>
              <a:pPr algn="ctr">
                <a:lnSpc>
                  <a:spcPts val="795"/>
                </a:lnSpc>
              </a:pPr>
              <a:r>
                <a:rPr lang="en-US" sz="795" b="1">
                  <a:solidFill>
                    <a:srgbClr val="000000"/>
                  </a:solidFill>
                  <a:latin typeface="Poppins Semi-Bold"/>
                  <a:ea typeface="Poppins Semi-Bold"/>
                  <a:cs typeface="Poppins Semi-Bold"/>
                  <a:sym typeface="Poppins Semi-Bold"/>
                </a:rPr>
                <a:t>15 KM/H</a:t>
              </a:r>
            </a:p>
          </p:txBody>
        </p:sp>
        <p:sp>
          <p:nvSpPr>
            <p:cNvPr id="12" name="TextBox 12"/>
            <p:cNvSpPr txBox="1"/>
            <p:nvPr/>
          </p:nvSpPr>
          <p:spPr>
            <a:xfrm>
              <a:off x="1730716" y="456221"/>
              <a:ext cx="790503" cy="148940"/>
            </a:xfrm>
            <a:prstGeom prst="rect">
              <a:avLst/>
            </a:prstGeom>
          </p:spPr>
          <p:txBody>
            <a:bodyPr lIns="0" tIns="0" rIns="0" bIns="0" rtlCol="0" anchor="t">
              <a:spAutoFit/>
            </a:bodyPr>
            <a:lstStyle/>
            <a:p>
              <a:pPr algn="ctr">
                <a:lnSpc>
                  <a:spcPts val="795"/>
                </a:lnSpc>
              </a:pPr>
              <a:r>
                <a:rPr lang="en-US" sz="795" b="1">
                  <a:solidFill>
                    <a:srgbClr val="000000"/>
                  </a:solidFill>
                  <a:latin typeface="Poppins Semi-Bold"/>
                  <a:ea typeface="Poppins Semi-Bold"/>
                  <a:cs typeface="Poppins Semi-Bold"/>
                  <a:sym typeface="Poppins Semi-Bold"/>
                </a:rPr>
                <a:t>WEST</a:t>
              </a:r>
            </a:p>
          </p:txBody>
        </p:sp>
        <p:sp>
          <p:nvSpPr>
            <p:cNvPr id="13" name="TextBox 13"/>
            <p:cNvSpPr txBox="1"/>
            <p:nvPr/>
          </p:nvSpPr>
          <p:spPr>
            <a:xfrm>
              <a:off x="2598116" y="456221"/>
              <a:ext cx="790503" cy="148940"/>
            </a:xfrm>
            <a:prstGeom prst="rect">
              <a:avLst/>
            </a:prstGeom>
          </p:spPr>
          <p:txBody>
            <a:bodyPr lIns="0" tIns="0" rIns="0" bIns="0" rtlCol="0" anchor="t">
              <a:spAutoFit/>
            </a:bodyPr>
            <a:lstStyle/>
            <a:p>
              <a:pPr algn="ctr">
                <a:lnSpc>
                  <a:spcPts val="795"/>
                </a:lnSpc>
              </a:pPr>
              <a:r>
                <a:rPr lang="en-US" sz="795" b="1">
                  <a:solidFill>
                    <a:srgbClr val="000000"/>
                  </a:solidFill>
                  <a:latin typeface="Poppins Semi-Bold"/>
                  <a:ea typeface="Poppins Semi-Bold"/>
                  <a:cs typeface="Poppins Semi-Bold"/>
                  <a:sym typeface="Poppins Semi-Bold"/>
                </a:rPr>
                <a:t>1023.0 MB</a:t>
              </a:r>
            </a:p>
          </p:txBody>
        </p:sp>
      </p:grpSp>
      <p:sp>
        <p:nvSpPr>
          <p:cNvPr id="14" name="Freeform 14"/>
          <p:cNvSpPr/>
          <p:nvPr/>
        </p:nvSpPr>
        <p:spPr>
          <a:xfrm>
            <a:off x="158703" y="9258300"/>
            <a:ext cx="925554" cy="925554"/>
          </a:xfrm>
          <a:custGeom>
            <a:avLst/>
            <a:gdLst/>
            <a:ahLst/>
            <a:cxnLst/>
            <a:rect l="l" t="t" r="r" b="b"/>
            <a:pathLst>
              <a:path w="925554" h="925554">
                <a:moveTo>
                  <a:pt x="0" y="0"/>
                </a:moveTo>
                <a:lnTo>
                  <a:pt x="925553" y="0"/>
                </a:lnTo>
                <a:lnTo>
                  <a:pt x="925553" y="925554"/>
                </a:lnTo>
                <a:lnTo>
                  <a:pt x="0" y="925554"/>
                </a:lnTo>
                <a:lnTo>
                  <a:pt x="0" y="0"/>
                </a:lnTo>
                <a:close/>
              </a:path>
            </a:pathLst>
          </a:custGeom>
          <a:blipFill>
            <a:blip r:embed="rId7"/>
            <a:stretch>
              <a:fillRect/>
            </a:stretch>
          </a:blipFill>
        </p:spPr>
        <p:txBody>
          <a:bodyPr/>
          <a:lstStyle/>
          <a:p>
            <a:endParaRPr lang="en-US"/>
          </a:p>
        </p:txBody>
      </p:sp>
      <p:sp>
        <p:nvSpPr>
          <p:cNvPr id="15" name="TextBox 15"/>
          <p:cNvSpPr txBox="1"/>
          <p:nvPr/>
        </p:nvSpPr>
        <p:spPr>
          <a:xfrm>
            <a:off x="16332141" y="8825357"/>
            <a:ext cx="1426581" cy="545687"/>
          </a:xfrm>
          <a:prstGeom prst="rect">
            <a:avLst/>
          </a:prstGeom>
        </p:spPr>
        <p:txBody>
          <a:bodyPr lIns="0" tIns="0" rIns="0" bIns="0" rtlCol="0" anchor="t">
            <a:spAutoFit/>
          </a:bodyPr>
          <a:lstStyle/>
          <a:p>
            <a:pPr algn="ctr">
              <a:lnSpc>
                <a:spcPts val="3713"/>
              </a:lnSpc>
            </a:pPr>
            <a:r>
              <a:rPr lang="en-US" sz="3713">
                <a:solidFill>
                  <a:srgbClr val="000000"/>
                </a:solidFill>
                <a:latin typeface="Poppins"/>
                <a:ea typeface="Poppins"/>
                <a:cs typeface="Poppins"/>
                <a:sym typeface="Poppins"/>
              </a:rPr>
              <a:t>30°C</a:t>
            </a:r>
          </a:p>
        </p:txBody>
      </p:sp>
      <p:sp>
        <p:nvSpPr>
          <p:cNvPr id="16" name="TextBox 16"/>
          <p:cNvSpPr txBox="1"/>
          <p:nvPr/>
        </p:nvSpPr>
        <p:spPr>
          <a:xfrm>
            <a:off x="15235590" y="9542651"/>
            <a:ext cx="3619683" cy="128396"/>
          </a:xfrm>
          <a:prstGeom prst="rect">
            <a:avLst/>
          </a:prstGeom>
        </p:spPr>
        <p:txBody>
          <a:bodyPr lIns="0" tIns="0" rIns="0" bIns="0" rtlCol="0" anchor="t">
            <a:spAutoFit/>
          </a:bodyPr>
          <a:lstStyle/>
          <a:p>
            <a:pPr algn="ctr">
              <a:lnSpc>
                <a:spcPts val="909"/>
              </a:lnSpc>
            </a:pPr>
            <a:r>
              <a:rPr lang="en-US" sz="909" spc="454">
                <a:solidFill>
                  <a:srgbClr val="584344"/>
                </a:solidFill>
                <a:latin typeface="Poppins Light"/>
                <a:ea typeface="Poppins Light"/>
                <a:cs typeface="Poppins Light"/>
                <a:sym typeface="Poppins Light"/>
              </a:rPr>
              <a:t>MAX. 31°C - MIN.15°C</a:t>
            </a:r>
          </a:p>
        </p:txBody>
      </p:sp>
      <p:sp>
        <p:nvSpPr>
          <p:cNvPr id="17" name="TextBox 17"/>
          <p:cNvSpPr txBox="1"/>
          <p:nvPr/>
        </p:nvSpPr>
        <p:spPr>
          <a:xfrm>
            <a:off x="7780741" y="228056"/>
            <a:ext cx="10668391" cy="907269"/>
          </a:xfrm>
          <a:prstGeom prst="rect">
            <a:avLst/>
          </a:prstGeom>
        </p:spPr>
        <p:txBody>
          <a:bodyPr lIns="0" tIns="0" rIns="0" bIns="0" rtlCol="0" anchor="t">
            <a:spAutoFit/>
          </a:bodyPr>
          <a:lstStyle/>
          <a:p>
            <a:pPr algn="l">
              <a:lnSpc>
                <a:spcPts val="6347"/>
              </a:lnSpc>
            </a:pPr>
            <a:r>
              <a:rPr lang="en-US" sz="6347" b="1">
                <a:solidFill>
                  <a:srgbClr val="161C58"/>
                </a:solidFill>
                <a:latin typeface="Poppins Ultra-Bold"/>
                <a:ea typeface="Poppins Ultra-Bold"/>
                <a:cs typeface="Poppins Ultra-Bold"/>
                <a:sym typeface="Poppins Ultra-Bold"/>
              </a:rPr>
              <a:t>EVALUATION EVIDENCE</a:t>
            </a:r>
          </a:p>
        </p:txBody>
      </p:sp>
      <p:sp>
        <p:nvSpPr>
          <p:cNvPr id="18" name="TextBox 18"/>
          <p:cNvSpPr txBox="1"/>
          <p:nvPr/>
        </p:nvSpPr>
        <p:spPr>
          <a:xfrm>
            <a:off x="7780741" y="1068649"/>
            <a:ext cx="8673039" cy="3331082"/>
          </a:xfrm>
          <a:prstGeom prst="rect">
            <a:avLst/>
          </a:prstGeom>
        </p:spPr>
        <p:txBody>
          <a:bodyPr lIns="0" tIns="0" rIns="0" bIns="0" rtlCol="0" anchor="t">
            <a:spAutoFit/>
          </a:bodyPr>
          <a:lstStyle/>
          <a:p>
            <a:pPr marL="589417" lvl="1" indent="-294708" algn="l">
              <a:lnSpc>
                <a:spcPts val="3822"/>
              </a:lnSpc>
              <a:buFont typeface="Arial"/>
              <a:buChar char="•"/>
            </a:pPr>
            <a:r>
              <a:rPr lang="en-US" sz="2730" b="1">
                <a:solidFill>
                  <a:srgbClr val="000000"/>
                </a:solidFill>
                <a:latin typeface="Lato Bold"/>
                <a:ea typeface="Lato Bold"/>
                <a:cs typeface="Lato Bold"/>
                <a:sym typeface="Lato Bold"/>
              </a:rPr>
              <a:t>Real VCBI weather data used</a:t>
            </a:r>
          </a:p>
          <a:p>
            <a:pPr marL="589417" lvl="1" indent="-294708" algn="l">
              <a:lnSpc>
                <a:spcPts val="3822"/>
              </a:lnSpc>
              <a:buFont typeface="Arial"/>
              <a:buChar char="•"/>
            </a:pPr>
            <a:r>
              <a:rPr lang="en-US" sz="2730" b="1">
                <a:solidFill>
                  <a:srgbClr val="000000"/>
                </a:solidFill>
                <a:latin typeface="Lato Bold"/>
                <a:ea typeface="Lato Bold"/>
                <a:cs typeface="Lato Bold"/>
                <a:sym typeface="Lato Bold"/>
              </a:rPr>
              <a:t>Forecast compared with METAR/SPECI observations</a:t>
            </a:r>
          </a:p>
          <a:p>
            <a:pPr marL="589417" lvl="1" indent="-294708" algn="l">
              <a:lnSpc>
                <a:spcPts val="3822"/>
              </a:lnSpc>
              <a:buFont typeface="Arial"/>
              <a:buChar char="•"/>
            </a:pPr>
            <a:r>
              <a:rPr lang="en-US" sz="2730" b="1">
                <a:solidFill>
                  <a:srgbClr val="000000"/>
                </a:solidFill>
                <a:latin typeface="Lato Bold"/>
                <a:ea typeface="Lato Bold"/>
                <a:cs typeface="Lato Bold"/>
                <a:sym typeface="Lato Bold"/>
              </a:rPr>
              <a:t>MAE, RMSE &amp; R² used for evaluation</a:t>
            </a:r>
          </a:p>
          <a:p>
            <a:pPr marL="589417" lvl="1" indent="-294708" algn="l">
              <a:lnSpc>
                <a:spcPts val="3822"/>
              </a:lnSpc>
              <a:buFont typeface="Arial"/>
              <a:buChar char="•"/>
            </a:pPr>
            <a:r>
              <a:rPr lang="en-US" sz="2730" b="1">
                <a:solidFill>
                  <a:srgbClr val="000000"/>
                </a:solidFill>
                <a:latin typeface="Lato Bold"/>
                <a:ea typeface="Lato Bold"/>
                <a:cs typeface="Lato Bold"/>
                <a:sym typeface="Lato Bold"/>
              </a:rPr>
              <a:t>Monsoon-specific model performance evaluated</a:t>
            </a:r>
          </a:p>
          <a:p>
            <a:pPr marL="589417" lvl="1" indent="-294708" algn="l">
              <a:lnSpc>
                <a:spcPts val="3822"/>
              </a:lnSpc>
              <a:buFont typeface="Arial"/>
              <a:buChar char="•"/>
            </a:pPr>
            <a:r>
              <a:rPr lang="en-US" sz="2730" b="1">
                <a:solidFill>
                  <a:srgbClr val="000000"/>
                </a:solidFill>
                <a:latin typeface="Lato Bold"/>
                <a:ea typeface="Lato Bold"/>
                <a:cs typeface="Lato Bold"/>
                <a:sym typeface="Lato Bold"/>
              </a:rPr>
              <a:t>Forecast errors used for reliability assessment</a:t>
            </a:r>
          </a:p>
          <a:p>
            <a:pPr algn="l">
              <a:lnSpc>
                <a:spcPts val="3822"/>
              </a:lnSpc>
              <a:spcBef>
                <a:spcPct val="0"/>
              </a:spcBef>
            </a:pPr>
            <a:endParaRPr lang="en-US" sz="2730" b="1">
              <a:solidFill>
                <a:srgbClr val="000000"/>
              </a:solidFill>
              <a:latin typeface="Lato Bold"/>
              <a:ea typeface="Lato Bold"/>
              <a:cs typeface="Lato Bold"/>
              <a:sym typeface="Lato Bold"/>
            </a:endParaRPr>
          </a:p>
        </p:txBody>
      </p:sp>
      <p:sp>
        <p:nvSpPr>
          <p:cNvPr id="19" name="TextBox 19"/>
          <p:cNvSpPr txBox="1"/>
          <p:nvPr/>
        </p:nvSpPr>
        <p:spPr>
          <a:xfrm>
            <a:off x="1036996" y="9305346"/>
            <a:ext cx="3354309" cy="869949"/>
          </a:xfrm>
          <a:prstGeom prst="rect">
            <a:avLst/>
          </a:prstGeom>
        </p:spPr>
        <p:txBody>
          <a:bodyPr wrap="square" lIns="0" tIns="0" rIns="0" bIns="0" rtlCol="0" anchor="t">
            <a:spAutoFit/>
          </a:bodyPr>
          <a:lstStyle/>
          <a:p>
            <a:pPr algn="l">
              <a:lnSpc>
                <a:spcPts val="3500"/>
              </a:lnSpc>
            </a:pPr>
            <a:r>
              <a:rPr lang="en-US" sz="2500" b="1" dirty="0">
                <a:solidFill>
                  <a:srgbClr val="1800AD"/>
                </a:solidFill>
                <a:latin typeface="Canva Sans Bold"/>
                <a:ea typeface="Canva Sans Bold"/>
                <a:cs typeface="Canva Sans Bold"/>
                <a:sym typeface="Canva Sans Bold"/>
              </a:rPr>
              <a:t>SLIIT</a:t>
            </a:r>
          </a:p>
          <a:p>
            <a:pPr algn="ctr">
              <a:lnSpc>
                <a:spcPts val="3500"/>
              </a:lnSpc>
            </a:pPr>
            <a:r>
              <a:rPr lang="en-US" sz="2500" b="1" dirty="0">
                <a:solidFill>
                  <a:srgbClr val="1800AD"/>
                </a:solidFill>
                <a:latin typeface="Canva Sans Bold"/>
                <a:ea typeface="Canva Sans Bold"/>
                <a:cs typeface="Canva Sans Bold"/>
                <a:sym typeface="Canva Sans Bold"/>
              </a:rPr>
              <a:t>Faculty of Computing</a:t>
            </a:r>
          </a:p>
        </p:txBody>
      </p:sp>
      <p:sp>
        <p:nvSpPr>
          <p:cNvPr id="20" name="TextBox 20"/>
          <p:cNvSpPr txBox="1"/>
          <p:nvPr/>
        </p:nvSpPr>
        <p:spPr>
          <a:xfrm>
            <a:off x="5383418" y="9576317"/>
            <a:ext cx="2397323" cy="580390"/>
          </a:xfrm>
          <a:prstGeom prst="rect">
            <a:avLst/>
          </a:prstGeom>
        </p:spPr>
        <p:txBody>
          <a:bodyPr lIns="0" tIns="0" rIns="0" bIns="0" rtlCol="0" anchor="t">
            <a:spAutoFit/>
          </a:bodyPr>
          <a:lstStyle/>
          <a:p>
            <a:pPr algn="ctr">
              <a:lnSpc>
                <a:spcPts val="4759"/>
              </a:lnSpc>
            </a:pPr>
            <a:r>
              <a:rPr lang="en-US" sz="3399" b="1">
                <a:solidFill>
                  <a:srgbClr val="1800AD"/>
                </a:solidFill>
                <a:latin typeface="Canva Sans Bold"/>
                <a:ea typeface="Canva Sans Bold"/>
                <a:cs typeface="Canva Sans Bold"/>
                <a:sym typeface="Canva Sans Bold"/>
              </a:rPr>
              <a:t> R26-IT-132 </a:t>
            </a:r>
          </a:p>
        </p:txBody>
      </p:sp>
      <p:sp>
        <p:nvSpPr>
          <p:cNvPr id="21" name="TextBox 21"/>
          <p:cNvSpPr txBox="1"/>
          <p:nvPr/>
        </p:nvSpPr>
        <p:spPr>
          <a:xfrm>
            <a:off x="7780741" y="4447356"/>
            <a:ext cx="10231773" cy="1356996"/>
          </a:xfrm>
          <a:prstGeom prst="rect">
            <a:avLst/>
          </a:prstGeom>
        </p:spPr>
        <p:txBody>
          <a:bodyPr lIns="0" tIns="0" rIns="0" bIns="0" rtlCol="0" anchor="t">
            <a:spAutoFit/>
          </a:bodyPr>
          <a:lstStyle/>
          <a:p>
            <a:pPr algn="l">
              <a:lnSpc>
                <a:spcPts val="5050"/>
              </a:lnSpc>
            </a:pPr>
            <a:r>
              <a:rPr lang="en-US" sz="5050" b="1">
                <a:solidFill>
                  <a:srgbClr val="FEA917"/>
                </a:solidFill>
                <a:latin typeface="Poppins Ultra-Bold"/>
                <a:ea typeface="Poppins Ultra-Bold"/>
                <a:cs typeface="Poppins Ultra-Bold"/>
                <a:sym typeface="Poppins Ultra-Bold"/>
              </a:rPr>
              <a:t>NON-FUNCTIONAL REQUIREMENTS</a:t>
            </a:r>
          </a:p>
        </p:txBody>
      </p:sp>
      <p:sp>
        <p:nvSpPr>
          <p:cNvPr id="22" name="TextBox 22"/>
          <p:cNvSpPr txBox="1"/>
          <p:nvPr/>
        </p:nvSpPr>
        <p:spPr>
          <a:xfrm>
            <a:off x="7780741" y="6060713"/>
            <a:ext cx="8777848" cy="3572414"/>
          </a:xfrm>
          <a:prstGeom prst="rect">
            <a:avLst/>
          </a:prstGeom>
        </p:spPr>
        <p:txBody>
          <a:bodyPr lIns="0" tIns="0" rIns="0" bIns="0" rtlCol="0" anchor="t">
            <a:spAutoFit/>
          </a:bodyPr>
          <a:lstStyle/>
          <a:p>
            <a:pPr marL="543813" lvl="1" indent="-271907" algn="l">
              <a:lnSpc>
                <a:spcPts val="3526"/>
              </a:lnSpc>
              <a:buFont typeface="Arial"/>
              <a:buChar char="•"/>
            </a:pPr>
            <a:r>
              <a:rPr lang="en-US" sz="2518" b="1">
                <a:solidFill>
                  <a:srgbClr val="000000"/>
                </a:solidFill>
                <a:latin typeface="Lato Bold"/>
                <a:ea typeface="Lato Bold"/>
                <a:cs typeface="Lato Bold"/>
                <a:sym typeface="Lato Bold"/>
              </a:rPr>
              <a:t>Accuracy – reliable T+3 forecasts</a:t>
            </a:r>
          </a:p>
          <a:p>
            <a:pPr marL="543813" lvl="1" indent="-271907" algn="l">
              <a:lnSpc>
                <a:spcPts val="3526"/>
              </a:lnSpc>
              <a:buFont typeface="Arial"/>
              <a:buChar char="•"/>
            </a:pPr>
            <a:r>
              <a:rPr lang="en-US" sz="2518" b="1">
                <a:solidFill>
                  <a:srgbClr val="000000"/>
                </a:solidFill>
                <a:latin typeface="Lato Bold"/>
                <a:ea typeface="Lato Bold"/>
                <a:cs typeface="Lato Bold"/>
                <a:sym typeface="Lato Bold"/>
              </a:rPr>
              <a:t>Performance – fast forecast generation</a:t>
            </a:r>
          </a:p>
          <a:p>
            <a:pPr marL="543813" lvl="1" indent="-271907" algn="l">
              <a:lnSpc>
                <a:spcPts val="3526"/>
              </a:lnSpc>
              <a:buFont typeface="Arial"/>
              <a:buChar char="•"/>
            </a:pPr>
            <a:r>
              <a:rPr lang="en-US" sz="2518" b="1">
                <a:solidFill>
                  <a:srgbClr val="000000"/>
                </a:solidFill>
                <a:latin typeface="Lato Bold"/>
                <a:ea typeface="Lato Bold"/>
                <a:cs typeface="Lato Bold"/>
                <a:sym typeface="Lato Bold"/>
              </a:rPr>
              <a:t>Reliability – consistent forecast &amp; verification</a:t>
            </a:r>
          </a:p>
          <a:p>
            <a:pPr marL="543813" lvl="1" indent="-271907" algn="l">
              <a:lnSpc>
                <a:spcPts val="3526"/>
              </a:lnSpc>
              <a:buFont typeface="Arial"/>
              <a:buChar char="•"/>
            </a:pPr>
            <a:r>
              <a:rPr lang="en-US" sz="2518" b="1">
                <a:solidFill>
                  <a:srgbClr val="000000"/>
                </a:solidFill>
                <a:latin typeface="Lato Bold"/>
                <a:ea typeface="Lato Bold"/>
                <a:cs typeface="Lato Bold"/>
                <a:sym typeface="Lato Bold"/>
              </a:rPr>
              <a:t>Usability – clear Pilot Weather Guidance</a:t>
            </a:r>
          </a:p>
          <a:p>
            <a:pPr marL="543813" lvl="1" indent="-271907" algn="l">
              <a:lnSpc>
                <a:spcPts val="3526"/>
              </a:lnSpc>
              <a:buFont typeface="Arial"/>
              <a:buChar char="•"/>
            </a:pPr>
            <a:r>
              <a:rPr lang="en-US" sz="2518" b="1">
                <a:solidFill>
                  <a:srgbClr val="000000"/>
                </a:solidFill>
                <a:latin typeface="Lato Bold"/>
                <a:ea typeface="Lato Bold"/>
                <a:cs typeface="Lato Bold"/>
                <a:sym typeface="Lato Bold"/>
              </a:rPr>
              <a:t>Scalability – support future VCBI data</a:t>
            </a:r>
          </a:p>
          <a:p>
            <a:pPr marL="543813" lvl="1" indent="-271907" algn="l">
              <a:lnSpc>
                <a:spcPts val="3526"/>
              </a:lnSpc>
              <a:buFont typeface="Arial"/>
              <a:buChar char="•"/>
            </a:pPr>
            <a:r>
              <a:rPr lang="en-US" sz="2518" b="1">
                <a:solidFill>
                  <a:srgbClr val="000000"/>
                </a:solidFill>
                <a:latin typeface="Lato Bold"/>
                <a:ea typeface="Lato Bold"/>
                <a:cs typeface="Lato Bold"/>
                <a:sym typeface="Lato Bold"/>
              </a:rPr>
              <a:t>Maintainability – continuous model retraining</a:t>
            </a:r>
          </a:p>
          <a:p>
            <a:pPr marL="543813" lvl="1" indent="-271907" algn="l">
              <a:lnSpc>
                <a:spcPts val="3526"/>
              </a:lnSpc>
              <a:buFont typeface="Arial"/>
              <a:buChar char="•"/>
            </a:pPr>
            <a:r>
              <a:rPr lang="en-US" sz="2518" b="1">
                <a:solidFill>
                  <a:srgbClr val="000000"/>
                </a:solidFill>
                <a:latin typeface="Lato Bold"/>
                <a:ea typeface="Lato Bold"/>
                <a:cs typeface="Lato Bold"/>
                <a:sym typeface="Lato Bold"/>
              </a:rPr>
              <a:t>Security – protect stored forecast records</a:t>
            </a:r>
          </a:p>
          <a:p>
            <a:pPr algn="l">
              <a:lnSpc>
                <a:spcPts val="3526"/>
              </a:lnSpc>
              <a:spcBef>
                <a:spcPct val="0"/>
              </a:spcBef>
            </a:pPr>
            <a:endParaRPr lang="en-US" sz="2518" b="1">
              <a:solidFill>
                <a:srgbClr val="000000"/>
              </a:solidFill>
              <a:latin typeface="Lato Bold"/>
              <a:ea typeface="Lato Bold"/>
              <a:cs typeface="Lato Bold"/>
              <a:sym typeface="Lato 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920820" y="510222"/>
            <a:ext cx="15837902" cy="2555947"/>
          </a:xfrm>
          <a:prstGeom prst="rect">
            <a:avLst/>
          </a:prstGeom>
        </p:spPr>
        <p:txBody>
          <a:bodyPr lIns="0" tIns="0" rIns="0" bIns="0" rtlCol="0" anchor="t">
            <a:spAutoFit/>
          </a:bodyPr>
          <a:lstStyle/>
          <a:p>
            <a:pPr algn="l">
              <a:lnSpc>
                <a:spcPts val="9523"/>
              </a:lnSpc>
            </a:pPr>
            <a:r>
              <a:rPr lang="en-US" sz="9523" b="1">
                <a:solidFill>
                  <a:srgbClr val="161C58"/>
                </a:solidFill>
                <a:latin typeface="Poppins Bold"/>
                <a:ea typeface="Poppins Bold"/>
                <a:cs typeface="Poppins Bold"/>
                <a:sym typeface="Poppins Bold"/>
              </a:rPr>
              <a:t>COMMERCIALIZATION &amp; </a:t>
            </a:r>
            <a:r>
              <a:rPr lang="en-US" sz="9523" b="1">
                <a:solidFill>
                  <a:srgbClr val="FEA917"/>
                </a:solidFill>
                <a:latin typeface="Poppins Bold"/>
                <a:ea typeface="Poppins Bold"/>
                <a:cs typeface="Poppins Bold"/>
                <a:sym typeface="Poppins Bold"/>
              </a:rPr>
              <a:t>DEPLOYMENT POTENTIAL</a:t>
            </a:r>
          </a:p>
        </p:txBody>
      </p:sp>
      <p:sp>
        <p:nvSpPr>
          <p:cNvPr id="3" name="TextBox 3"/>
          <p:cNvSpPr txBox="1"/>
          <p:nvPr/>
        </p:nvSpPr>
        <p:spPr>
          <a:xfrm>
            <a:off x="1346164" y="3616068"/>
            <a:ext cx="15595673" cy="4565980"/>
          </a:xfrm>
          <a:prstGeom prst="rect">
            <a:avLst/>
          </a:prstGeom>
        </p:spPr>
        <p:txBody>
          <a:bodyPr lIns="0" tIns="0" rIns="0" bIns="0" rtlCol="0" anchor="t">
            <a:spAutoFit/>
          </a:bodyPr>
          <a:lstStyle/>
          <a:p>
            <a:pPr marL="698868" lvl="1" indent="-349434" algn="l">
              <a:lnSpc>
                <a:spcPts val="4531"/>
              </a:lnSpc>
              <a:buFont typeface="Arial"/>
              <a:buChar char="•"/>
            </a:pPr>
            <a:r>
              <a:rPr lang="en-US" sz="3236" b="1" dirty="0">
                <a:solidFill>
                  <a:srgbClr val="000000"/>
                </a:solidFill>
                <a:latin typeface="Lato Bold"/>
                <a:ea typeface="Lato Bold"/>
                <a:cs typeface="Lato Bold"/>
                <a:sym typeface="Lato Bold"/>
              </a:rPr>
              <a:t>Internal Airport Use – Localized weather monitoring and forecasting for airport operations.</a:t>
            </a:r>
          </a:p>
          <a:p>
            <a:pPr marL="698868" lvl="1" indent="-349434" algn="l">
              <a:lnSpc>
                <a:spcPts val="4531"/>
              </a:lnSpc>
              <a:buFont typeface="Arial"/>
              <a:buChar char="•"/>
            </a:pPr>
            <a:r>
              <a:rPr lang="en-US" sz="3236" b="1" dirty="0">
                <a:solidFill>
                  <a:srgbClr val="000000"/>
                </a:solidFill>
                <a:latin typeface="Lato Bold"/>
                <a:ea typeface="Lato Bold"/>
                <a:cs typeface="Lato Bold"/>
                <a:sym typeface="Lato Bold"/>
              </a:rPr>
              <a:t>Airline Operations – Support for flight planning and operational decision-making.</a:t>
            </a:r>
          </a:p>
          <a:p>
            <a:pPr marL="698868" lvl="1" indent="-349434" algn="l">
              <a:lnSpc>
                <a:spcPts val="4531"/>
              </a:lnSpc>
              <a:buFont typeface="Arial"/>
              <a:buChar char="•"/>
            </a:pPr>
            <a:r>
              <a:rPr lang="en-US" sz="3236" b="1" dirty="0">
                <a:solidFill>
                  <a:srgbClr val="000000"/>
                </a:solidFill>
                <a:latin typeface="Lato Bold"/>
                <a:ea typeface="Lato Bold"/>
                <a:cs typeface="Lato Bold"/>
                <a:sym typeface="Lato Bold"/>
              </a:rPr>
              <a:t>Operational Decision Support – Help pilots, dispatchers, and airport staff make weather-related decisions.</a:t>
            </a:r>
          </a:p>
          <a:p>
            <a:pPr marL="698868" lvl="1" indent="-349434" algn="l">
              <a:lnSpc>
                <a:spcPts val="4531"/>
              </a:lnSpc>
              <a:buFont typeface="Arial"/>
              <a:buChar char="•"/>
            </a:pPr>
            <a:r>
              <a:rPr lang="en-US" sz="3236" b="1" dirty="0">
                <a:solidFill>
                  <a:srgbClr val="000000"/>
                </a:solidFill>
                <a:latin typeface="Lato Bold"/>
                <a:ea typeface="Lato Bold"/>
                <a:cs typeface="Lato Bold"/>
                <a:sym typeface="Lato Bold"/>
              </a:rPr>
              <a:t>Future Deployment – Potential integration with the Department of Meteorology, subject to validation and approval.</a:t>
            </a:r>
          </a:p>
          <a:p>
            <a:pPr algn="l">
              <a:lnSpc>
                <a:spcPts val="4531"/>
              </a:lnSpc>
              <a:spcBef>
                <a:spcPct val="0"/>
              </a:spcBef>
            </a:pPr>
            <a:endParaRPr lang="en-US" sz="3236" b="1" dirty="0">
              <a:solidFill>
                <a:srgbClr val="000000"/>
              </a:solidFill>
              <a:latin typeface="Lato Bold"/>
              <a:ea typeface="Lato Bold"/>
              <a:cs typeface="Lato Bold"/>
              <a:sym typeface="Lato Bold"/>
            </a:endParaRPr>
          </a:p>
        </p:txBody>
      </p:sp>
      <p:grpSp>
        <p:nvGrpSpPr>
          <p:cNvPr id="4" name="Group 4"/>
          <p:cNvGrpSpPr/>
          <p:nvPr/>
        </p:nvGrpSpPr>
        <p:grpSpPr>
          <a:xfrm>
            <a:off x="15672344" y="9833129"/>
            <a:ext cx="2541464" cy="453871"/>
            <a:chOff x="0" y="0"/>
            <a:chExt cx="3388618" cy="605161"/>
          </a:xfrm>
        </p:grpSpPr>
        <p:sp>
          <p:nvSpPr>
            <p:cNvPr id="5" name="Freeform 5"/>
            <p:cNvSpPr/>
            <p:nvPr/>
          </p:nvSpPr>
          <p:spPr>
            <a:xfrm>
              <a:off x="239010" y="0"/>
              <a:ext cx="312665" cy="404626"/>
            </a:xfrm>
            <a:custGeom>
              <a:avLst/>
              <a:gdLst/>
              <a:ahLst/>
              <a:cxnLst/>
              <a:rect l="l" t="t" r="r" b="b"/>
              <a:pathLst>
                <a:path w="312665" h="404626">
                  <a:moveTo>
                    <a:pt x="0" y="0"/>
                  </a:moveTo>
                  <a:lnTo>
                    <a:pt x="312665" y="0"/>
                  </a:lnTo>
                  <a:lnTo>
                    <a:pt x="312665" y="404626"/>
                  </a:lnTo>
                  <a:lnTo>
                    <a:pt x="0" y="40462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Freeform 6"/>
            <p:cNvSpPr/>
            <p:nvPr/>
          </p:nvSpPr>
          <p:spPr>
            <a:xfrm>
              <a:off x="885959" y="42469"/>
              <a:ext cx="533414" cy="195028"/>
            </a:xfrm>
            <a:custGeom>
              <a:avLst/>
              <a:gdLst/>
              <a:ahLst/>
              <a:cxnLst/>
              <a:rect l="l" t="t" r="r" b="b"/>
              <a:pathLst>
                <a:path w="533414" h="195028">
                  <a:moveTo>
                    <a:pt x="0" y="0"/>
                  </a:moveTo>
                  <a:lnTo>
                    <a:pt x="533414" y="0"/>
                  </a:lnTo>
                  <a:lnTo>
                    <a:pt x="533414" y="195027"/>
                  </a:lnTo>
                  <a:lnTo>
                    <a:pt x="0" y="195027"/>
                  </a:lnTo>
                  <a:lnTo>
                    <a:pt x="0" y="0"/>
                  </a:lnTo>
                  <a:close/>
                </a:path>
              </a:pathLst>
            </a:custGeom>
            <a:blipFill>
              <a:blip>
                <a:extLst>
                  <a:ext uri="{96DAC541-7B7A-43D3-8B79-37D633B846F1}">
                    <asvg:svgBlip xmlns:asvg="http://schemas.microsoft.com/office/drawing/2016/SVG/main" r:embed="rId3"/>
                  </a:ext>
                </a:extLst>
              </a:blip>
              <a:stretch>
                <a:fillRect r="-20" b="-65629"/>
              </a:stretch>
            </a:blipFill>
          </p:spPr>
          <p:txBody>
            <a:bodyPr/>
            <a:lstStyle/>
            <a:p>
              <a:endParaRPr lang="en-US"/>
            </a:p>
          </p:txBody>
        </p:sp>
        <p:sp>
          <p:nvSpPr>
            <p:cNvPr id="7" name="Freeform 7"/>
            <p:cNvSpPr/>
            <p:nvPr/>
          </p:nvSpPr>
          <p:spPr>
            <a:xfrm flipV="1">
              <a:off x="960221" y="217748"/>
              <a:ext cx="384890" cy="152341"/>
            </a:xfrm>
            <a:custGeom>
              <a:avLst/>
              <a:gdLst/>
              <a:ahLst/>
              <a:cxnLst/>
              <a:rect l="l" t="t" r="r" b="b"/>
              <a:pathLst>
                <a:path w="384890" h="152341">
                  <a:moveTo>
                    <a:pt x="0" y="152340"/>
                  </a:moveTo>
                  <a:lnTo>
                    <a:pt x="384890" y="152340"/>
                  </a:lnTo>
                  <a:lnTo>
                    <a:pt x="384890" y="0"/>
                  </a:lnTo>
                  <a:lnTo>
                    <a:pt x="0" y="0"/>
                  </a:lnTo>
                  <a:lnTo>
                    <a:pt x="0" y="152340"/>
                  </a:lnTo>
                  <a:close/>
                </a:path>
              </a:pathLst>
            </a:custGeom>
            <a:blipFill>
              <a:blip>
                <a:extLst>
                  <a:ext uri="{96DAC541-7B7A-43D3-8B79-37D633B846F1}">
                    <asvg:svgBlip xmlns:asvg="http://schemas.microsoft.com/office/drawing/2016/SVG/main" r:embed="rId3"/>
                  </a:ext>
                </a:extLst>
              </a:blip>
              <a:stretch>
                <a:fillRect r="-38616" b="-112039"/>
              </a:stretch>
            </a:blipFill>
          </p:spPr>
          <p:txBody>
            <a:bodyPr/>
            <a:lstStyle/>
            <a:p>
              <a:endParaRPr lang="en-US"/>
            </a:p>
          </p:txBody>
        </p:sp>
        <p:sp>
          <p:nvSpPr>
            <p:cNvPr id="8" name="Freeform 8"/>
            <p:cNvSpPr/>
            <p:nvPr/>
          </p:nvSpPr>
          <p:spPr>
            <a:xfrm>
              <a:off x="1923654" y="0"/>
              <a:ext cx="404626" cy="404626"/>
            </a:xfrm>
            <a:custGeom>
              <a:avLst/>
              <a:gdLst/>
              <a:ahLst/>
              <a:cxnLst/>
              <a:rect l="l" t="t" r="r" b="b"/>
              <a:pathLst>
                <a:path w="404626" h="404626">
                  <a:moveTo>
                    <a:pt x="0" y="0"/>
                  </a:moveTo>
                  <a:lnTo>
                    <a:pt x="404626" y="0"/>
                  </a:lnTo>
                  <a:lnTo>
                    <a:pt x="404626" y="404626"/>
                  </a:lnTo>
                  <a:lnTo>
                    <a:pt x="0" y="40462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a:off x="2741791" y="67400"/>
              <a:ext cx="463568" cy="269826"/>
            </a:xfrm>
            <a:custGeom>
              <a:avLst/>
              <a:gdLst/>
              <a:ahLst/>
              <a:cxnLst/>
              <a:rect l="l" t="t" r="r" b="b"/>
              <a:pathLst>
                <a:path w="463568" h="269826">
                  <a:moveTo>
                    <a:pt x="0" y="0"/>
                  </a:moveTo>
                  <a:lnTo>
                    <a:pt x="463567" y="0"/>
                  </a:lnTo>
                  <a:lnTo>
                    <a:pt x="463567" y="269826"/>
                  </a:lnTo>
                  <a:lnTo>
                    <a:pt x="0" y="26982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TextBox 10"/>
            <p:cNvSpPr txBox="1"/>
            <p:nvPr/>
          </p:nvSpPr>
          <p:spPr>
            <a:xfrm>
              <a:off x="0" y="456221"/>
              <a:ext cx="790685" cy="148940"/>
            </a:xfrm>
            <a:prstGeom prst="rect">
              <a:avLst/>
            </a:prstGeom>
          </p:spPr>
          <p:txBody>
            <a:bodyPr lIns="0" tIns="0" rIns="0" bIns="0" rtlCol="0" anchor="t">
              <a:spAutoFit/>
            </a:bodyPr>
            <a:lstStyle/>
            <a:p>
              <a:pPr algn="ctr">
                <a:lnSpc>
                  <a:spcPts val="795"/>
                </a:lnSpc>
              </a:pPr>
              <a:r>
                <a:rPr lang="en-US" sz="795" b="1">
                  <a:solidFill>
                    <a:srgbClr val="000000"/>
                  </a:solidFill>
                  <a:latin typeface="Poppins Semi-Bold"/>
                  <a:ea typeface="Poppins Semi-Bold"/>
                  <a:cs typeface="Poppins Semi-Bold"/>
                  <a:sym typeface="Poppins Semi-Bold"/>
                </a:rPr>
                <a:t>20%</a:t>
              </a:r>
            </a:p>
          </p:txBody>
        </p:sp>
        <p:sp>
          <p:nvSpPr>
            <p:cNvPr id="11" name="TextBox 11"/>
            <p:cNvSpPr txBox="1"/>
            <p:nvPr/>
          </p:nvSpPr>
          <p:spPr>
            <a:xfrm>
              <a:off x="843023" y="456221"/>
              <a:ext cx="790503" cy="148940"/>
            </a:xfrm>
            <a:prstGeom prst="rect">
              <a:avLst/>
            </a:prstGeom>
          </p:spPr>
          <p:txBody>
            <a:bodyPr lIns="0" tIns="0" rIns="0" bIns="0" rtlCol="0" anchor="t">
              <a:spAutoFit/>
            </a:bodyPr>
            <a:lstStyle/>
            <a:p>
              <a:pPr algn="ctr">
                <a:lnSpc>
                  <a:spcPts val="795"/>
                </a:lnSpc>
              </a:pPr>
              <a:r>
                <a:rPr lang="en-US" sz="795" b="1">
                  <a:solidFill>
                    <a:srgbClr val="000000"/>
                  </a:solidFill>
                  <a:latin typeface="Poppins Semi-Bold"/>
                  <a:ea typeface="Poppins Semi-Bold"/>
                  <a:cs typeface="Poppins Semi-Bold"/>
                  <a:sym typeface="Poppins Semi-Bold"/>
                </a:rPr>
                <a:t>15 KM/H</a:t>
              </a:r>
            </a:p>
          </p:txBody>
        </p:sp>
        <p:sp>
          <p:nvSpPr>
            <p:cNvPr id="12" name="TextBox 12"/>
            <p:cNvSpPr txBox="1"/>
            <p:nvPr/>
          </p:nvSpPr>
          <p:spPr>
            <a:xfrm>
              <a:off x="1730716" y="456221"/>
              <a:ext cx="790503" cy="148940"/>
            </a:xfrm>
            <a:prstGeom prst="rect">
              <a:avLst/>
            </a:prstGeom>
          </p:spPr>
          <p:txBody>
            <a:bodyPr lIns="0" tIns="0" rIns="0" bIns="0" rtlCol="0" anchor="t">
              <a:spAutoFit/>
            </a:bodyPr>
            <a:lstStyle/>
            <a:p>
              <a:pPr algn="ctr">
                <a:lnSpc>
                  <a:spcPts val="795"/>
                </a:lnSpc>
              </a:pPr>
              <a:r>
                <a:rPr lang="en-US" sz="795" b="1">
                  <a:solidFill>
                    <a:srgbClr val="000000"/>
                  </a:solidFill>
                  <a:latin typeface="Poppins Semi-Bold"/>
                  <a:ea typeface="Poppins Semi-Bold"/>
                  <a:cs typeface="Poppins Semi-Bold"/>
                  <a:sym typeface="Poppins Semi-Bold"/>
                </a:rPr>
                <a:t>WEST</a:t>
              </a:r>
            </a:p>
          </p:txBody>
        </p:sp>
        <p:sp>
          <p:nvSpPr>
            <p:cNvPr id="13" name="TextBox 13"/>
            <p:cNvSpPr txBox="1"/>
            <p:nvPr/>
          </p:nvSpPr>
          <p:spPr>
            <a:xfrm>
              <a:off x="2598116" y="456221"/>
              <a:ext cx="790503" cy="148940"/>
            </a:xfrm>
            <a:prstGeom prst="rect">
              <a:avLst/>
            </a:prstGeom>
          </p:spPr>
          <p:txBody>
            <a:bodyPr lIns="0" tIns="0" rIns="0" bIns="0" rtlCol="0" anchor="t">
              <a:spAutoFit/>
            </a:bodyPr>
            <a:lstStyle/>
            <a:p>
              <a:pPr algn="ctr">
                <a:lnSpc>
                  <a:spcPts val="795"/>
                </a:lnSpc>
              </a:pPr>
              <a:r>
                <a:rPr lang="en-US" sz="795" b="1">
                  <a:solidFill>
                    <a:srgbClr val="000000"/>
                  </a:solidFill>
                  <a:latin typeface="Poppins Semi-Bold"/>
                  <a:ea typeface="Poppins Semi-Bold"/>
                  <a:cs typeface="Poppins Semi-Bold"/>
                  <a:sym typeface="Poppins Semi-Bold"/>
                </a:rPr>
                <a:t>1023.0 MB</a:t>
              </a:r>
            </a:p>
          </p:txBody>
        </p:sp>
      </p:grpSp>
      <p:sp>
        <p:nvSpPr>
          <p:cNvPr id="14" name="Freeform 14"/>
          <p:cNvSpPr/>
          <p:nvPr/>
        </p:nvSpPr>
        <p:spPr>
          <a:xfrm>
            <a:off x="158703" y="9258300"/>
            <a:ext cx="925554" cy="925554"/>
          </a:xfrm>
          <a:custGeom>
            <a:avLst/>
            <a:gdLst/>
            <a:ahLst/>
            <a:cxnLst/>
            <a:rect l="l" t="t" r="r" b="b"/>
            <a:pathLst>
              <a:path w="925554" h="925554">
                <a:moveTo>
                  <a:pt x="0" y="0"/>
                </a:moveTo>
                <a:lnTo>
                  <a:pt x="925553" y="0"/>
                </a:lnTo>
                <a:lnTo>
                  <a:pt x="925553" y="925554"/>
                </a:lnTo>
                <a:lnTo>
                  <a:pt x="0" y="925554"/>
                </a:lnTo>
                <a:lnTo>
                  <a:pt x="0" y="0"/>
                </a:lnTo>
                <a:close/>
              </a:path>
            </a:pathLst>
          </a:custGeom>
          <a:blipFill>
            <a:blip r:embed="rId6"/>
            <a:stretch>
              <a:fillRect/>
            </a:stretch>
          </a:blipFill>
        </p:spPr>
        <p:txBody>
          <a:bodyPr/>
          <a:lstStyle/>
          <a:p>
            <a:endParaRPr lang="en-US" dirty="0"/>
          </a:p>
        </p:txBody>
      </p:sp>
      <p:sp>
        <p:nvSpPr>
          <p:cNvPr id="15" name="TextBox 15"/>
          <p:cNvSpPr txBox="1"/>
          <p:nvPr/>
        </p:nvSpPr>
        <p:spPr>
          <a:xfrm>
            <a:off x="16332141" y="8827197"/>
            <a:ext cx="1426581" cy="542008"/>
          </a:xfrm>
          <a:prstGeom prst="rect">
            <a:avLst/>
          </a:prstGeom>
        </p:spPr>
        <p:txBody>
          <a:bodyPr lIns="0" tIns="0" rIns="0" bIns="0" rtlCol="0" anchor="t">
            <a:spAutoFit/>
          </a:bodyPr>
          <a:lstStyle/>
          <a:p>
            <a:pPr algn="ctr">
              <a:lnSpc>
                <a:spcPts val="3713"/>
              </a:lnSpc>
            </a:pPr>
            <a:r>
              <a:rPr lang="en-US" sz="3713" b="1">
                <a:solidFill>
                  <a:srgbClr val="000000"/>
                </a:solidFill>
                <a:latin typeface="Poppins Bold"/>
                <a:ea typeface="Poppins Bold"/>
                <a:cs typeface="Poppins Bold"/>
                <a:sym typeface="Poppins Bold"/>
              </a:rPr>
              <a:t>30°C</a:t>
            </a:r>
          </a:p>
        </p:txBody>
      </p:sp>
      <p:sp>
        <p:nvSpPr>
          <p:cNvPr id="16" name="TextBox 16"/>
          <p:cNvSpPr txBox="1"/>
          <p:nvPr/>
        </p:nvSpPr>
        <p:spPr>
          <a:xfrm>
            <a:off x="15235590" y="9542913"/>
            <a:ext cx="3619683" cy="127872"/>
          </a:xfrm>
          <a:prstGeom prst="rect">
            <a:avLst/>
          </a:prstGeom>
        </p:spPr>
        <p:txBody>
          <a:bodyPr lIns="0" tIns="0" rIns="0" bIns="0" rtlCol="0" anchor="t">
            <a:spAutoFit/>
          </a:bodyPr>
          <a:lstStyle/>
          <a:p>
            <a:pPr algn="ctr">
              <a:lnSpc>
                <a:spcPts val="909"/>
              </a:lnSpc>
            </a:pPr>
            <a:r>
              <a:rPr lang="en-US" sz="909" b="1" spc="454">
                <a:solidFill>
                  <a:srgbClr val="584344"/>
                </a:solidFill>
                <a:latin typeface="Poppins Bold"/>
                <a:ea typeface="Poppins Bold"/>
                <a:cs typeface="Poppins Bold"/>
                <a:sym typeface="Poppins Bold"/>
              </a:rPr>
              <a:t>MAX. 31°C - MIN.15°C</a:t>
            </a:r>
          </a:p>
        </p:txBody>
      </p:sp>
      <p:sp>
        <p:nvSpPr>
          <p:cNvPr id="17" name="TextBox 17"/>
          <p:cNvSpPr txBox="1"/>
          <p:nvPr/>
        </p:nvSpPr>
        <p:spPr>
          <a:xfrm>
            <a:off x="1062134" y="9272162"/>
            <a:ext cx="3354368" cy="869949"/>
          </a:xfrm>
          <a:prstGeom prst="rect">
            <a:avLst/>
          </a:prstGeom>
        </p:spPr>
        <p:txBody>
          <a:bodyPr wrap="square" lIns="0" tIns="0" rIns="0" bIns="0" rtlCol="0" anchor="t">
            <a:spAutoFit/>
          </a:bodyPr>
          <a:lstStyle/>
          <a:p>
            <a:pPr algn="l">
              <a:lnSpc>
                <a:spcPts val="3500"/>
              </a:lnSpc>
            </a:pPr>
            <a:r>
              <a:rPr lang="en-US" sz="2500" b="1" dirty="0">
                <a:solidFill>
                  <a:srgbClr val="1800AD"/>
                </a:solidFill>
                <a:latin typeface="Canva Sans Bold"/>
                <a:ea typeface="Canva Sans Bold"/>
                <a:cs typeface="Canva Sans Bold"/>
                <a:sym typeface="Canva Sans Bold"/>
              </a:rPr>
              <a:t>SLIIT</a:t>
            </a:r>
          </a:p>
          <a:p>
            <a:pPr algn="ctr">
              <a:lnSpc>
                <a:spcPts val="3500"/>
              </a:lnSpc>
            </a:pPr>
            <a:r>
              <a:rPr lang="en-US" sz="2500" b="1" dirty="0">
                <a:solidFill>
                  <a:srgbClr val="1800AD"/>
                </a:solidFill>
                <a:latin typeface="Canva Sans Bold"/>
                <a:ea typeface="Canva Sans Bold"/>
                <a:cs typeface="Canva Sans Bold"/>
                <a:sym typeface="Canva Sans Bold"/>
              </a:rPr>
              <a:t>Faculty of Computing</a:t>
            </a:r>
          </a:p>
        </p:txBody>
      </p:sp>
      <p:sp>
        <p:nvSpPr>
          <p:cNvPr id="18" name="TextBox 18"/>
          <p:cNvSpPr txBox="1"/>
          <p:nvPr/>
        </p:nvSpPr>
        <p:spPr>
          <a:xfrm>
            <a:off x="5383477" y="9576317"/>
            <a:ext cx="2397204" cy="580390"/>
          </a:xfrm>
          <a:prstGeom prst="rect">
            <a:avLst/>
          </a:prstGeom>
        </p:spPr>
        <p:txBody>
          <a:bodyPr lIns="0" tIns="0" rIns="0" bIns="0" rtlCol="0" anchor="t">
            <a:spAutoFit/>
          </a:bodyPr>
          <a:lstStyle/>
          <a:p>
            <a:pPr algn="ctr">
              <a:lnSpc>
                <a:spcPts val="4759"/>
              </a:lnSpc>
            </a:pPr>
            <a:r>
              <a:rPr lang="en-US" sz="3399" b="1">
                <a:solidFill>
                  <a:srgbClr val="1800AD"/>
                </a:solidFill>
                <a:latin typeface="Canva Sans Bold"/>
                <a:ea typeface="Canva Sans Bold"/>
                <a:cs typeface="Canva Sans Bold"/>
                <a:sym typeface="Canva Sans Bold"/>
              </a:rPr>
              <a:t> R26-IT-132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345" r="-4883" b="-10960"/>
            </a:stretch>
          </a:blipFill>
        </p:spPr>
        <p:txBody>
          <a:bodyPr/>
          <a:lstStyle/>
          <a:p>
            <a:endParaRPr lang="en-US"/>
          </a:p>
        </p:txBody>
      </p:sp>
      <p:grpSp>
        <p:nvGrpSpPr>
          <p:cNvPr id="3" name="Group 3"/>
          <p:cNvGrpSpPr/>
          <p:nvPr/>
        </p:nvGrpSpPr>
        <p:grpSpPr>
          <a:xfrm>
            <a:off x="0" y="5158933"/>
            <a:ext cx="18288000" cy="3406820"/>
            <a:chOff x="0" y="0"/>
            <a:chExt cx="4816593" cy="897269"/>
          </a:xfrm>
        </p:grpSpPr>
        <p:sp>
          <p:nvSpPr>
            <p:cNvPr id="4" name="Freeform 4"/>
            <p:cNvSpPr/>
            <p:nvPr/>
          </p:nvSpPr>
          <p:spPr>
            <a:xfrm>
              <a:off x="0" y="0"/>
              <a:ext cx="4816592" cy="897269"/>
            </a:xfrm>
            <a:custGeom>
              <a:avLst/>
              <a:gdLst/>
              <a:ahLst/>
              <a:cxnLst/>
              <a:rect l="l" t="t" r="r" b="b"/>
              <a:pathLst>
                <a:path w="4816592" h="897269">
                  <a:moveTo>
                    <a:pt x="0" y="0"/>
                  </a:moveTo>
                  <a:lnTo>
                    <a:pt x="4816592" y="0"/>
                  </a:lnTo>
                  <a:lnTo>
                    <a:pt x="4816592" y="897269"/>
                  </a:lnTo>
                  <a:lnTo>
                    <a:pt x="0" y="897269"/>
                  </a:lnTo>
                  <a:close/>
                </a:path>
              </a:pathLst>
            </a:custGeom>
            <a:gradFill rotWithShape="1">
              <a:gsLst>
                <a:gs pos="0">
                  <a:srgbClr val="FAFAFA">
                    <a:alpha val="0"/>
                  </a:srgbClr>
                </a:gs>
                <a:gs pos="100000">
                  <a:srgbClr val="FAFAFA">
                    <a:alpha val="100000"/>
                  </a:srgbClr>
                </a:gs>
              </a:gsLst>
              <a:lin ang="5400000"/>
            </a:gradFill>
          </p:spPr>
          <p:txBody>
            <a:bodyPr/>
            <a:lstStyle/>
            <a:p>
              <a:endParaRPr lang="en-US"/>
            </a:p>
          </p:txBody>
        </p:sp>
        <p:sp>
          <p:nvSpPr>
            <p:cNvPr id="5" name="TextBox 5"/>
            <p:cNvSpPr txBox="1"/>
            <p:nvPr/>
          </p:nvSpPr>
          <p:spPr>
            <a:xfrm>
              <a:off x="0" y="-38100"/>
              <a:ext cx="4816593" cy="935369"/>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112832" y="2406071"/>
            <a:ext cx="7763189" cy="4523856"/>
          </a:xfrm>
          <a:prstGeom prst="rect">
            <a:avLst/>
          </a:prstGeom>
        </p:spPr>
        <p:txBody>
          <a:bodyPr lIns="0" tIns="0" rIns="0" bIns="0" rtlCol="0" anchor="t">
            <a:spAutoFit/>
          </a:bodyPr>
          <a:lstStyle/>
          <a:p>
            <a:pPr algn="l">
              <a:lnSpc>
                <a:spcPts val="16423"/>
              </a:lnSpc>
            </a:pPr>
            <a:r>
              <a:rPr lang="en-US" sz="18248" b="1" dirty="0">
                <a:solidFill>
                  <a:srgbClr val="FEA917"/>
                </a:solidFill>
                <a:latin typeface="Poppins Bold"/>
                <a:ea typeface="Poppins Bold"/>
                <a:cs typeface="Poppins Bold"/>
                <a:sym typeface="Poppins Bold"/>
              </a:rPr>
              <a:t>Thank You</a:t>
            </a:r>
          </a:p>
        </p:txBody>
      </p:sp>
      <p:grpSp>
        <p:nvGrpSpPr>
          <p:cNvPr id="7" name="Group 7"/>
          <p:cNvGrpSpPr/>
          <p:nvPr/>
        </p:nvGrpSpPr>
        <p:grpSpPr>
          <a:xfrm>
            <a:off x="0" y="8556228"/>
            <a:ext cx="18288000" cy="1730772"/>
            <a:chOff x="0" y="0"/>
            <a:chExt cx="4816593" cy="455841"/>
          </a:xfrm>
        </p:grpSpPr>
        <p:sp>
          <p:nvSpPr>
            <p:cNvPr id="8" name="Freeform 8"/>
            <p:cNvSpPr/>
            <p:nvPr/>
          </p:nvSpPr>
          <p:spPr>
            <a:xfrm>
              <a:off x="0" y="0"/>
              <a:ext cx="4816592" cy="455841"/>
            </a:xfrm>
            <a:custGeom>
              <a:avLst/>
              <a:gdLst/>
              <a:ahLst/>
              <a:cxnLst/>
              <a:rect l="l" t="t" r="r" b="b"/>
              <a:pathLst>
                <a:path w="4816592" h="455841">
                  <a:moveTo>
                    <a:pt x="0" y="0"/>
                  </a:moveTo>
                  <a:lnTo>
                    <a:pt x="4816592" y="0"/>
                  </a:lnTo>
                  <a:lnTo>
                    <a:pt x="4816592" y="455841"/>
                  </a:lnTo>
                  <a:lnTo>
                    <a:pt x="0" y="455841"/>
                  </a:lnTo>
                  <a:close/>
                </a:path>
              </a:pathLst>
            </a:custGeom>
            <a:solidFill>
              <a:srgbClr val="FAFAFA"/>
            </a:solidFill>
          </p:spPr>
          <p:txBody>
            <a:bodyPr/>
            <a:lstStyle/>
            <a:p>
              <a:endParaRPr lang="en-US"/>
            </a:p>
          </p:txBody>
        </p:sp>
        <p:sp>
          <p:nvSpPr>
            <p:cNvPr id="9" name="TextBox 9"/>
            <p:cNvSpPr txBox="1"/>
            <p:nvPr/>
          </p:nvSpPr>
          <p:spPr>
            <a:xfrm>
              <a:off x="0" y="-38100"/>
              <a:ext cx="4816593" cy="493941"/>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0" y="0"/>
            <a:ext cx="187278" cy="3364876"/>
            <a:chOff x="0" y="0"/>
            <a:chExt cx="49324" cy="886222"/>
          </a:xfrm>
        </p:grpSpPr>
        <p:sp>
          <p:nvSpPr>
            <p:cNvPr id="11" name="Freeform 11"/>
            <p:cNvSpPr/>
            <p:nvPr/>
          </p:nvSpPr>
          <p:spPr>
            <a:xfrm>
              <a:off x="0" y="0"/>
              <a:ext cx="49324" cy="886222"/>
            </a:xfrm>
            <a:custGeom>
              <a:avLst/>
              <a:gdLst/>
              <a:ahLst/>
              <a:cxnLst/>
              <a:rect l="l" t="t" r="r" b="b"/>
              <a:pathLst>
                <a:path w="49324" h="886222">
                  <a:moveTo>
                    <a:pt x="0" y="0"/>
                  </a:moveTo>
                  <a:lnTo>
                    <a:pt x="49324" y="0"/>
                  </a:lnTo>
                  <a:lnTo>
                    <a:pt x="49324" y="886222"/>
                  </a:lnTo>
                  <a:lnTo>
                    <a:pt x="0" y="886222"/>
                  </a:lnTo>
                  <a:close/>
                </a:path>
              </a:pathLst>
            </a:custGeom>
            <a:solidFill>
              <a:srgbClr val="FAFAFA"/>
            </a:solidFill>
          </p:spPr>
          <p:txBody>
            <a:bodyPr/>
            <a:lstStyle/>
            <a:p>
              <a:endParaRPr lang="en-US"/>
            </a:p>
          </p:txBody>
        </p:sp>
        <p:sp>
          <p:nvSpPr>
            <p:cNvPr id="12" name="TextBox 12"/>
            <p:cNvSpPr txBox="1"/>
            <p:nvPr/>
          </p:nvSpPr>
          <p:spPr>
            <a:xfrm>
              <a:off x="0" y="-38100"/>
              <a:ext cx="49324" cy="924322"/>
            </a:xfrm>
            <a:prstGeom prst="rect">
              <a:avLst/>
            </a:prstGeom>
          </p:spPr>
          <p:txBody>
            <a:bodyPr lIns="50800" tIns="50800" rIns="50800" bIns="50800" rtlCol="0" anchor="ctr"/>
            <a:lstStyle/>
            <a:p>
              <a:pPr algn="ctr">
                <a:lnSpc>
                  <a:spcPts val="2659"/>
                </a:lnSpc>
              </a:pPr>
              <a:endParaRPr/>
            </a:p>
          </p:txBody>
        </p:sp>
      </p:grpSp>
      <p:sp>
        <p:nvSpPr>
          <p:cNvPr id="13" name="Freeform 13"/>
          <p:cNvSpPr/>
          <p:nvPr/>
        </p:nvSpPr>
        <p:spPr>
          <a:xfrm>
            <a:off x="187278" y="9258300"/>
            <a:ext cx="925554" cy="925554"/>
          </a:xfrm>
          <a:custGeom>
            <a:avLst/>
            <a:gdLst/>
            <a:ahLst/>
            <a:cxnLst/>
            <a:rect l="l" t="t" r="r" b="b"/>
            <a:pathLst>
              <a:path w="925554" h="925554">
                <a:moveTo>
                  <a:pt x="0" y="0"/>
                </a:moveTo>
                <a:lnTo>
                  <a:pt x="925553" y="0"/>
                </a:lnTo>
                <a:lnTo>
                  <a:pt x="925553" y="925554"/>
                </a:lnTo>
                <a:lnTo>
                  <a:pt x="0" y="925554"/>
                </a:lnTo>
                <a:lnTo>
                  <a:pt x="0" y="0"/>
                </a:lnTo>
                <a:close/>
              </a:path>
            </a:pathLst>
          </a:custGeom>
          <a:blipFill>
            <a:blip r:embed="rId3"/>
            <a:stretch>
              <a:fillRect/>
            </a:stretch>
          </a:blipFill>
        </p:spPr>
        <p:txBody>
          <a:bodyPr/>
          <a:lstStyle/>
          <a:p>
            <a:endParaRPr lang="en-US"/>
          </a:p>
        </p:txBody>
      </p:sp>
      <p:sp>
        <p:nvSpPr>
          <p:cNvPr id="14" name="TextBox 14"/>
          <p:cNvSpPr txBox="1"/>
          <p:nvPr/>
        </p:nvSpPr>
        <p:spPr>
          <a:xfrm>
            <a:off x="1040990" y="9286102"/>
            <a:ext cx="3390900" cy="869949"/>
          </a:xfrm>
          <a:prstGeom prst="rect">
            <a:avLst/>
          </a:prstGeom>
        </p:spPr>
        <p:txBody>
          <a:bodyPr wrap="square" lIns="0" tIns="0" rIns="0" bIns="0" rtlCol="0" anchor="t">
            <a:spAutoFit/>
          </a:bodyPr>
          <a:lstStyle/>
          <a:p>
            <a:pPr algn="l">
              <a:lnSpc>
                <a:spcPts val="3500"/>
              </a:lnSpc>
            </a:pPr>
            <a:r>
              <a:rPr lang="en-US" sz="2500" b="1" dirty="0">
                <a:solidFill>
                  <a:srgbClr val="1800AD"/>
                </a:solidFill>
                <a:latin typeface="Canva Sans Bold"/>
                <a:ea typeface="Canva Sans Bold"/>
                <a:cs typeface="Canva Sans Bold"/>
                <a:sym typeface="Canva Sans Bold"/>
              </a:rPr>
              <a:t>SLIIT</a:t>
            </a:r>
          </a:p>
          <a:p>
            <a:pPr algn="ctr">
              <a:lnSpc>
                <a:spcPts val="3500"/>
              </a:lnSpc>
            </a:pPr>
            <a:r>
              <a:rPr lang="en-US" sz="2500" b="1" dirty="0">
                <a:solidFill>
                  <a:srgbClr val="1800AD"/>
                </a:solidFill>
                <a:latin typeface="Canva Sans Bold"/>
                <a:ea typeface="Canva Sans Bold"/>
                <a:cs typeface="Canva Sans Bold"/>
                <a:sym typeface="Canva Sans Bold"/>
              </a:rPr>
              <a:t>Faculty of Computing</a:t>
            </a:r>
          </a:p>
        </p:txBody>
      </p:sp>
      <p:sp>
        <p:nvSpPr>
          <p:cNvPr id="15" name="TextBox 15"/>
          <p:cNvSpPr txBox="1"/>
          <p:nvPr/>
        </p:nvSpPr>
        <p:spPr>
          <a:xfrm>
            <a:off x="6966868" y="9654402"/>
            <a:ext cx="2397323" cy="580390"/>
          </a:xfrm>
          <a:prstGeom prst="rect">
            <a:avLst/>
          </a:prstGeom>
        </p:spPr>
        <p:txBody>
          <a:bodyPr lIns="0" tIns="0" rIns="0" bIns="0" rtlCol="0" anchor="t">
            <a:spAutoFit/>
          </a:bodyPr>
          <a:lstStyle/>
          <a:p>
            <a:pPr algn="ctr">
              <a:lnSpc>
                <a:spcPts val="4759"/>
              </a:lnSpc>
            </a:pPr>
            <a:r>
              <a:rPr lang="en-US" sz="3399" b="1" dirty="0">
                <a:solidFill>
                  <a:srgbClr val="1800AD"/>
                </a:solidFill>
                <a:latin typeface="Canva Sans Bold"/>
                <a:ea typeface="Canva Sans Bold"/>
                <a:cs typeface="Canva Sans Bold"/>
                <a:sym typeface="Canva Sans Bold"/>
              </a:rPr>
              <a:t> R26-IT-132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C351CF19874D54390B54B723E8A2D43" ma:contentTypeVersion="12" ma:contentTypeDescription="Create a new document." ma:contentTypeScope="" ma:versionID="1b463a5cf12690795c70ca22925accb2">
  <xsd:schema xmlns:xsd="http://www.w3.org/2001/XMLSchema" xmlns:xs="http://www.w3.org/2001/XMLSchema" xmlns:p="http://schemas.microsoft.com/office/2006/metadata/properties" xmlns:ns2="5aad1aa7-8ede-435c-b3a7-ac11bacaeb50" xmlns:ns3="db72c12f-87a4-44ab-bbc5-4cc8306b158a" targetNamespace="http://schemas.microsoft.com/office/2006/metadata/properties" ma:root="true" ma:fieldsID="8257c98c4c60cf9cc366d29f7e570d5e" ns2:_="" ns3:_="">
    <xsd:import namespace="5aad1aa7-8ede-435c-b3a7-ac11bacaeb50"/>
    <xsd:import namespace="db72c12f-87a4-44ab-bbc5-4cc8306b158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ad1aa7-8ede-435c-b3a7-ac11bacaeb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7c8a686f-bba2-44f2-819b-edf0b3003fbd"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b72c12f-87a4-44ab-bbc5-4cc8306b158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a90b710-f748-4220-b362-4102ae550bf9}" ma:internalName="TaxCatchAll" ma:showField="CatchAllData" ma:web="db72c12f-87a4-44ab-bbc5-4cc8306b15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db72c12f-87a4-44ab-bbc5-4cc8306b158a" xsi:nil="true"/>
    <lcf76f155ced4ddcb4097134ff3c332f xmlns="5aad1aa7-8ede-435c-b3a7-ac11bacaeb5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0CFBFD0-3FBD-417D-8822-21D76412D6AE}"/>
</file>

<file path=customXml/itemProps2.xml><?xml version="1.0" encoding="utf-8"?>
<ds:datastoreItem xmlns:ds="http://schemas.openxmlformats.org/officeDocument/2006/customXml" ds:itemID="{73A8AA46-9148-4C56-B87C-5BFFD523BAFE}"/>
</file>

<file path=customXml/itemProps3.xml><?xml version="1.0" encoding="utf-8"?>
<ds:datastoreItem xmlns:ds="http://schemas.openxmlformats.org/officeDocument/2006/customXml" ds:itemID="{E9767F29-DA90-4E58-AC05-5321CAE5F6D9}"/>
</file>

<file path=docProps/app.xml><?xml version="1.0" encoding="utf-8"?>
<Properties xmlns="http://schemas.openxmlformats.org/officeDocument/2006/extended-properties" xmlns:vt="http://schemas.openxmlformats.org/officeDocument/2006/docPropsVTypes">
  <TotalTime>21</TotalTime>
  <Words>1051</Words>
  <Application>Microsoft Office PowerPoint</Application>
  <PresentationFormat>Custom</PresentationFormat>
  <Paragraphs>190</Paragraphs>
  <Slides>11</Slides>
  <Notes>2</Notes>
  <HiddenSlides>0</HiddenSlides>
  <MMClips>1</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11</vt:i4>
      </vt:variant>
    </vt:vector>
  </HeadingPairs>
  <TitlesOfParts>
    <vt:vector size="24" baseType="lpstr">
      <vt:lpstr>Lora Bold Italics</vt:lpstr>
      <vt:lpstr>Calibri</vt:lpstr>
      <vt:lpstr>Poppins Bold</vt:lpstr>
      <vt:lpstr>Lato</vt:lpstr>
      <vt:lpstr>Poppins Light</vt:lpstr>
      <vt:lpstr>Poppins</vt:lpstr>
      <vt:lpstr>Arial</vt:lpstr>
      <vt:lpstr>Canva Sans Bold</vt:lpstr>
      <vt:lpstr>Poppins Semi-Bold</vt:lpstr>
      <vt:lpstr>Poppins Ultra-Bold</vt:lpstr>
      <vt:lpstr>Lato Bold</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Solution</dc:title>
  <dc:creator>imash sankadeepa</dc:creator>
  <cp:lastModifiedBy>SANKADEEPA W D I it22113986</cp:lastModifiedBy>
  <cp:revision>3</cp:revision>
  <dcterms:created xsi:type="dcterms:W3CDTF">2006-08-16T00:00:00Z</dcterms:created>
  <dcterms:modified xsi:type="dcterms:W3CDTF">2026-09-25T17:18:58Z</dcterms:modified>
  <dc:identifier>DAHTX5665DY</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0x0101003C351CF19874D54390B54B723E8A2D43</vt:lpwstr>
  </property>
</Properties>
</file>